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talk track
This slide introduces Defender for AI Services as the Microsoft Defender for Cloud workload protection capability for generative AI workloads. Explain that AI workloads introduce a different threat surface from traditional applications because prompts, model outputs, grounding data, plugins/tools, agents, identities, and APIs become part of the attack surface.
1. Start with the risk: prompt injection and jailbreak attempts can try to override system instructions or force unsafe behavior. Data leakage can occur when users place sensitive content into prompts or when grounding data is exposed. Data poisoning can affect retrieval sources or training/grounding data. Credential theft and tool misuse are especially important in agentic systems because the model or agent might have access to functions, APIs, storage, or enterprise data.
2. Explain the Defender model: Defender for Cloud combines discovery, posture management, workload protection, and investigation. Learners should understand that the AI services plan is not just a dashboard; it connects posture findings and runtime threat signals into security operations workflows.
3. Demonstration flow: In Azure portal, go to Microsoft Defender for Cloud &gt; Environment settings &gt; select subscription &gt; Defender plans &gt; enable AI services. Then review the Data &amp; AI security dashboard for AI resource visibility, check posture recommendations, and explain how alerts surface in Defender for Cloud and Microsoft Defender XDR.
4. Prompt evidence: When enabled, prompt evidence can help analysts understand what was submitted and how the model responded. Reinforce that prompts and responses are considered customer data. If prompt evidence is disabled, content is masked in alerts while detection continues.
5. Integration message: Pair this with Microsoft Entra controls for human, workload, and agent identities; apply least privilege to AI endpoints and tools; use Purview DSPM for AI where licensed to help govern protected data and risky AI usage.
Expected learner question: “Does Defender block prompt injection?” Answer carefully: Defender for Cloud AI threat protection primarily provides threat detection, posture insight, and security alerts for AI workloads. Additional real-time prevention capabilities may depend on Azure AI Content Safety Prompt Shields, Foundry guardrails, Purview, and current product availability.
References for instructor: Microsoft Learn - AI threat protection in Microsoft Defender for Cloud; Enable threat protection for AI services; Alerts for AI services; Protect AI workloads with Microsoft Defender for Cloud; Protect Microsoft Foundry solutions by using Microsoft Defender for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B3A"/>
        </a:solidFill>
      </p:bgPr>
    </p:bg>
    <p:spTree>
      <p:nvGrpSpPr>
        <p:cNvPr id="1" name=""/>
        <p:cNvGrpSpPr/>
        <p:nvPr/>
      </p:nvGrpSpPr>
      <p:grpSpPr>
        <a:xfrm>
          <a:off x="0" y="0"/>
          <a:ext cx="0" cy="0"/>
          <a:chOff x="0" y="0"/>
          <a:chExt cx="0" cy="0"/>
        </a:xfrm>
      </p:grpSpPr>
      <p:pic>
        <p:nvPicPr>
          <p:cNvPr id="2" name="Image 0" descr="/mnt/data/a_high_resolution_futuristic_cybersecurity_ai_co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02920" y="384048"/>
            <a:ext cx="5212080" cy="228600"/>
          </a:xfrm>
          <a:prstGeom prst="rect">
            <a:avLst/>
          </a:prstGeom>
          <a:noFill/>
          <a:ln/>
        </p:spPr>
        <p:txBody>
          <a:bodyPr wrap="square" lIns="0" tIns="0" rIns="0" bIns="0" rtlCol="0" anchor="ctr"/>
          <a:lstStyle/>
          <a:p>
            <a:pPr indent="0" marL="0">
              <a:buNone/>
            </a:pPr>
            <a:r>
              <a:rPr lang="en-US" sz="950" b="1" dirty="0">
                <a:solidFill>
                  <a:srgbClr val="65D9FF"/>
                </a:solidFill>
                <a:latin typeface="Aptos" pitchFamily="34" charset="0"/>
                <a:ea typeface="Aptos" pitchFamily="34" charset="-122"/>
                <a:cs typeface="Aptos" pitchFamily="34" charset="-120"/>
              </a:rPr>
              <a:t>MICROSOFT DEFENDER FOR CLOUD</a:t>
            </a:r>
            <a:endParaRPr lang="en-US" sz="950" dirty="0"/>
          </a:p>
        </p:txBody>
      </p:sp>
      <p:sp>
        <p:nvSpPr>
          <p:cNvPr id="4" name="Text 1"/>
          <p:cNvSpPr/>
          <p:nvPr/>
        </p:nvSpPr>
        <p:spPr>
          <a:xfrm>
            <a:off x="502920" y="713232"/>
            <a:ext cx="5897880" cy="502920"/>
          </a:xfrm>
          <a:prstGeom prst="rect">
            <a:avLst/>
          </a:prstGeom>
          <a:noFill/>
          <a:ln/>
        </p:spPr>
        <p:txBody>
          <a:bodyPr wrap="square" lIns="0" tIns="0" rIns="0" bIns="0" rtlCol="0" anchor="ctr">
            <a:normAutofit/>
          </a:bodyPr>
          <a:lstStyle/>
          <a:p>
            <a:pPr indent="0" marL="0">
              <a:buNone/>
            </a:pPr>
            <a:r>
              <a:rPr lang="en-US" sz="3150" b="1" dirty="0">
                <a:solidFill>
                  <a:srgbClr val="FFFFFF"/>
                </a:solidFill>
                <a:latin typeface="Aptos Display" pitchFamily="34" charset="0"/>
                <a:ea typeface="Aptos Display" pitchFamily="34" charset="-122"/>
                <a:cs typeface="Aptos Display" pitchFamily="34" charset="-120"/>
              </a:rPr>
              <a:t>Defender for AI Services</a:t>
            </a:r>
            <a:endParaRPr lang="en-US" sz="3150" dirty="0"/>
          </a:p>
        </p:txBody>
      </p:sp>
      <p:sp>
        <p:nvSpPr>
          <p:cNvPr id="5" name="Text 2"/>
          <p:cNvSpPr/>
          <p:nvPr/>
        </p:nvSpPr>
        <p:spPr>
          <a:xfrm>
            <a:off x="530352" y="1252728"/>
            <a:ext cx="5715000" cy="411480"/>
          </a:xfrm>
          <a:prstGeom prst="rect">
            <a:avLst/>
          </a:prstGeom>
          <a:noFill/>
          <a:ln/>
        </p:spPr>
        <p:txBody>
          <a:bodyPr wrap="square" lIns="0" tIns="0" rIns="0" bIns="0" rtlCol="0" anchor="ctr">
            <a:normAutofit/>
          </a:bodyPr>
          <a:lstStyle/>
          <a:p>
            <a:pPr indent="0" marL="0">
              <a:buNone/>
            </a:pPr>
            <a:r>
              <a:rPr lang="en-US" sz="1750" dirty="0">
                <a:solidFill>
                  <a:srgbClr val="CFE9FF"/>
                </a:solidFill>
                <a:latin typeface="Aptos" pitchFamily="34" charset="0"/>
                <a:ea typeface="Aptos" pitchFamily="34" charset="-122"/>
                <a:cs typeface="Aptos" pitchFamily="34" charset="-120"/>
              </a:rPr>
              <a:t>Monitoring and protecting Gen‑AI workloads against unique threats</a:t>
            </a:r>
            <a:endParaRPr lang="en-US" sz="1750" dirty="0"/>
          </a:p>
        </p:txBody>
      </p:sp>
      <p:sp>
        <p:nvSpPr>
          <p:cNvPr id="6" name="Text 3"/>
          <p:cNvSpPr/>
          <p:nvPr/>
        </p:nvSpPr>
        <p:spPr>
          <a:xfrm>
            <a:off x="530352" y="1856232"/>
            <a:ext cx="2651760" cy="256032"/>
          </a:xfrm>
          <a:prstGeom prst="rect">
            <a:avLst/>
          </a:prstGeom>
          <a:noFill/>
          <a:ln/>
        </p:spPr>
        <p:txBody>
          <a:bodyPr wrap="square" lIns="0" tIns="0" rIns="0" bIns="0" rtlCol="0" anchor="ctr"/>
          <a:lstStyle/>
          <a:p>
            <a:pPr indent="0" marL="0">
              <a:buNone/>
            </a:pPr>
            <a:r>
              <a:rPr lang="en-US" sz="1300" b="1" dirty="0">
                <a:solidFill>
                  <a:srgbClr val="FFFFFF"/>
                </a:solidFill>
                <a:latin typeface="Aptos" pitchFamily="34" charset="0"/>
                <a:ea typeface="Aptos" pitchFamily="34" charset="-122"/>
                <a:cs typeface="Aptos" pitchFamily="34" charset="-120"/>
              </a:rPr>
              <a:t>AI threat signals to teach</a:t>
            </a:r>
            <a:endParaRPr lang="en-US" sz="1300" dirty="0"/>
          </a:p>
        </p:txBody>
      </p:sp>
      <p:sp>
        <p:nvSpPr>
          <p:cNvPr id="7" name="Shape 4"/>
          <p:cNvSpPr/>
          <p:nvPr/>
        </p:nvSpPr>
        <p:spPr>
          <a:xfrm>
            <a:off x="530352" y="2221992"/>
            <a:ext cx="5468112" cy="521208"/>
          </a:xfrm>
          <a:prstGeom prst="roundRect">
            <a:avLst>
              <a:gd name="adj" fmla="val 14035"/>
            </a:avLst>
          </a:prstGeom>
          <a:solidFill>
            <a:srgbClr val="0B2B55">
              <a:alpha val="94000"/>
            </a:srgbClr>
          </a:solidFill>
          <a:ln w="7620">
            <a:solidFill>
              <a:srgbClr val="1E90FF">
                <a:alpha val="50000"/>
              </a:srgbClr>
            </a:solidFill>
            <a:prstDash val="solid"/>
          </a:ln>
        </p:spPr>
      </p:sp>
      <p:sp>
        <p:nvSpPr>
          <p:cNvPr id="8" name="Text 5"/>
          <p:cNvSpPr/>
          <p:nvPr/>
        </p:nvSpPr>
        <p:spPr>
          <a:xfrm>
            <a:off x="685800" y="2340864"/>
            <a:ext cx="201168" cy="182880"/>
          </a:xfrm>
          <a:prstGeom prst="rect">
            <a:avLst/>
          </a:prstGeom>
          <a:noFill/>
          <a:ln/>
        </p:spPr>
        <p:txBody>
          <a:bodyPr wrap="square" lIns="0" tIns="0" rIns="0" bIns="0" rtlCol="0" anchor="ctr"/>
          <a:lstStyle/>
          <a:p>
            <a:pPr indent="0" marL="0">
              <a:buNone/>
            </a:pPr>
            <a:r>
              <a:rPr lang="en-US" sz="1200" dirty="0">
                <a:solidFill>
                  <a:srgbClr val="57D7FF"/>
                </a:solidFill>
              </a:rPr>
              <a:t>●</a:t>
            </a:r>
            <a:endParaRPr lang="en-US" sz="1200" dirty="0"/>
          </a:p>
        </p:txBody>
      </p:sp>
      <p:sp>
        <p:nvSpPr>
          <p:cNvPr id="9" name="Text 6"/>
          <p:cNvSpPr/>
          <p:nvPr/>
        </p:nvSpPr>
        <p:spPr>
          <a:xfrm>
            <a:off x="932688" y="2295144"/>
            <a:ext cx="2697480" cy="192024"/>
          </a:xfrm>
          <a:prstGeom prst="rect">
            <a:avLst/>
          </a:prstGeom>
          <a:noFill/>
          <a:ln/>
        </p:spPr>
        <p:txBody>
          <a:bodyPr wrap="square" lIns="0" tIns="0" rIns="0" bIns="0" rtlCol="0" anchor="ctr">
            <a:normAutofit/>
          </a:bodyPr>
          <a:lstStyle/>
          <a:p>
            <a:pPr indent="0" marL="0">
              <a:buNone/>
            </a:pPr>
            <a:r>
              <a:rPr lang="en-US" sz="1080" b="1" dirty="0">
                <a:solidFill>
                  <a:srgbClr val="FFFFFF"/>
                </a:solidFill>
                <a:latin typeface="Aptos" pitchFamily="34" charset="0"/>
                <a:ea typeface="Aptos" pitchFamily="34" charset="-122"/>
                <a:cs typeface="Aptos" pitchFamily="34" charset="-120"/>
              </a:rPr>
              <a:t>Prompt injection / jailbreak</a:t>
            </a:r>
            <a:endParaRPr lang="en-US" sz="1080" dirty="0"/>
          </a:p>
        </p:txBody>
      </p:sp>
      <p:sp>
        <p:nvSpPr>
          <p:cNvPr id="10" name="Text 7"/>
          <p:cNvSpPr/>
          <p:nvPr/>
        </p:nvSpPr>
        <p:spPr>
          <a:xfrm>
            <a:off x="932688" y="2505456"/>
            <a:ext cx="4773168" cy="155448"/>
          </a:xfrm>
          <a:prstGeom prst="rect">
            <a:avLst/>
          </a:prstGeom>
          <a:noFill/>
          <a:ln/>
        </p:spPr>
        <p:txBody>
          <a:bodyPr wrap="square" lIns="0" tIns="0" rIns="0" bIns="0" rtlCol="0" anchor="ctr">
            <a:normAutofit/>
          </a:bodyPr>
          <a:lstStyle/>
          <a:p>
            <a:pPr indent="0" marL="0">
              <a:buNone/>
            </a:pPr>
            <a:r>
              <a:rPr lang="en-US" sz="880" dirty="0">
                <a:solidFill>
                  <a:srgbClr val="B7D4F5"/>
                </a:solidFill>
                <a:latin typeface="Aptos" pitchFamily="34" charset="0"/>
                <a:ea typeface="Aptos" pitchFamily="34" charset="-122"/>
                <a:cs typeface="Aptos" pitchFamily="34" charset="-120"/>
              </a:rPr>
              <a:t>Attempts to override policy, expose data, or force unsafe output</a:t>
            </a:r>
            <a:endParaRPr lang="en-US" sz="880" dirty="0"/>
          </a:p>
        </p:txBody>
      </p:sp>
      <p:sp>
        <p:nvSpPr>
          <p:cNvPr id="11" name="Shape 8"/>
          <p:cNvSpPr/>
          <p:nvPr/>
        </p:nvSpPr>
        <p:spPr>
          <a:xfrm>
            <a:off x="530352" y="2852928"/>
            <a:ext cx="5468112" cy="521208"/>
          </a:xfrm>
          <a:prstGeom prst="roundRect">
            <a:avLst>
              <a:gd name="adj" fmla="val 14035"/>
            </a:avLst>
          </a:prstGeom>
          <a:solidFill>
            <a:srgbClr val="0B2B55">
              <a:alpha val="94000"/>
            </a:srgbClr>
          </a:solidFill>
          <a:ln w="7620">
            <a:solidFill>
              <a:srgbClr val="1E90FF">
                <a:alpha val="50000"/>
              </a:srgbClr>
            </a:solidFill>
            <a:prstDash val="solid"/>
          </a:ln>
        </p:spPr>
      </p:sp>
      <p:sp>
        <p:nvSpPr>
          <p:cNvPr id="12" name="Text 9"/>
          <p:cNvSpPr/>
          <p:nvPr/>
        </p:nvSpPr>
        <p:spPr>
          <a:xfrm>
            <a:off x="685800" y="2971800"/>
            <a:ext cx="201168" cy="182880"/>
          </a:xfrm>
          <a:prstGeom prst="rect">
            <a:avLst/>
          </a:prstGeom>
          <a:noFill/>
          <a:ln/>
        </p:spPr>
        <p:txBody>
          <a:bodyPr wrap="square" lIns="0" tIns="0" rIns="0" bIns="0" rtlCol="0" anchor="ctr"/>
          <a:lstStyle/>
          <a:p>
            <a:pPr indent="0" marL="0">
              <a:buNone/>
            </a:pPr>
            <a:r>
              <a:rPr lang="en-US" sz="1200" dirty="0">
                <a:solidFill>
                  <a:srgbClr val="57D7FF"/>
                </a:solidFill>
              </a:rPr>
              <a:t>●</a:t>
            </a:r>
            <a:endParaRPr lang="en-US" sz="1200" dirty="0"/>
          </a:p>
        </p:txBody>
      </p:sp>
      <p:sp>
        <p:nvSpPr>
          <p:cNvPr id="13" name="Text 10"/>
          <p:cNvSpPr/>
          <p:nvPr/>
        </p:nvSpPr>
        <p:spPr>
          <a:xfrm>
            <a:off x="932688" y="2926080"/>
            <a:ext cx="2697480" cy="192024"/>
          </a:xfrm>
          <a:prstGeom prst="rect">
            <a:avLst/>
          </a:prstGeom>
          <a:noFill/>
          <a:ln/>
        </p:spPr>
        <p:txBody>
          <a:bodyPr wrap="square" lIns="0" tIns="0" rIns="0" bIns="0" rtlCol="0" anchor="ctr">
            <a:normAutofit/>
          </a:bodyPr>
          <a:lstStyle/>
          <a:p>
            <a:pPr indent="0" marL="0">
              <a:buNone/>
            </a:pPr>
            <a:r>
              <a:rPr lang="en-US" sz="1080" b="1" dirty="0">
                <a:solidFill>
                  <a:srgbClr val="FFFFFF"/>
                </a:solidFill>
                <a:latin typeface="Aptos" pitchFamily="34" charset="0"/>
                <a:ea typeface="Aptos" pitchFamily="34" charset="-122"/>
                <a:cs typeface="Aptos" pitchFamily="34" charset="-120"/>
              </a:rPr>
              <a:t>Data leakage &amp; poisoning</a:t>
            </a:r>
            <a:endParaRPr lang="en-US" sz="1080" dirty="0"/>
          </a:p>
        </p:txBody>
      </p:sp>
      <p:sp>
        <p:nvSpPr>
          <p:cNvPr id="14" name="Text 11"/>
          <p:cNvSpPr/>
          <p:nvPr/>
        </p:nvSpPr>
        <p:spPr>
          <a:xfrm>
            <a:off x="932688" y="3136392"/>
            <a:ext cx="4773168" cy="155448"/>
          </a:xfrm>
          <a:prstGeom prst="rect">
            <a:avLst/>
          </a:prstGeom>
          <a:noFill/>
          <a:ln/>
        </p:spPr>
        <p:txBody>
          <a:bodyPr wrap="square" lIns="0" tIns="0" rIns="0" bIns="0" rtlCol="0" anchor="ctr">
            <a:normAutofit/>
          </a:bodyPr>
          <a:lstStyle/>
          <a:p>
            <a:pPr indent="0" marL="0">
              <a:buNone/>
            </a:pPr>
            <a:r>
              <a:rPr lang="en-US" sz="880" dirty="0">
                <a:solidFill>
                  <a:srgbClr val="B7D4F5"/>
                </a:solidFill>
                <a:latin typeface="Aptos" pitchFamily="34" charset="0"/>
                <a:ea typeface="Aptos" pitchFamily="34" charset="-122"/>
                <a:cs typeface="Aptos" pitchFamily="34" charset="-120"/>
              </a:rPr>
              <a:t>Sensitive prompts, protected data exposure, or tampered grounding data</a:t>
            </a:r>
            <a:endParaRPr lang="en-US" sz="880" dirty="0"/>
          </a:p>
        </p:txBody>
      </p:sp>
      <p:sp>
        <p:nvSpPr>
          <p:cNvPr id="15" name="Shape 12"/>
          <p:cNvSpPr/>
          <p:nvPr/>
        </p:nvSpPr>
        <p:spPr>
          <a:xfrm>
            <a:off x="530352" y="3483864"/>
            <a:ext cx="5468112" cy="521208"/>
          </a:xfrm>
          <a:prstGeom prst="roundRect">
            <a:avLst>
              <a:gd name="adj" fmla="val 14035"/>
            </a:avLst>
          </a:prstGeom>
          <a:solidFill>
            <a:srgbClr val="0B2B55">
              <a:alpha val="94000"/>
            </a:srgbClr>
          </a:solidFill>
          <a:ln w="7620">
            <a:solidFill>
              <a:srgbClr val="1E90FF">
                <a:alpha val="50000"/>
              </a:srgbClr>
            </a:solidFill>
            <a:prstDash val="solid"/>
          </a:ln>
        </p:spPr>
      </p:sp>
      <p:sp>
        <p:nvSpPr>
          <p:cNvPr id="16" name="Text 13"/>
          <p:cNvSpPr/>
          <p:nvPr/>
        </p:nvSpPr>
        <p:spPr>
          <a:xfrm>
            <a:off x="685800" y="3602736"/>
            <a:ext cx="201168" cy="182880"/>
          </a:xfrm>
          <a:prstGeom prst="rect">
            <a:avLst/>
          </a:prstGeom>
          <a:noFill/>
          <a:ln/>
        </p:spPr>
        <p:txBody>
          <a:bodyPr wrap="square" lIns="0" tIns="0" rIns="0" bIns="0" rtlCol="0" anchor="ctr"/>
          <a:lstStyle/>
          <a:p>
            <a:pPr indent="0" marL="0">
              <a:buNone/>
            </a:pPr>
            <a:r>
              <a:rPr lang="en-US" sz="1200" dirty="0">
                <a:solidFill>
                  <a:srgbClr val="57D7FF"/>
                </a:solidFill>
              </a:rPr>
              <a:t>●</a:t>
            </a:r>
            <a:endParaRPr lang="en-US" sz="1200" dirty="0"/>
          </a:p>
        </p:txBody>
      </p:sp>
      <p:sp>
        <p:nvSpPr>
          <p:cNvPr id="17" name="Text 14"/>
          <p:cNvSpPr/>
          <p:nvPr/>
        </p:nvSpPr>
        <p:spPr>
          <a:xfrm>
            <a:off x="932688" y="3557016"/>
            <a:ext cx="2697480" cy="192024"/>
          </a:xfrm>
          <a:prstGeom prst="rect">
            <a:avLst/>
          </a:prstGeom>
          <a:noFill/>
          <a:ln/>
        </p:spPr>
        <p:txBody>
          <a:bodyPr wrap="square" lIns="0" tIns="0" rIns="0" bIns="0" rtlCol="0" anchor="ctr">
            <a:normAutofit/>
          </a:bodyPr>
          <a:lstStyle/>
          <a:p>
            <a:pPr indent="0" marL="0">
              <a:buNone/>
            </a:pPr>
            <a:r>
              <a:rPr lang="en-US" sz="1080" b="1" dirty="0">
                <a:solidFill>
                  <a:srgbClr val="FFFFFF"/>
                </a:solidFill>
                <a:latin typeface="Aptos" pitchFamily="34" charset="0"/>
                <a:ea typeface="Aptos" pitchFamily="34" charset="-122"/>
                <a:cs typeface="Aptos" pitchFamily="34" charset="-120"/>
              </a:rPr>
              <a:t>Credential &amp; tool misuse</a:t>
            </a:r>
            <a:endParaRPr lang="en-US" sz="1080" dirty="0"/>
          </a:p>
        </p:txBody>
      </p:sp>
      <p:sp>
        <p:nvSpPr>
          <p:cNvPr id="18" name="Text 15"/>
          <p:cNvSpPr/>
          <p:nvPr/>
        </p:nvSpPr>
        <p:spPr>
          <a:xfrm>
            <a:off x="932688" y="3767328"/>
            <a:ext cx="4773168" cy="155448"/>
          </a:xfrm>
          <a:prstGeom prst="rect">
            <a:avLst/>
          </a:prstGeom>
          <a:noFill/>
          <a:ln/>
        </p:spPr>
        <p:txBody>
          <a:bodyPr wrap="square" lIns="0" tIns="0" rIns="0" bIns="0" rtlCol="0" anchor="ctr">
            <a:normAutofit/>
          </a:bodyPr>
          <a:lstStyle/>
          <a:p>
            <a:pPr indent="0" marL="0">
              <a:buNone/>
            </a:pPr>
            <a:r>
              <a:rPr lang="en-US" sz="880" dirty="0">
                <a:solidFill>
                  <a:srgbClr val="B7D4F5"/>
                </a:solidFill>
                <a:latin typeface="Aptos" pitchFamily="34" charset="0"/>
                <a:ea typeface="Aptos" pitchFamily="34" charset="-122"/>
                <a:cs typeface="Aptos" pitchFamily="34" charset="-120"/>
              </a:rPr>
              <a:t>Agent/tool actions abused through over-permissioned identities</a:t>
            </a:r>
            <a:endParaRPr lang="en-US" sz="880" dirty="0"/>
          </a:p>
        </p:txBody>
      </p:sp>
      <p:sp>
        <p:nvSpPr>
          <p:cNvPr id="19" name="Shape 16"/>
          <p:cNvSpPr/>
          <p:nvPr/>
        </p:nvSpPr>
        <p:spPr>
          <a:xfrm>
            <a:off x="530352" y="4114800"/>
            <a:ext cx="5468112" cy="521208"/>
          </a:xfrm>
          <a:prstGeom prst="roundRect">
            <a:avLst>
              <a:gd name="adj" fmla="val 14035"/>
            </a:avLst>
          </a:prstGeom>
          <a:solidFill>
            <a:srgbClr val="0B2B55">
              <a:alpha val="94000"/>
            </a:srgbClr>
          </a:solidFill>
          <a:ln w="7620">
            <a:solidFill>
              <a:srgbClr val="1E90FF">
                <a:alpha val="50000"/>
              </a:srgbClr>
            </a:solidFill>
            <a:prstDash val="solid"/>
          </a:ln>
        </p:spPr>
      </p:sp>
      <p:sp>
        <p:nvSpPr>
          <p:cNvPr id="20" name="Text 17"/>
          <p:cNvSpPr/>
          <p:nvPr/>
        </p:nvSpPr>
        <p:spPr>
          <a:xfrm>
            <a:off x="685800" y="4233672"/>
            <a:ext cx="201168" cy="182880"/>
          </a:xfrm>
          <a:prstGeom prst="rect">
            <a:avLst/>
          </a:prstGeom>
          <a:noFill/>
          <a:ln/>
        </p:spPr>
        <p:txBody>
          <a:bodyPr wrap="square" lIns="0" tIns="0" rIns="0" bIns="0" rtlCol="0" anchor="ctr"/>
          <a:lstStyle/>
          <a:p>
            <a:pPr indent="0" marL="0">
              <a:buNone/>
            </a:pPr>
            <a:r>
              <a:rPr lang="en-US" sz="1200" dirty="0">
                <a:solidFill>
                  <a:srgbClr val="57D7FF"/>
                </a:solidFill>
              </a:rPr>
              <a:t>●</a:t>
            </a:r>
            <a:endParaRPr lang="en-US" sz="1200" dirty="0"/>
          </a:p>
        </p:txBody>
      </p:sp>
      <p:sp>
        <p:nvSpPr>
          <p:cNvPr id="21" name="Text 18"/>
          <p:cNvSpPr/>
          <p:nvPr/>
        </p:nvSpPr>
        <p:spPr>
          <a:xfrm>
            <a:off x="932688" y="4187952"/>
            <a:ext cx="2697480" cy="192024"/>
          </a:xfrm>
          <a:prstGeom prst="rect">
            <a:avLst/>
          </a:prstGeom>
          <a:noFill/>
          <a:ln/>
        </p:spPr>
        <p:txBody>
          <a:bodyPr wrap="square" lIns="0" tIns="0" rIns="0" bIns="0" rtlCol="0" anchor="ctr">
            <a:normAutofit/>
          </a:bodyPr>
          <a:lstStyle/>
          <a:p>
            <a:pPr indent="0" marL="0">
              <a:buNone/>
            </a:pPr>
            <a:r>
              <a:rPr lang="en-US" sz="1080" b="1" dirty="0">
                <a:solidFill>
                  <a:srgbClr val="FFFFFF"/>
                </a:solidFill>
                <a:latin typeface="Aptos" pitchFamily="34" charset="0"/>
                <a:ea typeface="Aptos" pitchFamily="34" charset="-122"/>
                <a:cs typeface="Aptos" pitchFamily="34" charset="-120"/>
              </a:rPr>
              <a:t>Unsafe model behavior</a:t>
            </a:r>
            <a:endParaRPr lang="en-US" sz="1080" dirty="0"/>
          </a:p>
        </p:txBody>
      </p:sp>
      <p:sp>
        <p:nvSpPr>
          <p:cNvPr id="22" name="Text 19"/>
          <p:cNvSpPr/>
          <p:nvPr/>
        </p:nvSpPr>
        <p:spPr>
          <a:xfrm>
            <a:off x="932688" y="4398264"/>
            <a:ext cx="4773168" cy="155448"/>
          </a:xfrm>
          <a:prstGeom prst="rect">
            <a:avLst/>
          </a:prstGeom>
          <a:noFill/>
          <a:ln/>
        </p:spPr>
        <p:txBody>
          <a:bodyPr wrap="square" lIns="0" tIns="0" rIns="0" bIns="0" rtlCol="0" anchor="ctr">
            <a:normAutofit/>
          </a:bodyPr>
          <a:lstStyle/>
          <a:p>
            <a:pPr indent="0" marL="0">
              <a:buNone/>
            </a:pPr>
            <a:r>
              <a:rPr lang="en-US" sz="880" dirty="0">
                <a:solidFill>
                  <a:srgbClr val="B7D4F5"/>
                </a:solidFill>
                <a:latin typeface="Aptos" pitchFamily="34" charset="0"/>
                <a:ea typeface="Aptos" pitchFamily="34" charset="-122"/>
                <a:cs typeface="Aptos" pitchFamily="34" charset="-120"/>
              </a:rPr>
              <a:t>Policy-violating prompts, responses, and anomalous API interaction patterns</a:t>
            </a:r>
            <a:endParaRPr lang="en-US" sz="880" dirty="0"/>
          </a:p>
        </p:txBody>
      </p:sp>
      <p:sp>
        <p:nvSpPr>
          <p:cNvPr id="23" name="Text 20"/>
          <p:cNvSpPr/>
          <p:nvPr/>
        </p:nvSpPr>
        <p:spPr>
          <a:xfrm>
            <a:off x="530352" y="4882896"/>
            <a:ext cx="2560320" cy="237744"/>
          </a:xfrm>
          <a:prstGeom prst="rect">
            <a:avLst/>
          </a:prstGeom>
          <a:noFill/>
          <a:ln/>
        </p:spPr>
        <p:txBody>
          <a:bodyPr wrap="square" lIns="0" tIns="0" rIns="0" bIns="0" rtlCol="0" anchor="ctr"/>
          <a:lstStyle/>
          <a:p>
            <a:pPr indent="0" marL="0">
              <a:buNone/>
            </a:pPr>
            <a:r>
              <a:rPr lang="en-US" sz="1300" b="1" dirty="0">
                <a:solidFill>
                  <a:srgbClr val="FFFFFF"/>
                </a:solidFill>
                <a:latin typeface="Aptos" pitchFamily="34" charset="0"/>
                <a:ea typeface="Aptos" pitchFamily="34" charset="-122"/>
                <a:cs typeface="Aptos" pitchFamily="34" charset="-120"/>
              </a:rPr>
              <a:t>Protection workflow</a:t>
            </a:r>
            <a:endParaRPr lang="en-US" sz="1300" dirty="0"/>
          </a:p>
        </p:txBody>
      </p:sp>
      <p:sp>
        <p:nvSpPr>
          <p:cNvPr id="24" name="Shape 21"/>
          <p:cNvSpPr/>
          <p:nvPr/>
        </p:nvSpPr>
        <p:spPr>
          <a:xfrm>
            <a:off x="530352" y="5266944"/>
            <a:ext cx="1261872" cy="713232"/>
          </a:xfrm>
          <a:prstGeom prst="roundRect">
            <a:avLst>
              <a:gd name="adj" fmla="val 10256"/>
            </a:avLst>
          </a:prstGeom>
          <a:solidFill>
            <a:srgbClr val="E6F7FF"/>
          </a:solidFill>
          <a:ln w="9525">
            <a:solidFill>
              <a:srgbClr val="5AD7FF">
                <a:alpha val="75000"/>
              </a:srgbClr>
            </a:solidFill>
            <a:prstDash val="solid"/>
          </a:ln>
        </p:spPr>
      </p:sp>
      <p:sp>
        <p:nvSpPr>
          <p:cNvPr id="25" name="Text 22"/>
          <p:cNvSpPr/>
          <p:nvPr/>
        </p:nvSpPr>
        <p:spPr>
          <a:xfrm>
            <a:off x="603504" y="5330952"/>
            <a:ext cx="164592" cy="164592"/>
          </a:xfrm>
          <a:prstGeom prst="rect">
            <a:avLst/>
          </a:prstGeom>
          <a:noFill/>
          <a:ln/>
        </p:spPr>
        <p:txBody>
          <a:bodyPr wrap="square" lIns="0" tIns="0" rIns="0" bIns="0" rtlCol="0" anchor="ctr"/>
          <a:lstStyle/>
          <a:p>
            <a:pPr indent="0" marL="0">
              <a:buNone/>
            </a:pPr>
            <a:r>
              <a:rPr lang="en-US" sz="900" b="1" dirty="0">
                <a:solidFill>
                  <a:srgbClr val="0078D4"/>
                </a:solidFill>
                <a:latin typeface="Aptos" pitchFamily="34" charset="0"/>
                <a:ea typeface="Aptos" pitchFamily="34" charset="-122"/>
                <a:cs typeface="Aptos" pitchFamily="34" charset="-120"/>
              </a:rPr>
              <a:t>1</a:t>
            </a:r>
            <a:endParaRPr lang="en-US" sz="900" dirty="0"/>
          </a:p>
        </p:txBody>
      </p:sp>
      <p:sp>
        <p:nvSpPr>
          <p:cNvPr id="26" name="Text 23"/>
          <p:cNvSpPr/>
          <p:nvPr/>
        </p:nvSpPr>
        <p:spPr>
          <a:xfrm>
            <a:off x="786384" y="5312664"/>
            <a:ext cx="868680" cy="173736"/>
          </a:xfrm>
          <a:prstGeom prst="rect">
            <a:avLst/>
          </a:prstGeom>
          <a:noFill/>
          <a:ln/>
        </p:spPr>
        <p:txBody>
          <a:bodyPr wrap="square" lIns="0" tIns="0" rIns="0" bIns="0" rtlCol="0" anchor="ctr">
            <a:normAutofit/>
          </a:bodyPr>
          <a:lstStyle/>
          <a:p>
            <a:pPr indent="0" marL="0">
              <a:buNone/>
            </a:pPr>
            <a:r>
              <a:rPr lang="en-US" sz="960" b="1" dirty="0">
                <a:solidFill>
                  <a:srgbClr val="073B70"/>
                </a:solidFill>
                <a:latin typeface="Aptos" pitchFamily="34" charset="0"/>
                <a:ea typeface="Aptos" pitchFamily="34" charset="-122"/>
                <a:cs typeface="Aptos" pitchFamily="34" charset="-120"/>
              </a:rPr>
              <a:t>Discover</a:t>
            </a:r>
            <a:endParaRPr lang="en-US" sz="960" dirty="0"/>
          </a:p>
        </p:txBody>
      </p:sp>
      <p:sp>
        <p:nvSpPr>
          <p:cNvPr id="27" name="Text 24"/>
          <p:cNvSpPr/>
          <p:nvPr/>
        </p:nvSpPr>
        <p:spPr>
          <a:xfrm>
            <a:off x="676656" y="5586984"/>
            <a:ext cx="996696" cy="265176"/>
          </a:xfrm>
          <a:prstGeom prst="rect">
            <a:avLst/>
          </a:prstGeom>
          <a:noFill/>
          <a:ln/>
        </p:spPr>
        <p:txBody>
          <a:bodyPr wrap="square" lIns="0" tIns="0" rIns="0" bIns="0" rtlCol="0" anchor="ctr">
            <a:normAutofit/>
          </a:bodyPr>
          <a:lstStyle/>
          <a:p>
            <a:pPr algn="ctr" indent="0" marL="0">
              <a:buNone/>
            </a:pPr>
            <a:r>
              <a:rPr lang="en-US" sz="720" dirty="0">
                <a:solidFill>
                  <a:srgbClr val="073B70"/>
                </a:solidFill>
                <a:latin typeface="Aptos" pitchFamily="34" charset="0"/>
                <a:ea typeface="Aptos" pitchFamily="34" charset="-122"/>
                <a:cs typeface="Aptos" pitchFamily="34" charset="-120"/>
              </a:rPr>
              <a:t>AI assets &amp; exposure</a:t>
            </a:r>
            <a:endParaRPr lang="en-US" sz="720" dirty="0"/>
          </a:p>
        </p:txBody>
      </p:sp>
      <p:sp>
        <p:nvSpPr>
          <p:cNvPr id="28" name="Shape 25"/>
          <p:cNvSpPr/>
          <p:nvPr/>
        </p:nvSpPr>
        <p:spPr>
          <a:xfrm>
            <a:off x="1929384" y="5266944"/>
            <a:ext cx="1261872" cy="713232"/>
          </a:xfrm>
          <a:prstGeom prst="roundRect">
            <a:avLst>
              <a:gd name="adj" fmla="val 10256"/>
            </a:avLst>
          </a:prstGeom>
          <a:solidFill>
            <a:srgbClr val="E6F7FF"/>
          </a:solidFill>
          <a:ln w="9525">
            <a:solidFill>
              <a:srgbClr val="5AD7FF">
                <a:alpha val="75000"/>
              </a:srgbClr>
            </a:solidFill>
            <a:prstDash val="solid"/>
          </a:ln>
        </p:spPr>
      </p:sp>
      <p:sp>
        <p:nvSpPr>
          <p:cNvPr id="29" name="Text 26"/>
          <p:cNvSpPr/>
          <p:nvPr/>
        </p:nvSpPr>
        <p:spPr>
          <a:xfrm>
            <a:off x="2002536" y="5330952"/>
            <a:ext cx="164592" cy="164592"/>
          </a:xfrm>
          <a:prstGeom prst="rect">
            <a:avLst/>
          </a:prstGeom>
          <a:noFill/>
          <a:ln/>
        </p:spPr>
        <p:txBody>
          <a:bodyPr wrap="square" lIns="0" tIns="0" rIns="0" bIns="0" rtlCol="0" anchor="ctr"/>
          <a:lstStyle/>
          <a:p>
            <a:pPr indent="0" marL="0">
              <a:buNone/>
            </a:pPr>
            <a:r>
              <a:rPr lang="en-US" sz="900" b="1" dirty="0">
                <a:solidFill>
                  <a:srgbClr val="0078D4"/>
                </a:solidFill>
                <a:latin typeface="Aptos" pitchFamily="34" charset="0"/>
                <a:ea typeface="Aptos" pitchFamily="34" charset="-122"/>
                <a:cs typeface="Aptos" pitchFamily="34" charset="-120"/>
              </a:rPr>
              <a:t>2</a:t>
            </a:r>
            <a:endParaRPr lang="en-US" sz="900" dirty="0"/>
          </a:p>
        </p:txBody>
      </p:sp>
      <p:sp>
        <p:nvSpPr>
          <p:cNvPr id="30" name="Text 27"/>
          <p:cNvSpPr/>
          <p:nvPr/>
        </p:nvSpPr>
        <p:spPr>
          <a:xfrm>
            <a:off x="2185416" y="5312664"/>
            <a:ext cx="868680" cy="173736"/>
          </a:xfrm>
          <a:prstGeom prst="rect">
            <a:avLst/>
          </a:prstGeom>
          <a:noFill/>
          <a:ln/>
        </p:spPr>
        <p:txBody>
          <a:bodyPr wrap="square" lIns="0" tIns="0" rIns="0" bIns="0" rtlCol="0" anchor="ctr">
            <a:normAutofit/>
          </a:bodyPr>
          <a:lstStyle/>
          <a:p>
            <a:pPr indent="0" marL="0">
              <a:buNone/>
            </a:pPr>
            <a:r>
              <a:rPr lang="en-US" sz="960" b="1" dirty="0">
                <a:solidFill>
                  <a:srgbClr val="073B70"/>
                </a:solidFill>
                <a:latin typeface="Aptos" pitchFamily="34" charset="0"/>
                <a:ea typeface="Aptos" pitchFamily="34" charset="-122"/>
                <a:cs typeface="Aptos" pitchFamily="34" charset="-120"/>
              </a:rPr>
              <a:t>Harden</a:t>
            </a:r>
            <a:endParaRPr lang="en-US" sz="960" dirty="0"/>
          </a:p>
        </p:txBody>
      </p:sp>
      <p:sp>
        <p:nvSpPr>
          <p:cNvPr id="31" name="Text 28"/>
          <p:cNvSpPr/>
          <p:nvPr/>
        </p:nvSpPr>
        <p:spPr>
          <a:xfrm>
            <a:off x="2075688" y="5586984"/>
            <a:ext cx="996696" cy="265176"/>
          </a:xfrm>
          <a:prstGeom prst="rect">
            <a:avLst/>
          </a:prstGeom>
          <a:noFill/>
          <a:ln/>
        </p:spPr>
        <p:txBody>
          <a:bodyPr wrap="square" lIns="0" tIns="0" rIns="0" bIns="0" rtlCol="0" anchor="ctr">
            <a:normAutofit/>
          </a:bodyPr>
          <a:lstStyle/>
          <a:p>
            <a:pPr algn="ctr" indent="0" marL="0">
              <a:buNone/>
            </a:pPr>
            <a:r>
              <a:rPr lang="en-US" sz="720" dirty="0">
                <a:solidFill>
                  <a:srgbClr val="073B70"/>
                </a:solidFill>
                <a:latin typeface="Aptos" pitchFamily="34" charset="0"/>
                <a:ea typeface="Aptos" pitchFamily="34" charset="-122"/>
                <a:cs typeface="Aptos" pitchFamily="34" charset="-120"/>
              </a:rPr>
              <a:t>CSPM recommendations</a:t>
            </a:r>
            <a:endParaRPr lang="en-US" sz="720" dirty="0"/>
          </a:p>
        </p:txBody>
      </p:sp>
      <p:sp>
        <p:nvSpPr>
          <p:cNvPr id="32" name="Shape 29"/>
          <p:cNvSpPr/>
          <p:nvPr/>
        </p:nvSpPr>
        <p:spPr>
          <a:xfrm>
            <a:off x="3328416" y="5266944"/>
            <a:ext cx="1261872" cy="713232"/>
          </a:xfrm>
          <a:prstGeom prst="roundRect">
            <a:avLst>
              <a:gd name="adj" fmla="val 10256"/>
            </a:avLst>
          </a:prstGeom>
          <a:solidFill>
            <a:srgbClr val="E6F7FF"/>
          </a:solidFill>
          <a:ln w="9525">
            <a:solidFill>
              <a:srgbClr val="5AD7FF">
                <a:alpha val="75000"/>
              </a:srgbClr>
            </a:solidFill>
            <a:prstDash val="solid"/>
          </a:ln>
        </p:spPr>
      </p:sp>
      <p:sp>
        <p:nvSpPr>
          <p:cNvPr id="33" name="Text 30"/>
          <p:cNvSpPr/>
          <p:nvPr/>
        </p:nvSpPr>
        <p:spPr>
          <a:xfrm>
            <a:off x="3401568" y="5330952"/>
            <a:ext cx="164592" cy="164592"/>
          </a:xfrm>
          <a:prstGeom prst="rect">
            <a:avLst/>
          </a:prstGeom>
          <a:noFill/>
          <a:ln/>
        </p:spPr>
        <p:txBody>
          <a:bodyPr wrap="square" lIns="0" tIns="0" rIns="0" bIns="0" rtlCol="0" anchor="ctr"/>
          <a:lstStyle/>
          <a:p>
            <a:pPr indent="0" marL="0">
              <a:buNone/>
            </a:pPr>
            <a:r>
              <a:rPr lang="en-US" sz="900" b="1" dirty="0">
                <a:solidFill>
                  <a:srgbClr val="0078D4"/>
                </a:solidFill>
                <a:latin typeface="Aptos" pitchFamily="34" charset="0"/>
                <a:ea typeface="Aptos" pitchFamily="34" charset="-122"/>
                <a:cs typeface="Aptos" pitchFamily="34" charset="-120"/>
              </a:rPr>
              <a:t>3</a:t>
            </a:r>
            <a:endParaRPr lang="en-US" sz="900" dirty="0"/>
          </a:p>
        </p:txBody>
      </p:sp>
      <p:sp>
        <p:nvSpPr>
          <p:cNvPr id="34" name="Text 31"/>
          <p:cNvSpPr/>
          <p:nvPr/>
        </p:nvSpPr>
        <p:spPr>
          <a:xfrm>
            <a:off x="3584448" y="5312664"/>
            <a:ext cx="868680" cy="173736"/>
          </a:xfrm>
          <a:prstGeom prst="rect">
            <a:avLst/>
          </a:prstGeom>
          <a:noFill/>
          <a:ln/>
        </p:spPr>
        <p:txBody>
          <a:bodyPr wrap="square" lIns="0" tIns="0" rIns="0" bIns="0" rtlCol="0" anchor="ctr">
            <a:normAutofit/>
          </a:bodyPr>
          <a:lstStyle/>
          <a:p>
            <a:pPr indent="0" marL="0">
              <a:buNone/>
            </a:pPr>
            <a:r>
              <a:rPr lang="en-US" sz="960" b="1" dirty="0">
                <a:solidFill>
                  <a:srgbClr val="073B70"/>
                </a:solidFill>
                <a:latin typeface="Aptos" pitchFamily="34" charset="0"/>
                <a:ea typeface="Aptos" pitchFamily="34" charset="-122"/>
                <a:cs typeface="Aptos" pitchFamily="34" charset="-120"/>
              </a:rPr>
              <a:t>Detect</a:t>
            </a:r>
            <a:endParaRPr lang="en-US" sz="960" dirty="0"/>
          </a:p>
        </p:txBody>
      </p:sp>
      <p:sp>
        <p:nvSpPr>
          <p:cNvPr id="35" name="Text 32"/>
          <p:cNvSpPr/>
          <p:nvPr/>
        </p:nvSpPr>
        <p:spPr>
          <a:xfrm>
            <a:off x="3474720" y="5586984"/>
            <a:ext cx="996696" cy="265176"/>
          </a:xfrm>
          <a:prstGeom prst="rect">
            <a:avLst/>
          </a:prstGeom>
          <a:noFill/>
          <a:ln/>
        </p:spPr>
        <p:txBody>
          <a:bodyPr wrap="square" lIns="0" tIns="0" rIns="0" bIns="0" rtlCol="0" anchor="ctr">
            <a:normAutofit/>
          </a:bodyPr>
          <a:lstStyle/>
          <a:p>
            <a:pPr algn="ctr" indent="0" marL="0">
              <a:buNone/>
            </a:pPr>
            <a:r>
              <a:rPr lang="en-US" sz="720" dirty="0">
                <a:solidFill>
                  <a:srgbClr val="073B70"/>
                </a:solidFill>
                <a:latin typeface="Aptos" pitchFamily="34" charset="0"/>
                <a:ea typeface="Aptos" pitchFamily="34" charset="-122"/>
                <a:cs typeface="Aptos" pitchFamily="34" charset="-120"/>
              </a:rPr>
              <a:t>Runtime CWP alerts</a:t>
            </a:r>
            <a:endParaRPr lang="en-US" sz="720" dirty="0"/>
          </a:p>
        </p:txBody>
      </p:sp>
      <p:sp>
        <p:nvSpPr>
          <p:cNvPr id="36" name="Shape 33"/>
          <p:cNvSpPr/>
          <p:nvPr/>
        </p:nvSpPr>
        <p:spPr>
          <a:xfrm>
            <a:off x="4727448" y="5266944"/>
            <a:ext cx="1261872" cy="713232"/>
          </a:xfrm>
          <a:prstGeom prst="roundRect">
            <a:avLst>
              <a:gd name="adj" fmla="val 10256"/>
            </a:avLst>
          </a:prstGeom>
          <a:solidFill>
            <a:srgbClr val="E6F7FF"/>
          </a:solidFill>
          <a:ln w="9525">
            <a:solidFill>
              <a:srgbClr val="5AD7FF">
                <a:alpha val="75000"/>
              </a:srgbClr>
            </a:solidFill>
            <a:prstDash val="solid"/>
          </a:ln>
        </p:spPr>
      </p:sp>
      <p:sp>
        <p:nvSpPr>
          <p:cNvPr id="37" name="Text 34"/>
          <p:cNvSpPr/>
          <p:nvPr/>
        </p:nvSpPr>
        <p:spPr>
          <a:xfrm>
            <a:off x="4800600" y="5330952"/>
            <a:ext cx="164592" cy="164592"/>
          </a:xfrm>
          <a:prstGeom prst="rect">
            <a:avLst/>
          </a:prstGeom>
          <a:noFill/>
          <a:ln/>
        </p:spPr>
        <p:txBody>
          <a:bodyPr wrap="square" lIns="0" tIns="0" rIns="0" bIns="0" rtlCol="0" anchor="ctr"/>
          <a:lstStyle/>
          <a:p>
            <a:pPr indent="0" marL="0">
              <a:buNone/>
            </a:pPr>
            <a:r>
              <a:rPr lang="en-US" sz="900" b="1" dirty="0">
                <a:solidFill>
                  <a:srgbClr val="0078D4"/>
                </a:solidFill>
                <a:latin typeface="Aptos" pitchFamily="34" charset="0"/>
                <a:ea typeface="Aptos" pitchFamily="34" charset="-122"/>
                <a:cs typeface="Aptos" pitchFamily="34" charset="-120"/>
              </a:rPr>
              <a:t>4</a:t>
            </a:r>
            <a:endParaRPr lang="en-US" sz="900" dirty="0"/>
          </a:p>
        </p:txBody>
      </p:sp>
      <p:sp>
        <p:nvSpPr>
          <p:cNvPr id="38" name="Text 35"/>
          <p:cNvSpPr/>
          <p:nvPr/>
        </p:nvSpPr>
        <p:spPr>
          <a:xfrm>
            <a:off x="4983480" y="5312664"/>
            <a:ext cx="868680" cy="173736"/>
          </a:xfrm>
          <a:prstGeom prst="rect">
            <a:avLst/>
          </a:prstGeom>
          <a:noFill/>
          <a:ln/>
        </p:spPr>
        <p:txBody>
          <a:bodyPr wrap="square" lIns="0" tIns="0" rIns="0" bIns="0" rtlCol="0" anchor="ctr">
            <a:normAutofit/>
          </a:bodyPr>
          <a:lstStyle/>
          <a:p>
            <a:pPr indent="0" marL="0">
              <a:buNone/>
            </a:pPr>
            <a:r>
              <a:rPr lang="en-US" sz="960" b="1" dirty="0">
                <a:solidFill>
                  <a:srgbClr val="073B70"/>
                </a:solidFill>
                <a:latin typeface="Aptos" pitchFamily="34" charset="0"/>
                <a:ea typeface="Aptos" pitchFamily="34" charset="-122"/>
                <a:cs typeface="Aptos" pitchFamily="34" charset="-120"/>
              </a:rPr>
              <a:t>Investigate</a:t>
            </a:r>
            <a:endParaRPr lang="en-US" sz="960" dirty="0"/>
          </a:p>
        </p:txBody>
      </p:sp>
      <p:sp>
        <p:nvSpPr>
          <p:cNvPr id="39" name="Text 36"/>
          <p:cNvSpPr/>
          <p:nvPr/>
        </p:nvSpPr>
        <p:spPr>
          <a:xfrm>
            <a:off x="4873752" y="5586984"/>
            <a:ext cx="996696" cy="265176"/>
          </a:xfrm>
          <a:prstGeom prst="rect">
            <a:avLst/>
          </a:prstGeom>
          <a:noFill/>
          <a:ln/>
        </p:spPr>
        <p:txBody>
          <a:bodyPr wrap="square" lIns="0" tIns="0" rIns="0" bIns="0" rtlCol="0" anchor="ctr">
            <a:normAutofit/>
          </a:bodyPr>
          <a:lstStyle/>
          <a:p>
            <a:pPr algn="ctr" indent="0" marL="0">
              <a:buNone/>
            </a:pPr>
            <a:r>
              <a:rPr lang="en-US" sz="720" dirty="0">
                <a:solidFill>
                  <a:srgbClr val="073B70"/>
                </a:solidFill>
                <a:latin typeface="Aptos" pitchFamily="34" charset="0"/>
                <a:ea typeface="Aptos" pitchFamily="34" charset="-122"/>
                <a:cs typeface="Aptos" pitchFamily="34" charset="-120"/>
              </a:rPr>
              <a:t>XDR incidents + prompt evidence</a:t>
            </a:r>
            <a:endParaRPr lang="en-US" sz="720" dirty="0"/>
          </a:p>
        </p:txBody>
      </p:sp>
      <p:sp>
        <p:nvSpPr>
          <p:cNvPr id="40" name="Shape 37"/>
          <p:cNvSpPr/>
          <p:nvPr/>
        </p:nvSpPr>
        <p:spPr>
          <a:xfrm>
            <a:off x="7059168" y="5248656"/>
            <a:ext cx="4480560" cy="978408"/>
          </a:xfrm>
          <a:prstGeom prst="roundRect">
            <a:avLst>
              <a:gd name="adj" fmla="val 7477"/>
            </a:avLst>
          </a:prstGeom>
          <a:solidFill>
            <a:srgbClr val="06172F">
              <a:alpha val="88000"/>
            </a:srgbClr>
          </a:solidFill>
          <a:ln w="12700">
            <a:solidFill>
              <a:srgbClr val="43C6FF">
                <a:alpha val="60000"/>
              </a:srgbClr>
            </a:solidFill>
            <a:prstDash val="solid"/>
          </a:ln>
        </p:spPr>
      </p:sp>
      <p:sp>
        <p:nvSpPr>
          <p:cNvPr id="41" name="Text 38"/>
          <p:cNvSpPr/>
          <p:nvPr/>
        </p:nvSpPr>
        <p:spPr>
          <a:xfrm>
            <a:off x="7296912" y="5422392"/>
            <a:ext cx="1600200" cy="201168"/>
          </a:xfrm>
          <a:prstGeom prst="rect">
            <a:avLst/>
          </a:prstGeom>
          <a:noFill/>
          <a:ln/>
        </p:spPr>
        <p:txBody>
          <a:bodyPr wrap="square" lIns="0" tIns="0" rIns="0" bIns="0" rtlCol="0" anchor="ctr"/>
          <a:lstStyle/>
          <a:p>
            <a:pPr indent="0" marL="0">
              <a:buNone/>
            </a:pPr>
            <a:r>
              <a:rPr lang="en-US" sz="1150" b="1" dirty="0">
                <a:solidFill>
                  <a:srgbClr val="FFFFFF"/>
                </a:solidFill>
                <a:latin typeface="Aptos" pitchFamily="34" charset="0"/>
                <a:ea typeface="Aptos" pitchFamily="34" charset="-122"/>
                <a:cs typeface="Aptos" pitchFamily="34" charset="-120"/>
              </a:rPr>
              <a:t>Instructor emphasis</a:t>
            </a:r>
            <a:endParaRPr lang="en-US" sz="1150" dirty="0"/>
          </a:p>
        </p:txBody>
      </p:sp>
      <p:sp>
        <p:nvSpPr>
          <p:cNvPr id="42" name="Text 39"/>
          <p:cNvSpPr/>
          <p:nvPr/>
        </p:nvSpPr>
        <p:spPr>
          <a:xfrm>
            <a:off x="7296912" y="5660136"/>
            <a:ext cx="3840480" cy="347472"/>
          </a:xfrm>
          <a:prstGeom prst="rect">
            <a:avLst/>
          </a:prstGeom>
          <a:noFill/>
          <a:ln/>
        </p:spPr>
        <p:txBody>
          <a:bodyPr wrap="square" lIns="0" tIns="0" rIns="0" bIns="0" rtlCol="0" anchor="ctr">
            <a:normAutofit/>
          </a:bodyPr>
          <a:lstStyle/>
          <a:p>
            <a:pPr indent="0" marL="0">
              <a:buNone/>
            </a:pPr>
            <a:r>
              <a:rPr lang="en-US" sz="920" dirty="0">
                <a:solidFill>
                  <a:srgbClr val="D5EEFF"/>
                </a:solidFill>
                <a:latin typeface="Aptos" pitchFamily="34" charset="0"/>
                <a:ea typeface="Aptos" pitchFamily="34" charset="-122"/>
                <a:cs typeface="Aptos" pitchFamily="34" charset="-120"/>
              </a:rPr>
              <a:t>Enable the AI services plan, review the Data &amp; AI security dashboard, validate CSPM findings, then investigate runtime alerts in Microsoft Defender XDR.</a:t>
            </a:r>
            <a:endParaRPr lang="en-US" sz="920" dirty="0"/>
          </a:p>
        </p:txBody>
      </p:sp>
      <p:sp>
        <p:nvSpPr>
          <p:cNvPr id="43" name="Text 40"/>
          <p:cNvSpPr/>
          <p:nvPr/>
        </p:nvSpPr>
        <p:spPr>
          <a:xfrm>
            <a:off x="530352" y="6446520"/>
            <a:ext cx="10881360" cy="164592"/>
          </a:xfrm>
          <a:prstGeom prst="rect">
            <a:avLst/>
          </a:prstGeom>
          <a:noFill/>
          <a:ln/>
        </p:spPr>
        <p:txBody>
          <a:bodyPr wrap="square" lIns="0" tIns="0" rIns="0" bIns="0" rtlCol="0" anchor="ctr">
            <a:normAutofit/>
          </a:bodyPr>
          <a:lstStyle/>
          <a:p>
            <a:pPr indent="0" marL="0">
              <a:buNone/>
            </a:pPr>
            <a:r>
              <a:rPr lang="en-US" sz="780" dirty="0">
                <a:solidFill>
                  <a:srgbClr val="8FB8E8"/>
                </a:solidFill>
                <a:latin typeface="Aptos" pitchFamily="34" charset="0"/>
                <a:ea typeface="Aptos" pitchFamily="34" charset="-122"/>
                <a:cs typeface="Aptos" pitchFamily="34" charset="-120"/>
              </a:rPr>
              <a:t>Use with: Microsoft Foundry / Azure AI workloads • Microsoft Entra workload identities • Purview DSPM for AI where licensed</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Skunkworks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Defender for AI Services: Gen-AI Workload Protection</dc:title>
  <dc:subject>Defender for AI Services: Monitoring and protecting Gen-AI workloads against unique threats</dc:subject>
  <dc:creator>OpenAI</dc:creator>
  <cp:lastModifiedBy>OpenAI</cp:lastModifiedBy>
  <cp:revision>1</cp:revision>
  <dcterms:created xsi:type="dcterms:W3CDTF">2026-06-17T10:17:12Z</dcterms:created>
  <dcterms:modified xsi:type="dcterms:W3CDTF">2026-06-17T10:17:12Z</dcterms:modified>
</cp:coreProperties>
</file>