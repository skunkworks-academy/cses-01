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framing the problem: deployment automation often begins with convenience permissions. The security objective is to reduce blast radius. Introduce the three-level maturity model: BAD is Owner at subscription scope; BETTER is Contributor at resource-group scope; BEST is a custom role with only the exact permissions required for the deployment action. Emphasize that least privilege is a design discipline, not only a technical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anchor the lesson. State that every deployment identity should be treated like a privileged workload identity. A CI/CD identity can create, update, delete, and sometimes grant access to resources. Therefore, it must be scoped by role, environment, and resource boundary. Connect this to Microsoft's Azure RBAC model: who has access, what they can do, and where they can do it. Reference: Azure RBAC overview, https://learn.microsoft.com/en-us/azure/role-based-access-control/overview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RBAC model. A role assignment has four dimensions: the security principal, the role definition, the scope, and the assignment itself. The most frequent mistake is focusing only on the role and ignoring the scope. Contributor at subscription scope is very different from Contributor at one resource group. Microsoft documents Azure RBAC as fine-grained access management for Azure resources and states that role assignments grant access to users, groups, service principals, or managed identities at a particular scope. Reference: https://learn.microsoft.com/en-us/azure/role-based-access-control/role-assignments-portal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explain why Owner at subscription scope is dangerous. Owner includes permission to manage access, not only deploy resources. If a CI/CD secret or federated identity is abused, an attacker can deploy malicious resources, modify existing ones, and potentially create additional role assignments. Microsoft RBAC best practices advise limiting privileged administrator role assignments and using PIM to reduce standing privilege. Reference: https://learn.microsoft.com/en-us/azure/role-based-access-control/best-practices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valid improvement because it reduces scope. Contributor at a resource-group scope is safer than Owner at subscription scope. However, it is not the end state. Contributor can still be too broad if the pipeline only needs to deploy App Service configuration or update a storage container. Use this slide to teach the difference between reducing scope and reducing role permissions. Best practice is to do both. Reference: Azure role assignment scope, https://learn.microsoft.com/en-us/azure/role-based-access-control/role-assignments-steps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 roles are the ideal state when built-in roles do not match the exact deployment need. Explain that a custom role is a role definition containing allowed Actions, excluded NotActions, optional DataActions, and AssignableScopes. For CI/CD, explicitly avoid permissions that allow access management unless the pipeline's purpose is access management. Microsoft documentation confirms that if built-in roles don't meet requirements, custom Azure roles can be created and assigned to users, groups, and service principals. References: https://learn.microsoft.com/en-us/azure/role-based-access-control/custom-roles and https://learn.microsoft.com/en-us/azure/role-based-access-control/custom-roles-portal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blast-radius design. Separate identities per environment prevent a development credential from becoming a production incident. This pattern supports auditability, cost accountability, and cleaner incident response. In production, require approvals and avoid standing high privilege. For complex organizations, use separate subscriptions or management groups for stronger separation. Reference: Azure identity and access security best practices, https://learn.microsoft.com/en-us/azure/security/fundamentals/identity-management-best-practices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showing RBAC changes, set expectations. Use a lab subscription or a customer-approved scope. If showing a live customer tenant, do not remove assignments during a workshop unless the change is approved. The demo should be safe: create a resource group, create or identify an app registration, and use IAM to show role assignments. The point is to teach the pattern, not to alter production casually.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learners through the audit path in the Azure portal. The key evidence is role, scope, and identity reuse. If the same identity has broad access across environments, call that out as blast-radius risk. Ask learners to explain the consequence of credential theft or pipeline compromise. Reference: Assign Azure roles using the Azure portal, https://learn.microsoft.com/en-us/azure/role-based-access-control/role-assignments-portal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demo shows the transition from subscription-level access to resource-group-level access. Start with Contributor if learners are new, then explain that Contributor is still an interim step. The final state is a custom role if the deployment activity is known and repeatable. Use the scope test as the teaching device: the identity should succeed in its own environment and fail outside its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 custom role is a governance artifact and should be managed like code. Use source control, peer review, versioning, and approvals. When creating a custom role in the portal, the instructor can clone an existing role and remove unnecessary permissions or start from JSON. Remind learners that data plane permissions may require DataActions, not just Actions. Reference: Create or update Azure custom roles using the Azure portal, https://learn.microsoft.com/en-us/azure/role-based-access-control/custom-roles-portal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RBAC is the authorization foundation, but operational least privilege also requires governance controls. Microsoft RBAC best practices recommend limiting privileged administrator assignments, using PIM, and assigning roles to groups. Workload identity federation reduces secret risk for CI/CD workflows by allowing supported workloads to access protected resources without managing secrets. Conditional Access is the Zero Trust policy engine for enforcing access controls based on signals. References: https://learn.microsoft.com/en-us/azure/role-based-access-control/best-practices, https://learn.microsoft.com/en-us/entra/workload-id/workload-identity-federation, https://learn.microsoft.com/en-us/entra/identity/conditional-access/overview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the live facilitation checklist. Learners should not only memorize roles; they should ask what an identity can do, where it can do it, and whether it can grant access to others. For blockers, emphasize that RBAC changes can take time to propagate and that production remediation should follow change control. If a custom role is too narrow, review deployment logs and add only the missing action rather than reverting to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encouraging learners to use Microsoft Learn as the source of truth. The most important references for this session are Azure RBAC best practices, custom role creation, role assignment in the portal, and workload identity federation. Tell learners to validate any RBAC design against current Microsoft documentation before implementing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learn.microsoft.com/en-us/azure/role-based-access-control/overview" TargetMode="External"/><Relationship Id="rId2" Type="http://schemas.openxmlformats.org/officeDocument/2006/relationships/hyperlink" Target="https://learn.microsoft.com/en-us/azure/role-based-access-control/overview" TargetMode="External"/><Relationship Id="rId3" Type="http://schemas.openxmlformats.org/officeDocument/2006/relationships/hyperlink" Target="https://learn.microsoft.com/en-us/azure/role-based-access-control/best-practices" TargetMode="External"/><Relationship Id="rId4" Type="http://schemas.openxmlformats.org/officeDocument/2006/relationships/hyperlink" Target="https://learn.microsoft.com/en-us/azure/role-based-access-control/best-practices" TargetMode="External"/><Relationship Id="rId5" Type="http://schemas.openxmlformats.org/officeDocument/2006/relationships/hyperlink" Target="https://learn.microsoft.com/en-us/azure/role-based-access-control/role-assignments-portal" TargetMode="External"/><Relationship Id="rId6" Type="http://schemas.openxmlformats.org/officeDocument/2006/relationships/hyperlink" Target="https://learn.microsoft.com/en-us/azure/role-based-access-control/role-assignments-portal" TargetMode="External"/><Relationship Id="rId7" Type="http://schemas.openxmlformats.org/officeDocument/2006/relationships/hyperlink" Target="https://learn.microsoft.com/en-us/azure/role-based-access-control/custom-roles-portal" TargetMode="External"/><Relationship Id="rId8" Type="http://schemas.openxmlformats.org/officeDocument/2006/relationships/hyperlink" Target="https://learn.microsoft.com/en-us/azure/role-based-access-control/custom-roles-portal" TargetMode="External"/><Relationship Id="rId9" Type="http://schemas.openxmlformats.org/officeDocument/2006/relationships/hyperlink" Target="https://learn.microsoft.com/en-us/azure/role-based-access-control/custom-roles" TargetMode="External"/><Relationship Id="rId10" Type="http://schemas.openxmlformats.org/officeDocument/2006/relationships/hyperlink" Target="https://learn.microsoft.com/en-us/azure/role-based-access-control/custom-roles" TargetMode="External"/><Relationship Id="rId11" Type="http://schemas.openxmlformats.org/officeDocument/2006/relationships/hyperlink" Target="https://learn.microsoft.com/en-us/entra/workload-id/workload-identities-overview" TargetMode="External"/><Relationship Id="rId12" Type="http://schemas.openxmlformats.org/officeDocument/2006/relationships/hyperlink" Target="https://learn.microsoft.com/en-us/entra/workload-id/workload-identities-overview" TargetMode="External"/><Relationship Id="rId13" Type="http://schemas.openxmlformats.org/officeDocument/2006/relationships/hyperlink" Target="https://learn.microsoft.com/en-us/entra/workload-id/workload-identity-federation" TargetMode="External"/><Relationship Id="rId14" Type="http://schemas.openxmlformats.org/officeDocument/2006/relationships/hyperlink" Target="https://learn.microsoft.com/en-us/entra/workload-id/workload-identity-federation" TargetMode="External"/><Relationship Id="rId15" Type="http://schemas.openxmlformats.org/officeDocument/2006/relationships/hyperlink" Target="https://learn.microsoft.com/en-us/entra/identity/conditional-access/overview" TargetMode="External"/><Relationship Id="rId16" Type="http://schemas.openxmlformats.org/officeDocument/2006/relationships/hyperlink" Target="https://learn.microsoft.com/en-us/entra/identity/conditional-access/overview" TargetMode="External"/><Relationship Id="rId17" Type="http://schemas.openxmlformats.org/officeDocument/2006/relationships/hyperlink" Target="https://learn.microsoft.com/en-us/azure/security/fundamentals/identity-management-best-practices" TargetMode="External"/><Relationship Id="rId18" Type="http://schemas.openxmlformats.org/officeDocument/2006/relationships/hyperlink" Target="https://learn.microsoft.com/en-us/azure/security/fundamentals/identity-management-best-practices" TargetMode="External"/><Relationship Id="rId19" Type="http://schemas.openxmlformats.org/officeDocument/2006/relationships/slideLayout" Target="../slideLayouts/slideLayout1.xml"/><Relationship Id="rId20"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182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91827"/>
          </a:solidFill>
          <a:ln w="12700">
            <a:solidFill>
              <a:srgbClr val="333333">
                <a:alpha val="0"/>
              </a:srgbClr>
            </a:solidFill>
            <a:prstDash val="solid"/>
          </a:ln>
        </p:spPr>
      </p:sp>
      <p:sp>
        <p:nvSpPr>
          <p:cNvPr id="3" name="Shape 1"/>
          <p:cNvSpPr/>
          <p:nvPr/>
        </p:nvSpPr>
        <p:spPr>
          <a:xfrm>
            <a:off x="0" y="0"/>
            <a:ext cx="201168" cy="6858000"/>
          </a:xfrm>
          <a:prstGeom prst="rect">
            <a:avLst/>
          </a:prstGeom>
          <a:solidFill>
            <a:srgbClr val="21C7EC"/>
          </a:solidFill>
          <a:ln w="12700">
            <a:solidFill>
              <a:srgbClr val="333333">
                <a:alpha val="0"/>
              </a:srgbClr>
            </a:solidFill>
            <a:prstDash val="solid"/>
          </a:ln>
        </p:spPr>
      </p:sp>
      <p:sp>
        <p:nvSpPr>
          <p:cNvPr id="4" name="Text 2"/>
          <p:cNvSpPr/>
          <p:nvPr/>
        </p:nvSpPr>
        <p:spPr>
          <a:xfrm>
            <a:off x="621792" y="548640"/>
            <a:ext cx="4114800" cy="256032"/>
          </a:xfrm>
          <a:prstGeom prst="rect">
            <a:avLst/>
          </a:prstGeom>
          <a:noFill/>
          <a:ln/>
        </p:spPr>
        <p:txBody>
          <a:bodyPr wrap="square" lIns="0" tIns="0" rIns="0" bIns="0" rtlCol="0" anchor="ctr"/>
          <a:lstStyle/>
          <a:p>
            <a:pPr indent="0" marL="0">
              <a:buNone/>
            </a:pPr>
            <a:r>
              <a:rPr lang="en-US" sz="1100" b="1" dirty="0">
                <a:solidFill>
                  <a:srgbClr val="21C7EC"/>
                </a:solidFill>
              </a:rPr>
              <a:t>CESE323 Instructor Deck</a:t>
            </a:r>
            <a:endParaRPr lang="en-US" sz="1100" dirty="0"/>
          </a:p>
        </p:txBody>
      </p:sp>
      <p:sp>
        <p:nvSpPr>
          <p:cNvPr id="5" name="Text 3"/>
          <p:cNvSpPr/>
          <p:nvPr/>
        </p:nvSpPr>
        <p:spPr>
          <a:xfrm>
            <a:off x="621792" y="1234440"/>
            <a:ext cx="9052560" cy="1234440"/>
          </a:xfrm>
          <a:prstGeom prst="rect">
            <a:avLst/>
          </a:prstGeom>
          <a:noFill/>
          <a:ln/>
        </p:spPr>
        <p:txBody>
          <a:bodyPr wrap="square" lIns="254" tIns="254" rIns="254" bIns="254" rtlCol="0" anchor="ctr">
            <a:normAutofit/>
          </a:bodyPr>
          <a:lstStyle/>
          <a:p>
            <a:pPr indent="0" marL="0">
              <a:buNone/>
            </a:pPr>
            <a:r>
              <a:rPr lang="en-US" sz="3500" b="1" dirty="0">
                <a:solidFill>
                  <a:srgbClr val="FFFFFF"/>
                </a:solidFill>
                <a:latin typeface="Aptos Display" pitchFamily="34" charset="0"/>
                <a:ea typeface="Aptos Display" pitchFamily="34" charset="-122"/>
                <a:cs typeface="Aptos Display" pitchFamily="34" charset="-120"/>
              </a:rPr>
              <a:t>Least Privilege RBAC</a:t>
            </a:r>
            <a:endParaRPr lang="en-US" sz="3500" dirty="0"/>
          </a:p>
          <a:p>
            <a:pPr indent="0" marL="0">
              <a:buNone/>
            </a:pPr>
            <a:r>
              <a:rPr lang="en-US" sz="3500" b="1" dirty="0">
                <a:solidFill>
                  <a:srgbClr val="FFFFFF"/>
                </a:solidFill>
                <a:latin typeface="Aptos Display" pitchFamily="34" charset="0"/>
                <a:ea typeface="Aptos Display" pitchFamily="34" charset="-122"/>
                <a:cs typeface="Aptos Display" pitchFamily="34" charset="-120"/>
              </a:rPr>
              <a:t>for CI/CD Pipeline Identities</a:t>
            </a:r>
            <a:endParaRPr lang="en-US" sz="3500" dirty="0"/>
          </a:p>
        </p:txBody>
      </p:sp>
      <p:sp>
        <p:nvSpPr>
          <p:cNvPr id="6" name="Text 4"/>
          <p:cNvSpPr/>
          <p:nvPr/>
        </p:nvSpPr>
        <p:spPr>
          <a:xfrm>
            <a:off x="658368" y="2788920"/>
            <a:ext cx="9966960" cy="292608"/>
          </a:xfrm>
          <a:prstGeom prst="rect">
            <a:avLst/>
          </a:prstGeom>
          <a:noFill/>
          <a:ln/>
        </p:spPr>
        <p:txBody>
          <a:bodyPr wrap="square" lIns="254" tIns="254" rIns="254" bIns="254" rtlCol="0" anchor="ctr">
            <a:normAutofit/>
          </a:bodyPr>
          <a:lstStyle/>
          <a:p>
            <a:pPr indent="0" marL="0">
              <a:buNone/>
            </a:pPr>
            <a:r>
              <a:rPr lang="en-US" sz="1500" dirty="0">
                <a:solidFill>
                  <a:srgbClr val="C8EAF7"/>
                </a:solidFill>
              </a:rPr>
              <a:t>Microsoft Entra | Azure RBAC | Enterprise Applications | Workload Identity Federation</a:t>
            </a:r>
            <a:endParaRPr lang="en-US" sz="1500" dirty="0"/>
          </a:p>
        </p:txBody>
      </p:sp>
      <p:sp>
        <p:nvSpPr>
          <p:cNvPr id="7" name="Shape 5"/>
          <p:cNvSpPr/>
          <p:nvPr/>
        </p:nvSpPr>
        <p:spPr>
          <a:xfrm>
            <a:off x="822960" y="3886200"/>
            <a:ext cx="3154680" cy="731520"/>
          </a:xfrm>
          <a:prstGeom prst="roundRect">
            <a:avLst>
              <a:gd name="adj" fmla="val 10000"/>
            </a:avLst>
          </a:prstGeom>
          <a:solidFill>
            <a:srgbClr val="D93025"/>
          </a:solidFill>
          <a:ln w="12700">
            <a:solidFill>
              <a:srgbClr val="D93025"/>
            </a:solidFill>
            <a:prstDash val="solid"/>
          </a:ln>
        </p:spPr>
      </p:sp>
      <p:sp>
        <p:nvSpPr>
          <p:cNvPr id="8" name="Text 6"/>
          <p:cNvSpPr/>
          <p:nvPr/>
        </p:nvSpPr>
        <p:spPr>
          <a:xfrm>
            <a:off x="987552" y="4114800"/>
            <a:ext cx="2834640" cy="182880"/>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rPr>
              <a:t>BAD: Owner @ subscription</a:t>
            </a:r>
            <a:endParaRPr lang="en-US" sz="1250" dirty="0"/>
          </a:p>
        </p:txBody>
      </p:sp>
      <p:sp>
        <p:nvSpPr>
          <p:cNvPr id="9" name="Shape 7"/>
          <p:cNvSpPr/>
          <p:nvPr/>
        </p:nvSpPr>
        <p:spPr>
          <a:xfrm>
            <a:off x="4480560" y="3886200"/>
            <a:ext cx="3154680" cy="731520"/>
          </a:xfrm>
          <a:prstGeom prst="roundRect">
            <a:avLst>
              <a:gd name="adj" fmla="val 10000"/>
            </a:avLst>
          </a:prstGeom>
          <a:solidFill>
            <a:srgbClr val="F6A623"/>
          </a:solidFill>
          <a:ln w="12700">
            <a:solidFill>
              <a:srgbClr val="F6A623"/>
            </a:solidFill>
            <a:prstDash val="solid"/>
          </a:ln>
        </p:spPr>
      </p:sp>
      <p:sp>
        <p:nvSpPr>
          <p:cNvPr id="10" name="Text 8"/>
          <p:cNvSpPr/>
          <p:nvPr/>
        </p:nvSpPr>
        <p:spPr>
          <a:xfrm>
            <a:off x="4645152" y="4114800"/>
            <a:ext cx="2834640" cy="182880"/>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rPr>
              <a:t>BETTER: Contributor @ resource group</a:t>
            </a:r>
            <a:endParaRPr lang="en-US" sz="1250" dirty="0"/>
          </a:p>
        </p:txBody>
      </p:sp>
      <p:sp>
        <p:nvSpPr>
          <p:cNvPr id="11" name="Shape 9"/>
          <p:cNvSpPr/>
          <p:nvPr/>
        </p:nvSpPr>
        <p:spPr>
          <a:xfrm>
            <a:off x="8138160" y="3886200"/>
            <a:ext cx="3154680" cy="731520"/>
          </a:xfrm>
          <a:prstGeom prst="roundRect">
            <a:avLst>
              <a:gd name="adj" fmla="val 10000"/>
            </a:avLst>
          </a:prstGeom>
          <a:solidFill>
            <a:srgbClr val="0F8A5F"/>
          </a:solidFill>
          <a:ln w="12700">
            <a:solidFill>
              <a:srgbClr val="0F8A5F"/>
            </a:solidFill>
            <a:prstDash val="solid"/>
          </a:ln>
        </p:spPr>
      </p:sp>
      <p:sp>
        <p:nvSpPr>
          <p:cNvPr id="12" name="Text 10"/>
          <p:cNvSpPr/>
          <p:nvPr/>
        </p:nvSpPr>
        <p:spPr>
          <a:xfrm>
            <a:off x="8302752" y="4114800"/>
            <a:ext cx="2834640" cy="182880"/>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rPr>
              <a:t>BEST: Custom role @ exact scope</a:t>
            </a:r>
            <a:endParaRPr lang="en-US" sz="1250" dirty="0"/>
          </a:p>
        </p:txBody>
      </p:sp>
      <p:sp>
        <p:nvSpPr>
          <p:cNvPr id="13" name="Text 11"/>
          <p:cNvSpPr/>
          <p:nvPr/>
        </p:nvSpPr>
        <p:spPr>
          <a:xfrm>
            <a:off x="640080" y="6263640"/>
            <a:ext cx="5943600" cy="228600"/>
          </a:xfrm>
          <a:prstGeom prst="rect">
            <a:avLst/>
          </a:prstGeom>
          <a:noFill/>
          <a:ln/>
        </p:spPr>
        <p:txBody>
          <a:bodyPr wrap="square" lIns="0" tIns="0" rIns="0" bIns="0" rtlCol="0" anchor="ctr"/>
          <a:lstStyle/>
          <a:p>
            <a:pPr indent="0" marL="0">
              <a:buNone/>
            </a:pPr>
            <a:r>
              <a:rPr lang="en-US" sz="900" dirty="0">
                <a:solidFill>
                  <a:srgbClr val="A8B8C8"/>
                </a:solidFill>
              </a:rPr>
              <a:t>Instructor notes included in PowerPoint speaker notes.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333333">
                <a:alpha val="0"/>
              </a:srgbClr>
            </a:solidFill>
            <a:prstDash val="solid"/>
          </a:ln>
        </p:spPr>
      </p:sp>
      <p:sp>
        <p:nvSpPr>
          <p:cNvPr id="3" name="Shape 1"/>
          <p:cNvSpPr/>
          <p:nvPr/>
        </p:nvSpPr>
        <p:spPr>
          <a:xfrm>
            <a:off x="0" y="0"/>
            <a:ext cx="155448" cy="6858000"/>
          </a:xfrm>
          <a:prstGeom prst="rect">
            <a:avLst/>
          </a:prstGeom>
          <a:solidFill>
            <a:srgbClr val="1A73E8"/>
          </a:solidFill>
          <a:ln w="12700">
            <a:solidFill>
              <a:srgbClr val="333333">
                <a:alpha val="0"/>
              </a:srgbClr>
            </a:solidFill>
            <a:prstDash val="solid"/>
          </a:ln>
        </p:spPr>
      </p:sp>
      <p:sp>
        <p:nvSpPr>
          <p:cNvPr id="4" name="Text 2"/>
          <p:cNvSpPr/>
          <p:nvPr/>
        </p:nvSpPr>
        <p:spPr>
          <a:xfrm>
            <a:off x="502920" y="228600"/>
            <a:ext cx="7498080" cy="228600"/>
          </a:xfrm>
          <a:prstGeom prst="rect">
            <a:avLst/>
          </a:prstGeom>
          <a:noFill/>
          <a:ln/>
        </p:spPr>
        <p:txBody>
          <a:bodyPr wrap="square" lIns="0" tIns="0" rIns="0" bIns="0" rtlCol="0" anchor="ctr">
            <a:normAutofit/>
          </a:bodyPr>
          <a:lstStyle/>
          <a:p>
            <a:pPr indent="0" marL="0">
              <a:buNone/>
            </a:pPr>
            <a:r>
              <a:rPr lang="en-US" sz="850" b="1" dirty="0">
                <a:solidFill>
                  <a:srgbClr val="1A73E8"/>
                </a:solidFill>
                <a:latin typeface="Aptos" pitchFamily="34" charset="0"/>
                <a:ea typeface="Aptos" pitchFamily="34" charset="-122"/>
                <a:cs typeface="Aptos" pitchFamily="34" charset="-120"/>
              </a:rPr>
              <a:t>Zero Trust identity principle</a:t>
            </a:r>
            <a:endParaRPr lang="en-US" sz="850" dirty="0"/>
          </a:p>
        </p:txBody>
      </p:sp>
      <p:sp>
        <p:nvSpPr>
          <p:cNvPr id="5" name="Text 3"/>
          <p:cNvSpPr/>
          <p:nvPr/>
        </p:nvSpPr>
        <p:spPr>
          <a:xfrm>
            <a:off x="502920" y="475488"/>
            <a:ext cx="9966960" cy="475488"/>
          </a:xfrm>
          <a:prstGeom prst="rect">
            <a:avLst/>
          </a:prstGeom>
          <a:noFill/>
          <a:ln/>
        </p:spPr>
        <p:txBody>
          <a:bodyPr wrap="square" lIns="254" tIns="254" rIns="254" bIns="254" rtlCol="0" anchor="ctr">
            <a:normAutofit/>
          </a:bodyPr>
          <a:lstStyle/>
          <a:p>
            <a:pPr indent="0" marL="0">
              <a:buNone/>
            </a:pPr>
            <a:r>
              <a:rPr lang="en-US" sz="2500" b="1" dirty="0">
                <a:solidFill>
                  <a:srgbClr val="101828"/>
                </a:solidFill>
                <a:latin typeface="Aptos Display" pitchFamily="34" charset="0"/>
                <a:ea typeface="Aptos Display" pitchFamily="34" charset="-122"/>
                <a:cs typeface="Aptos Display" pitchFamily="34" charset="-120"/>
              </a:rPr>
              <a:t>Core principle: exact permissions, exact scope</a:t>
            </a:r>
            <a:endParaRPr lang="en-US" sz="2500" dirty="0"/>
          </a:p>
        </p:txBody>
      </p:sp>
      <p:sp>
        <p:nvSpPr>
          <p:cNvPr id="6" name="Shape 4"/>
          <p:cNvSpPr/>
          <p:nvPr/>
        </p:nvSpPr>
        <p:spPr>
          <a:xfrm>
            <a:off x="502920" y="1078992"/>
            <a:ext cx="10927080" cy="0"/>
          </a:xfrm>
          <a:prstGeom prst="line">
            <a:avLst/>
          </a:prstGeom>
          <a:noFill/>
          <a:ln w="12700">
            <a:solidFill>
              <a:srgbClr val="D0D5DD"/>
            </a:solidFill>
            <a:prstDash val="solid"/>
          </a:ln>
        </p:spPr>
      </p:sp>
      <p:sp>
        <p:nvSpPr>
          <p:cNvPr id="7" name="Text 5"/>
          <p:cNvSpPr/>
          <p:nvPr/>
        </p:nvSpPr>
        <p:spPr>
          <a:xfrm>
            <a:off x="502920" y="6492240"/>
            <a:ext cx="4114800" cy="182880"/>
          </a:xfrm>
          <a:prstGeom prst="rect">
            <a:avLst/>
          </a:prstGeom>
          <a:noFill/>
          <a:ln/>
        </p:spPr>
        <p:txBody>
          <a:bodyPr wrap="square" lIns="0" tIns="0" rIns="0" bIns="0" rtlCol="0" anchor="ctr">
            <a:normAutofit/>
          </a:bodyPr>
          <a:lstStyle/>
          <a:p>
            <a:pPr indent="0" marL="0">
              <a:buNone/>
            </a:pPr>
            <a:r>
              <a:rPr lang="en-US" sz="750" dirty="0">
                <a:solidFill>
                  <a:srgbClr val="475467"/>
                </a:solidFill>
              </a:rPr>
              <a:t>CESE323 | Least Privilege RBAC</a:t>
            </a:r>
            <a:endParaRPr lang="en-US" sz="750" dirty="0"/>
          </a:p>
        </p:txBody>
      </p:sp>
      <p:sp>
        <p:nvSpPr>
          <p:cNvPr id="8" name="Text 6"/>
          <p:cNvSpPr/>
          <p:nvPr/>
        </p:nvSpPr>
        <p:spPr>
          <a:xfrm>
            <a:off x="11109960" y="6428232"/>
            <a:ext cx="502920" cy="274320"/>
          </a:xfrm>
          <a:prstGeom prst="rect">
            <a:avLst/>
          </a:prstGeom>
          <a:noFill/>
          <a:ln/>
        </p:spPr>
        <p:txBody>
          <a:bodyPr wrap="square" lIns="0" tIns="0" rIns="0" bIns="0" rtlCol="0" anchor="ctr"/>
          <a:lstStyle/>
          <a:p>
            <a:pPr algn="r" indent="0" marL="0">
              <a:buNone/>
            </a:pPr>
            <a:r>
              <a:rPr lang="en-US" sz="900" b="1" dirty="0">
                <a:solidFill>
                  <a:srgbClr val="1A73E8"/>
                </a:solidFill>
              </a:rPr>
              <a:t>02</a:t>
            </a:r>
            <a:endParaRPr lang="en-US" sz="900" dirty="0"/>
          </a:p>
        </p:txBody>
      </p:sp>
      <p:sp>
        <p:nvSpPr>
          <p:cNvPr id="9" name="Shape 7"/>
          <p:cNvSpPr/>
          <p:nvPr/>
        </p:nvSpPr>
        <p:spPr>
          <a:xfrm>
            <a:off x="868680" y="2011680"/>
            <a:ext cx="10424160" cy="2148840"/>
          </a:xfrm>
          <a:prstGeom prst="roundRect">
            <a:avLst/>
          </a:prstGeom>
          <a:solidFill>
            <a:srgbClr val="091827"/>
          </a:solidFill>
          <a:ln w="12700">
            <a:solidFill>
              <a:srgbClr val="091827"/>
            </a:solidFill>
            <a:prstDash val="solid"/>
          </a:ln>
        </p:spPr>
      </p:sp>
      <p:sp>
        <p:nvSpPr>
          <p:cNvPr id="10" name="Shape 8"/>
          <p:cNvSpPr/>
          <p:nvPr/>
        </p:nvSpPr>
        <p:spPr>
          <a:xfrm>
            <a:off x="1143000" y="2331720"/>
            <a:ext cx="0" cy="1463040"/>
          </a:xfrm>
          <a:prstGeom prst="line">
            <a:avLst/>
          </a:prstGeom>
          <a:noFill/>
          <a:ln w="63500">
            <a:solidFill>
              <a:srgbClr val="21C7EC"/>
            </a:solidFill>
            <a:prstDash val="solid"/>
          </a:ln>
        </p:spPr>
      </p:sp>
      <p:sp>
        <p:nvSpPr>
          <p:cNvPr id="11" name="Text 9"/>
          <p:cNvSpPr/>
          <p:nvPr/>
        </p:nvSpPr>
        <p:spPr>
          <a:xfrm>
            <a:off x="1417320" y="2286000"/>
            <a:ext cx="9326880" cy="914400"/>
          </a:xfrm>
          <a:prstGeom prst="rect">
            <a:avLst/>
          </a:prstGeom>
          <a:noFill/>
          <a:ln/>
        </p:spPr>
        <p:txBody>
          <a:bodyPr wrap="square" lIns="254" tIns="254" rIns="254" bIns="254" rtlCol="0" anchor="ctr">
            <a:normAutofit/>
          </a:bodyPr>
          <a:lstStyle/>
          <a:p>
            <a:pPr indent="0" marL="0">
              <a:buNone/>
            </a:pPr>
            <a:r>
              <a:rPr lang="en-US" sz="2400" b="1" dirty="0">
                <a:solidFill>
                  <a:srgbClr val="FFFFFF"/>
                </a:solidFill>
              </a:rPr>
              <a:t>“The pipeline identity should only have the exact permissions required for the deployment action.”</a:t>
            </a:r>
            <a:endParaRPr lang="en-US" sz="2400" dirty="0"/>
          </a:p>
        </p:txBody>
      </p:sp>
      <p:sp>
        <p:nvSpPr>
          <p:cNvPr id="12" name="Text 10"/>
          <p:cNvSpPr/>
          <p:nvPr/>
        </p:nvSpPr>
        <p:spPr>
          <a:xfrm>
            <a:off x="1444752" y="3429000"/>
            <a:ext cx="8778240" cy="320040"/>
          </a:xfrm>
          <a:prstGeom prst="rect">
            <a:avLst/>
          </a:prstGeom>
          <a:noFill/>
          <a:ln/>
        </p:spPr>
        <p:txBody>
          <a:bodyPr wrap="square" lIns="254" tIns="254" rIns="254" bIns="254" rtlCol="0" anchor="ctr">
            <a:normAutofit/>
          </a:bodyPr>
          <a:lstStyle/>
          <a:p>
            <a:pPr indent="0" marL="0">
              <a:buNone/>
            </a:pPr>
            <a:r>
              <a:rPr lang="en-US" sz="1300" dirty="0">
                <a:solidFill>
                  <a:srgbClr val="C8EAF7"/>
                </a:solidFill>
              </a:rPr>
              <a:t>Best-practice message for CI/CD, service principals, and managed identities</a:t>
            </a:r>
            <a:endParaRPr lang="en-US" sz="1300" dirty="0"/>
          </a:p>
        </p:txBody>
      </p:sp>
      <p:sp>
        <p:nvSpPr>
          <p:cNvPr id="13" name="Text 11"/>
          <p:cNvSpPr/>
          <p:nvPr/>
        </p:nvSpPr>
        <p:spPr>
          <a:xfrm>
            <a:off x="1005840" y="4617720"/>
            <a:ext cx="9875520" cy="594360"/>
          </a:xfrm>
          <a:prstGeom prst="rect">
            <a:avLst/>
          </a:prstGeom>
          <a:noFill/>
          <a:ln/>
        </p:spPr>
        <p:txBody>
          <a:bodyPr wrap="square" lIns="1016" tIns="1016" rIns="1016" bIns="1016" rtlCol="0" anchor="t">
            <a:normAutofit/>
          </a:bodyPr>
          <a:lstStyle/>
          <a:p>
            <a:pPr algn="ctr" indent="0" marL="0">
              <a:buNone/>
            </a:pPr>
            <a:r>
              <a:rPr lang="en-US" sz="1800" b="1" dirty="0">
                <a:solidFill>
                  <a:srgbClr val="101828"/>
                </a:solidFill>
                <a:latin typeface="Aptos" pitchFamily="34" charset="0"/>
                <a:ea typeface="Aptos" pitchFamily="34" charset="-122"/>
                <a:cs typeface="Aptos" pitchFamily="34" charset="-120"/>
              </a:rPr>
              <a:t>The target outcome is not “make deployment work.”</a:t>
            </a:r>
            <a:endParaRPr lang="en-US" sz="1800" dirty="0"/>
          </a:p>
          <a:p>
            <a:pPr algn="ctr" indent="0" marL="0">
              <a:buNone/>
            </a:pPr>
            <a:r>
              <a:rPr lang="en-US" sz="1800" b="1" dirty="0">
                <a:solidFill>
                  <a:srgbClr val="101828"/>
                </a:solidFill>
                <a:latin typeface="Aptos" pitchFamily="34" charset="0"/>
                <a:ea typeface="Aptos" pitchFamily="34" charset="-122"/>
                <a:cs typeface="Aptos" pitchFamily="34" charset="-120"/>
              </a:rPr>
              <a:t>The target outcome is “make deployment work without unnecessary privilege.”</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333333">
                <a:alpha val="0"/>
              </a:srgbClr>
            </a:solidFill>
            <a:prstDash val="solid"/>
          </a:ln>
        </p:spPr>
      </p:sp>
      <p:sp>
        <p:nvSpPr>
          <p:cNvPr id="3" name="Shape 1"/>
          <p:cNvSpPr/>
          <p:nvPr/>
        </p:nvSpPr>
        <p:spPr>
          <a:xfrm>
            <a:off x="0" y="0"/>
            <a:ext cx="155448" cy="6858000"/>
          </a:xfrm>
          <a:prstGeom prst="rect">
            <a:avLst/>
          </a:prstGeom>
          <a:solidFill>
            <a:srgbClr val="1A73E8"/>
          </a:solidFill>
          <a:ln w="12700">
            <a:solidFill>
              <a:srgbClr val="333333">
                <a:alpha val="0"/>
              </a:srgbClr>
            </a:solidFill>
            <a:prstDash val="solid"/>
          </a:ln>
        </p:spPr>
      </p:sp>
      <p:sp>
        <p:nvSpPr>
          <p:cNvPr id="4" name="Text 2"/>
          <p:cNvSpPr/>
          <p:nvPr/>
        </p:nvSpPr>
        <p:spPr>
          <a:xfrm>
            <a:off x="502920" y="228600"/>
            <a:ext cx="7498080" cy="228600"/>
          </a:xfrm>
          <a:prstGeom prst="rect">
            <a:avLst/>
          </a:prstGeom>
          <a:noFill/>
          <a:ln/>
        </p:spPr>
        <p:txBody>
          <a:bodyPr wrap="square" lIns="0" tIns="0" rIns="0" bIns="0" rtlCol="0" anchor="ctr">
            <a:normAutofit/>
          </a:bodyPr>
          <a:lstStyle/>
          <a:p>
            <a:pPr indent="0" marL="0">
              <a:buNone/>
            </a:pPr>
            <a:r>
              <a:rPr lang="en-US" sz="850" b="1" dirty="0">
                <a:solidFill>
                  <a:srgbClr val="1A73E8"/>
                </a:solidFill>
                <a:latin typeface="Aptos" pitchFamily="34" charset="0"/>
                <a:ea typeface="Aptos" pitchFamily="34" charset="-122"/>
                <a:cs typeface="Aptos" pitchFamily="34" charset="-120"/>
              </a:rPr>
              <a:t>Core architecture model</a:t>
            </a:r>
            <a:endParaRPr lang="en-US" sz="850" dirty="0"/>
          </a:p>
        </p:txBody>
      </p:sp>
      <p:sp>
        <p:nvSpPr>
          <p:cNvPr id="5" name="Text 3"/>
          <p:cNvSpPr/>
          <p:nvPr/>
        </p:nvSpPr>
        <p:spPr>
          <a:xfrm>
            <a:off x="502920" y="475488"/>
            <a:ext cx="9966960" cy="475488"/>
          </a:xfrm>
          <a:prstGeom prst="rect">
            <a:avLst/>
          </a:prstGeom>
          <a:noFill/>
          <a:ln/>
        </p:spPr>
        <p:txBody>
          <a:bodyPr wrap="square" lIns="254" tIns="254" rIns="254" bIns="254" rtlCol="0" anchor="ctr">
            <a:normAutofit/>
          </a:bodyPr>
          <a:lstStyle/>
          <a:p>
            <a:pPr indent="0" marL="0">
              <a:buNone/>
            </a:pPr>
            <a:r>
              <a:rPr lang="en-US" sz="2500" b="1" dirty="0">
                <a:solidFill>
                  <a:srgbClr val="101828"/>
                </a:solidFill>
                <a:latin typeface="Aptos Display" pitchFamily="34" charset="0"/>
                <a:ea typeface="Aptos Display" pitchFamily="34" charset="-122"/>
                <a:cs typeface="Aptos Display" pitchFamily="34" charset="-120"/>
              </a:rPr>
              <a:t>Azure RBAC model: four parts of every assignment</a:t>
            </a:r>
            <a:endParaRPr lang="en-US" sz="2500" dirty="0"/>
          </a:p>
        </p:txBody>
      </p:sp>
      <p:sp>
        <p:nvSpPr>
          <p:cNvPr id="6" name="Shape 4"/>
          <p:cNvSpPr/>
          <p:nvPr/>
        </p:nvSpPr>
        <p:spPr>
          <a:xfrm>
            <a:off x="502920" y="1078992"/>
            <a:ext cx="10927080" cy="0"/>
          </a:xfrm>
          <a:prstGeom prst="line">
            <a:avLst/>
          </a:prstGeom>
          <a:noFill/>
          <a:ln w="12700">
            <a:solidFill>
              <a:srgbClr val="D0D5DD"/>
            </a:solidFill>
            <a:prstDash val="solid"/>
          </a:ln>
        </p:spPr>
      </p:sp>
      <p:sp>
        <p:nvSpPr>
          <p:cNvPr id="7" name="Text 5"/>
          <p:cNvSpPr/>
          <p:nvPr/>
        </p:nvSpPr>
        <p:spPr>
          <a:xfrm>
            <a:off x="502920" y="6492240"/>
            <a:ext cx="4114800" cy="182880"/>
          </a:xfrm>
          <a:prstGeom prst="rect">
            <a:avLst/>
          </a:prstGeom>
          <a:noFill/>
          <a:ln/>
        </p:spPr>
        <p:txBody>
          <a:bodyPr wrap="square" lIns="0" tIns="0" rIns="0" bIns="0" rtlCol="0" anchor="ctr">
            <a:normAutofit/>
          </a:bodyPr>
          <a:lstStyle/>
          <a:p>
            <a:pPr indent="0" marL="0">
              <a:buNone/>
            </a:pPr>
            <a:r>
              <a:rPr lang="en-US" sz="750" dirty="0">
                <a:solidFill>
                  <a:srgbClr val="475467"/>
                </a:solidFill>
              </a:rPr>
              <a:t>CESE323 | Least Privilege RBAC</a:t>
            </a:r>
            <a:endParaRPr lang="en-US" sz="750" dirty="0"/>
          </a:p>
        </p:txBody>
      </p:sp>
      <p:sp>
        <p:nvSpPr>
          <p:cNvPr id="8" name="Text 6"/>
          <p:cNvSpPr/>
          <p:nvPr/>
        </p:nvSpPr>
        <p:spPr>
          <a:xfrm>
            <a:off x="11109960" y="6428232"/>
            <a:ext cx="502920" cy="274320"/>
          </a:xfrm>
          <a:prstGeom prst="rect">
            <a:avLst/>
          </a:prstGeom>
          <a:noFill/>
          <a:ln/>
        </p:spPr>
        <p:txBody>
          <a:bodyPr wrap="square" lIns="0" tIns="0" rIns="0" bIns="0" rtlCol="0" anchor="ctr"/>
          <a:lstStyle/>
          <a:p>
            <a:pPr algn="r" indent="0" marL="0">
              <a:buNone/>
            </a:pPr>
            <a:r>
              <a:rPr lang="en-US" sz="900" b="1" dirty="0">
                <a:solidFill>
                  <a:srgbClr val="1A73E8"/>
                </a:solidFill>
              </a:rPr>
              <a:t>03</a:t>
            </a:r>
            <a:endParaRPr lang="en-US" sz="900" dirty="0"/>
          </a:p>
        </p:txBody>
      </p:sp>
      <p:sp>
        <p:nvSpPr>
          <p:cNvPr id="9" name="Shape 7"/>
          <p:cNvSpPr/>
          <p:nvPr/>
        </p:nvSpPr>
        <p:spPr>
          <a:xfrm>
            <a:off x="3127248" y="2944368"/>
            <a:ext cx="566928" cy="0"/>
          </a:xfrm>
          <a:prstGeom prst="line">
            <a:avLst/>
          </a:prstGeom>
          <a:noFill/>
          <a:ln w="27940">
            <a:solidFill>
              <a:srgbClr val="21C7EC"/>
            </a:solidFill>
            <a:prstDash val="solid"/>
            <a:headEnd type="none"/>
            <a:tailEnd type="triangle"/>
          </a:ln>
        </p:spPr>
      </p:sp>
      <p:sp>
        <p:nvSpPr>
          <p:cNvPr id="10" name="Shape 8"/>
          <p:cNvSpPr/>
          <p:nvPr/>
        </p:nvSpPr>
        <p:spPr>
          <a:xfrm>
            <a:off x="5961888" y="2944368"/>
            <a:ext cx="566928" cy="0"/>
          </a:xfrm>
          <a:prstGeom prst="line">
            <a:avLst/>
          </a:prstGeom>
          <a:noFill/>
          <a:ln w="27940">
            <a:solidFill>
              <a:srgbClr val="21C7EC"/>
            </a:solidFill>
            <a:prstDash val="solid"/>
            <a:headEnd type="none"/>
            <a:tailEnd type="triangle"/>
          </a:ln>
        </p:spPr>
      </p:sp>
      <p:sp>
        <p:nvSpPr>
          <p:cNvPr id="11" name="Shape 9"/>
          <p:cNvSpPr/>
          <p:nvPr/>
        </p:nvSpPr>
        <p:spPr>
          <a:xfrm>
            <a:off x="8796528" y="2944368"/>
            <a:ext cx="566928" cy="0"/>
          </a:xfrm>
          <a:prstGeom prst="line">
            <a:avLst/>
          </a:prstGeom>
          <a:noFill/>
          <a:ln w="27940">
            <a:solidFill>
              <a:srgbClr val="21C7EC"/>
            </a:solidFill>
            <a:prstDash val="solid"/>
            <a:headEnd type="none"/>
            <a:tailEnd type="triangle"/>
          </a:ln>
        </p:spPr>
      </p:sp>
      <p:sp>
        <p:nvSpPr>
          <p:cNvPr id="12" name="Shape 10"/>
          <p:cNvSpPr/>
          <p:nvPr/>
        </p:nvSpPr>
        <p:spPr>
          <a:xfrm>
            <a:off x="685800" y="2057400"/>
            <a:ext cx="2331720" cy="1783080"/>
          </a:xfrm>
          <a:prstGeom prst="roundRect">
            <a:avLst>
              <a:gd name="adj" fmla="val 3077"/>
            </a:avLst>
          </a:prstGeom>
          <a:solidFill>
            <a:srgbClr val="FFFFFF"/>
          </a:solidFill>
          <a:ln w="12700">
            <a:solidFill>
              <a:srgbClr val="D0D5DD"/>
            </a:solidFill>
            <a:prstDash val="solid"/>
          </a:ln>
        </p:spPr>
      </p:sp>
      <p:sp>
        <p:nvSpPr>
          <p:cNvPr id="13" name="Shape 11"/>
          <p:cNvSpPr/>
          <p:nvPr/>
        </p:nvSpPr>
        <p:spPr>
          <a:xfrm>
            <a:off x="850392" y="2267712"/>
            <a:ext cx="1993392" cy="365760"/>
          </a:xfrm>
          <a:prstGeom prst="roundRect">
            <a:avLst/>
          </a:prstGeom>
          <a:solidFill>
            <a:srgbClr val="6941C6"/>
          </a:solidFill>
          <a:ln w="12700">
            <a:solidFill>
              <a:srgbClr val="6941C6">
                <a:alpha val="0"/>
              </a:srgbClr>
            </a:solidFill>
            <a:prstDash val="solid"/>
          </a:ln>
        </p:spPr>
      </p:sp>
      <p:sp>
        <p:nvSpPr>
          <p:cNvPr id="14" name="Text 12"/>
          <p:cNvSpPr/>
          <p:nvPr/>
        </p:nvSpPr>
        <p:spPr>
          <a:xfrm>
            <a:off x="960120" y="2377440"/>
            <a:ext cx="1773936" cy="146304"/>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Security principal</a:t>
            </a:r>
            <a:endParaRPr lang="en-US" sz="950" dirty="0"/>
          </a:p>
        </p:txBody>
      </p:sp>
      <p:sp>
        <p:nvSpPr>
          <p:cNvPr id="15" name="Text 13"/>
          <p:cNvSpPr/>
          <p:nvPr/>
        </p:nvSpPr>
        <p:spPr>
          <a:xfrm>
            <a:off x="886968" y="2788920"/>
            <a:ext cx="1920240" cy="621792"/>
          </a:xfrm>
          <a:prstGeom prst="rect">
            <a:avLst/>
          </a:prstGeom>
          <a:noFill/>
          <a:ln/>
        </p:spPr>
        <p:txBody>
          <a:bodyPr wrap="square" lIns="1016" tIns="1016" rIns="1016" bIns="1016" rtlCol="0" anchor="t">
            <a:normAutofit/>
          </a:bodyPr>
          <a:lstStyle/>
          <a:p>
            <a:pPr algn="ctr" indent="0" marL="0">
              <a:buNone/>
            </a:pPr>
            <a:r>
              <a:rPr lang="en-US" sz="1120" dirty="0">
                <a:solidFill>
                  <a:srgbClr val="475467"/>
                </a:solidFill>
                <a:latin typeface="Aptos" pitchFamily="34" charset="0"/>
                <a:ea typeface="Aptos" pitchFamily="34" charset="-122"/>
                <a:cs typeface="Aptos" pitchFamily="34" charset="-120"/>
              </a:rPr>
              <a:t>User, group, service principal, or managed identity</a:t>
            </a:r>
            <a:endParaRPr lang="en-US" sz="1120" dirty="0"/>
          </a:p>
        </p:txBody>
      </p:sp>
      <p:sp>
        <p:nvSpPr>
          <p:cNvPr id="16" name="Shape 14"/>
          <p:cNvSpPr/>
          <p:nvPr/>
        </p:nvSpPr>
        <p:spPr>
          <a:xfrm>
            <a:off x="3520440" y="2057400"/>
            <a:ext cx="2331720" cy="1783080"/>
          </a:xfrm>
          <a:prstGeom prst="roundRect">
            <a:avLst>
              <a:gd name="adj" fmla="val 3077"/>
            </a:avLst>
          </a:prstGeom>
          <a:solidFill>
            <a:srgbClr val="FFFFFF"/>
          </a:solidFill>
          <a:ln w="12700">
            <a:solidFill>
              <a:srgbClr val="D0D5DD"/>
            </a:solidFill>
            <a:prstDash val="solid"/>
          </a:ln>
        </p:spPr>
      </p:sp>
      <p:sp>
        <p:nvSpPr>
          <p:cNvPr id="17" name="Shape 15"/>
          <p:cNvSpPr/>
          <p:nvPr/>
        </p:nvSpPr>
        <p:spPr>
          <a:xfrm>
            <a:off x="3685032" y="2267712"/>
            <a:ext cx="1993392" cy="365760"/>
          </a:xfrm>
          <a:prstGeom prst="roundRect">
            <a:avLst/>
          </a:prstGeom>
          <a:solidFill>
            <a:srgbClr val="1A73E8"/>
          </a:solidFill>
          <a:ln w="12700">
            <a:solidFill>
              <a:srgbClr val="1A73E8">
                <a:alpha val="0"/>
              </a:srgbClr>
            </a:solidFill>
            <a:prstDash val="solid"/>
          </a:ln>
        </p:spPr>
      </p:sp>
      <p:sp>
        <p:nvSpPr>
          <p:cNvPr id="18" name="Text 16"/>
          <p:cNvSpPr/>
          <p:nvPr/>
        </p:nvSpPr>
        <p:spPr>
          <a:xfrm>
            <a:off x="3794760" y="2377440"/>
            <a:ext cx="1773936" cy="146304"/>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Role definition</a:t>
            </a:r>
            <a:endParaRPr lang="en-US" sz="950" dirty="0"/>
          </a:p>
        </p:txBody>
      </p:sp>
      <p:sp>
        <p:nvSpPr>
          <p:cNvPr id="19" name="Text 17"/>
          <p:cNvSpPr/>
          <p:nvPr/>
        </p:nvSpPr>
        <p:spPr>
          <a:xfrm>
            <a:off x="3721608" y="2788920"/>
            <a:ext cx="1920240" cy="621792"/>
          </a:xfrm>
          <a:prstGeom prst="rect">
            <a:avLst/>
          </a:prstGeom>
          <a:noFill/>
          <a:ln/>
        </p:spPr>
        <p:txBody>
          <a:bodyPr wrap="square" lIns="1016" tIns="1016" rIns="1016" bIns="1016" rtlCol="0" anchor="t">
            <a:normAutofit/>
          </a:bodyPr>
          <a:lstStyle/>
          <a:p>
            <a:pPr algn="ctr" indent="0" marL="0">
              <a:buNone/>
            </a:pPr>
            <a:r>
              <a:rPr lang="en-US" sz="1120" dirty="0">
                <a:solidFill>
                  <a:srgbClr val="475467"/>
                </a:solidFill>
                <a:latin typeface="Aptos" pitchFamily="34" charset="0"/>
                <a:ea typeface="Aptos" pitchFamily="34" charset="-122"/>
                <a:cs typeface="Aptos" pitchFamily="34" charset="-120"/>
              </a:rPr>
              <a:t>Reader, Contributor, built-in role, or custom role</a:t>
            </a:r>
            <a:endParaRPr lang="en-US" sz="1120" dirty="0"/>
          </a:p>
        </p:txBody>
      </p:sp>
      <p:sp>
        <p:nvSpPr>
          <p:cNvPr id="20" name="Shape 18"/>
          <p:cNvSpPr/>
          <p:nvPr/>
        </p:nvSpPr>
        <p:spPr>
          <a:xfrm>
            <a:off x="6355080" y="2057400"/>
            <a:ext cx="2331720" cy="1783080"/>
          </a:xfrm>
          <a:prstGeom prst="roundRect">
            <a:avLst>
              <a:gd name="adj" fmla="val 3077"/>
            </a:avLst>
          </a:prstGeom>
          <a:solidFill>
            <a:srgbClr val="FFFFFF"/>
          </a:solidFill>
          <a:ln w="12700">
            <a:solidFill>
              <a:srgbClr val="D0D5DD"/>
            </a:solidFill>
            <a:prstDash val="solid"/>
          </a:ln>
        </p:spPr>
      </p:sp>
      <p:sp>
        <p:nvSpPr>
          <p:cNvPr id="21" name="Shape 19"/>
          <p:cNvSpPr/>
          <p:nvPr/>
        </p:nvSpPr>
        <p:spPr>
          <a:xfrm>
            <a:off x="6519672" y="2267712"/>
            <a:ext cx="1993392" cy="365760"/>
          </a:xfrm>
          <a:prstGeom prst="roundRect">
            <a:avLst/>
          </a:prstGeom>
          <a:solidFill>
            <a:srgbClr val="F6A623"/>
          </a:solidFill>
          <a:ln w="12700">
            <a:solidFill>
              <a:srgbClr val="F6A623">
                <a:alpha val="0"/>
              </a:srgbClr>
            </a:solidFill>
            <a:prstDash val="solid"/>
          </a:ln>
        </p:spPr>
      </p:sp>
      <p:sp>
        <p:nvSpPr>
          <p:cNvPr id="22" name="Text 20"/>
          <p:cNvSpPr/>
          <p:nvPr/>
        </p:nvSpPr>
        <p:spPr>
          <a:xfrm>
            <a:off x="6629400" y="2377440"/>
            <a:ext cx="1773936" cy="146304"/>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Scope</a:t>
            </a:r>
            <a:endParaRPr lang="en-US" sz="950" dirty="0"/>
          </a:p>
        </p:txBody>
      </p:sp>
      <p:sp>
        <p:nvSpPr>
          <p:cNvPr id="23" name="Text 21"/>
          <p:cNvSpPr/>
          <p:nvPr/>
        </p:nvSpPr>
        <p:spPr>
          <a:xfrm>
            <a:off x="6556248" y="2788920"/>
            <a:ext cx="1920240" cy="621792"/>
          </a:xfrm>
          <a:prstGeom prst="rect">
            <a:avLst/>
          </a:prstGeom>
          <a:noFill/>
          <a:ln/>
        </p:spPr>
        <p:txBody>
          <a:bodyPr wrap="square" lIns="1016" tIns="1016" rIns="1016" bIns="1016" rtlCol="0" anchor="t">
            <a:normAutofit/>
          </a:bodyPr>
          <a:lstStyle/>
          <a:p>
            <a:pPr algn="ctr" indent="0" marL="0">
              <a:buNone/>
            </a:pPr>
            <a:r>
              <a:rPr lang="en-US" sz="1120" dirty="0">
                <a:solidFill>
                  <a:srgbClr val="475467"/>
                </a:solidFill>
                <a:latin typeface="Aptos" pitchFamily="34" charset="0"/>
                <a:ea typeface="Aptos" pitchFamily="34" charset="-122"/>
                <a:cs typeface="Aptos" pitchFamily="34" charset="-120"/>
              </a:rPr>
              <a:t>Management group, subscription, resource group, or resource</a:t>
            </a:r>
            <a:endParaRPr lang="en-US" sz="1120" dirty="0"/>
          </a:p>
        </p:txBody>
      </p:sp>
      <p:sp>
        <p:nvSpPr>
          <p:cNvPr id="24" name="Shape 22"/>
          <p:cNvSpPr/>
          <p:nvPr/>
        </p:nvSpPr>
        <p:spPr>
          <a:xfrm>
            <a:off x="9189720" y="2057400"/>
            <a:ext cx="2331720" cy="1783080"/>
          </a:xfrm>
          <a:prstGeom prst="roundRect">
            <a:avLst>
              <a:gd name="adj" fmla="val 3077"/>
            </a:avLst>
          </a:prstGeom>
          <a:solidFill>
            <a:srgbClr val="FFFFFF"/>
          </a:solidFill>
          <a:ln w="12700">
            <a:solidFill>
              <a:srgbClr val="D0D5DD"/>
            </a:solidFill>
            <a:prstDash val="solid"/>
          </a:ln>
        </p:spPr>
      </p:sp>
      <p:sp>
        <p:nvSpPr>
          <p:cNvPr id="25" name="Shape 23"/>
          <p:cNvSpPr/>
          <p:nvPr/>
        </p:nvSpPr>
        <p:spPr>
          <a:xfrm>
            <a:off x="9354312" y="2267712"/>
            <a:ext cx="1993392" cy="365760"/>
          </a:xfrm>
          <a:prstGeom prst="roundRect">
            <a:avLst/>
          </a:prstGeom>
          <a:solidFill>
            <a:srgbClr val="0F8A5F"/>
          </a:solidFill>
          <a:ln w="12700">
            <a:solidFill>
              <a:srgbClr val="0F8A5F">
                <a:alpha val="0"/>
              </a:srgbClr>
            </a:solidFill>
            <a:prstDash val="solid"/>
          </a:ln>
        </p:spPr>
      </p:sp>
      <p:sp>
        <p:nvSpPr>
          <p:cNvPr id="26" name="Text 24"/>
          <p:cNvSpPr/>
          <p:nvPr/>
        </p:nvSpPr>
        <p:spPr>
          <a:xfrm>
            <a:off x="9464040" y="2377440"/>
            <a:ext cx="1773936" cy="146304"/>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Role assignment</a:t>
            </a:r>
            <a:endParaRPr lang="en-US" sz="950" dirty="0"/>
          </a:p>
        </p:txBody>
      </p:sp>
      <p:sp>
        <p:nvSpPr>
          <p:cNvPr id="27" name="Text 25"/>
          <p:cNvSpPr/>
          <p:nvPr/>
        </p:nvSpPr>
        <p:spPr>
          <a:xfrm>
            <a:off x="9390888" y="2788920"/>
            <a:ext cx="1920240" cy="621792"/>
          </a:xfrm>
          <a:prstGeom prst="rect">
            <a:avLst/>
          </a:prstGeom>
          <a:noFill/>
          <a:ln/>
        </p:spPr>
        <p:txBody>
          <a:bodyPr wrap="square" lIns="1016" tIns="1016" rIns="1016" bIns="1016" rtlCol="0" anchor="t">
            <a:normAutofit/>
          </a:bodyPr>
          <a:lstStyle/>
          <a:p>
            <a:pPr algn="ctr" indent="0" marL="0">
              <a:buNone/>
            </a:pPr>
            <a:r>
              <a:rPr lang="en-US" sz="1120" dirty="0">
                <a:solidFill>
                  <a:srgbClr val="475467"/>
                </a:solidFill>
                <a:latin typeface="Aptos" pitchFamily="34" charset="0"/>
                <a:ea typeface="Aptos" pitchFamily="34" charset="-122"/>
                <a:cs typeface="Aptos" pitchFamily="34" charset="-120"/>
              </a:rPr>
              <a:t>Binding of identity + role + scope</a:t>
            </a:r>
            <a:endParaRPr lang="en-US" sz="1120" dirty="0"/>
          </a:p>
        </p:txBody>
      </p:sp>
      <p:sp>
        <p:nvSpPr>
          <p:cNvPr id="28" name="Text 26"/>
          <p:cNvSpPr/>
          <p:nvPr/>
        </p:nvSpPr>
        <p:spPr>
          <a:xfrm>
            <a:off x="960120" y="4754880"/>
            <a:ext cx="10241280" cy="457200"/>
          </a:xfrm>
          <a:prstGeom prst="rect">
            <a:avLst/>
          </a:prstGeom>
          <a:noFill/>
          <a:ln/>
        </p:spPr>
        <p:txBody>
          <a:bodyPr wrap="square" lIns="1016" tIns="1016" rIns="1016" bIns="1016" rtlCol="0" anchor="t">
            <a:normAutofit/>
          </a:bodyPr>
          <a:lstStyle/>
          <a:p>
            <a:pPr algn="ctr" indent="0" marL="0">
              <a:buNone/>
            </a:pPr>
            <a:r>
              <a:rPr lang="en-US" sz="1800" b="1" dirty="0">
                <a:solidFill>
                  <a:srgbClr val="101828"/>
                </a:solidFill>
                <a:latin typeface="Aptos" pitchFamily="34" charset="0"/>
                <a:ea typeface="Aptos" pitchFamily="34" charset="-122"/>
                <a:cs typeface="Aptos" pitchFamily="34" charset="-120"/>
              </a:rPr>
              <a:t>Instructor emphasis: RBAC is not “which role?” only. It is identity + role + scope + assignment lifecycle.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333333">
                <a:alpha val="0"/>
              </a:srgbClr>
            </a:solidFill>
            <a:prstDash val="solid"/>
          </a:ln>
        </p:spPr>
      </p:sp>
      <p:sp>
        <p:nvSpPr>
          <p:cNvPr id="3" name="Shape 1"/>
          <p:cNvSpPr/>
          <p:nvPr/>
        </p:nvSpPr>
        <p:spPr>
          <a:xfrm>
            <a:off x="0" y="0"/>
            <a:ext cx="155448" cy="6858000"/>
          </a:xfrm>
          <a:prstGeom prst="rect">
            <a:avLst/>
          </a:prstGeom>
          <a:solidFill>
            <a:srgbClr val="1A73E8"/>
          </a:solidFill>
          <a:ln w="12700">
            <a:solidFill>
              <a:srgbClr val="333333">
                <a:alpha val="0"/>
              </a:srgbClr>
            </a:solidFill>
            <a:prstDash val="solid"/>
          </a:ln>
        </p:spPr>
      </p:sp>
      <p:sp>
        <p:nvSpPr>
          <p:cNvPr id="4" name="Text 2"/>
          <p:cNvSpPr/>
          <p:nvPr/>
        </p:nvSpPr>
        <p:spPr>
          <a:xfrm>
            <a:off x="502920" y="228600"/>
            <a:ext cx="7498080" cy="228600"/>
          </a:xfrm>
          <a:prstGeom prst="rect">
            <a:avLst/>
          </a:prstGeom>
          <a:noFill/>
          <a:ln/>
        </p:spPr>
        <p:txBody>
          <a:bodyPr wrap="square" lIns="0" tIns="0" rIns="0" bIns="0" rtlCol="0" anchor="ctr">
            <a:normAutofit/>
          </a:bodyPr>
          <a:lstStyle/>
          <a:p>
            <a:pPr indent="0" marL="0">
              <a:buNone/>
            </a:pPr>
            <a:r>
              <a:rPr lang="en-US" sz="850" b="1" dirty="0">
                <a:solidFill>
                  <a:srgbClr val="1A73E8"/>
                </a:solidFill>
                <a:latin typeface="Aptos" pitchFamily="34" charset="0"/>
                <a:ea typeface="Aptos" pitchFamily="34" charset="-122"/>
                <a:cs typeface="Aptos" pitchFamily="34" charset="-120"/>
              </a:rPr>
              <a:t>Anti-pattern</a:t>
            </a:r>
            <a:endParaRPr lang="en-US" sz="850" dirty="0"/>
          </a:p>
        </p:txBody>
      </p:sp>
      <p:sp>
        <p:nvSpPr>
          <p:cNvPr id="5" name="Text 3"/>
          <p:cNvSpPr/>
          <p:nvPr/>
        </p:nvSpPr>
        <p:spPr>
          <a:xfrm>
            <a:off x="502920" y="475488"/>
            <a:ext cx="9966960" cy="475488"/>
          </a:xfrm>
          <a:prstGeom prst="rect">
            <a:avLst/>
          </a:prstGeom>
          <a:noFill/>
          <a:ln/>
        </p:spPr>
        <p:txBody>
          <a:bodyPr wrap="square" lIns="254" tIns="254" rIns="254" bIns="254" rtlCol="0" anchor="ctr">
            <a:normAutofit/>
          </a:bodyPr>
          <a:lstStyle/>
          <a:p>
            <a:pPr indent="0" marL="0">
              <a:buNone/>
            </a:pPr>
            <a:r>
              <a:rPr lang="en-US" sz="2500" b="1" dirty="0">
                <a:solidFill>
                  <a:srgbClr val="101828"/>
                </a:solidFill>
                <a:latin typeface="Aptos Display" pitchFamily="34" charset="0"/>
                <a:ea typeface="Aptos Display" pitchFamily="34" charset="-122"/>
                <a:cs typeface="Aptos Display" pitchFamily="34" charset="-120"/>
              </a:rPr>
              <a:t>BAD: Owner at subscription level</a:t>
            </a:r>
            <a:endParaRPr lang="en-US" sz="2500" dirty="0"/>
          </a:p>
        </p:txBody>
      </p:sp>
      <p:sp>
        <p:nvSpPr>
          <p:cNvPr id="6" name="Shape 4"/>
          <p:cNvSpPr/>
          <p:nvPr/>
        </p:nvSpPr>
        <p:spPr>
          <a:xfrm>
            <a:off x="502920" y="1078992"/>
            <a:ext cx="10927080" cy="0"/>
          </a:xfrm>
          <a:prstGeom prst="line">
            <a:avLst/>
          </a:prstGeom>
          <a:noFill/>
          <a:ln w="12700">
            <a:solidFill>
              <a:srgbClr val="D0D5DD"/>
            </a:solidFill>
            <a:prstDash val="solid"/>
          </a:ln>
        </p:spPr>
      </p:sp>
      <p:sp>
        <p:nvSpPr>
          <p:cNvPr id="7" name="Text 5"/>
          <p:cNvSpPr/>
          <p:nvPr/>
        </p:nvSpPr>
        <p:spPr>
          <a:xfrm>
            <a:off x="502920" y="6492240"/>
            <a:ext cx="4114800" cy="182880"/>
          </a:xfrm>
          <a:prstGeom prst="rect">
            <a:avLst/>
          </a:prstGeom>
          <a:noFill/>
          <a:ln/>
        </p:spPr>
        <p:txBody>
          <a:bodyPr wrap="square" lIns="0" tIns="0" rIns="0" bIns="0" rtlCol="0" anchor="ctr">
            <a:normAutofit/>
          </a:bodyPr>
          <a:lstStyle/>
          <a:p>
            <a:pPr indent="0" marL="0">
              <a:buNone/>
            </a:pPr>
            <a:r>
              <a:rPr lang="en-US" sz="750" dirty="0">
                <a:solidFill>
                  <a:srgbClr val="475467"/>
                </a:solidFill>
              </a:rPr>
              <a:t>CESE323 | Least Privilege RBAC</a:t>
            </a:r>
            <a:endParaRPr lang="en-US" sz="750" dirty="0"/>
          </a:p>
        </p:txBody>
      </p:sp>
      <p:sp>
        <p:nvSpPr>
          <p:cNvPr id="8" name="Text 6"/>
          <p:cNvSpPr/>
          <p:nvPr/>
        </p:nvSpPr>
        <p:spPr>
          <a:xfrm>
            <a:off x="11109960" y="6428232"/>
            <a:ext cx="502920" cy="274320"/>
          </a:xfrm>
          <a:prstGeom prst="rect">
            <a:avLst/>
          </a:prstGeom>
          <a:noFill/>
          <a:ln/>
        </p:spPr>
        <p:txBody>
          <a:bodyPr wrap="square" lIns="0" tIns="0" rIns="0" bIns="0" rtlCol="0" anchor="ctr"/>
          <a:lstStyle/>
          <a:p>
            <a:pPr algn="r" indent="0" marL="0">
              <a:buNone/>
            </a:pPr>
            <a:r>
              <a:rPr lang="en-US" sz="900" b="1" dirty="0">
                <a:solidFill>
                  <a:srgbClr val="1A73E8"/>
                </a:solidFill>
              </a:rPr>
              <a:t>04</a:t>
            </a:r>
            <a:endParaRPr lang="en-US" sz="900" dirty="0"/>
          </a:p>
        </p:txBody>
      </p:sp>
      <p:sp>
        <p:nvSpPr>
          <p:cNvPr id="9" name="Shape 7"/>
          <p:cNvSpPr/>
          <p:nvPr/>
        </p:nvSpPr>
        <p:spPr>
          <a:xfrm>
            <a:off x="731520" y="1508760"/>
            <a:ext cx="10698480" cy="4206240"/>
          </a:xfrm>
          <a:prstGeom prst="rect">
            <a:avLst/>
          </a:prstGeom>
          <a:solidFill>
            <a:srgbClr val="FFF1F0"/>
          </a:solidFill>
          <a:ln w="12700">
            <a:solidFill>
              <a:srgbClr val="F3B3B0"/>
            </a:solidFill>
            <a:prstDash val="solid"/>
          </a:ln>
        </p:spPr>
      </p:sp>
      <p:sp>
        <p:nvSpPr>
          <p:cNvPr id="10" name="Shape 8"/>
          <p:cNvSpPr/>
          <p:nvPr/>
        </p:nvSpPr>
        <p:spPr>
          <a:xfrm>
            <a:off x="1051560" y="1874520"/>
            <a:ext cx="2103120" cy="594360"/>
          </a:xfrm>
          <a:prstGeom prst="roundRect">
            <a:avLst>
              <a:gd name="adj" fmla="val 10769"/>
            </a:avLst>
          </a:prstGeom>
          <a:solidFill>
            <a:srgbClr val="D93025"/>
          </a:solidFill>
          <a:ln w="12700">
            <a:solidFill>
              <a:srgbClr val="D93025"/>
            </a:solidFill>
            <a:prstDash val="solid"/>
          </a:ln>
        </p:spPr>
      </p:sp>
      <p:sp>
        <p:nvSpPr>
          <p:cNvPr id="11" name="Text 9"/>
          <p:cNvSpPr/>
          <p:nvPr/>
        </p:nvSpPr>
        <p:spPr>
          <a:xfrm>
            <a:off x="1216152" y="2075688"/>
            <a:ext cx="1783080" cy="16459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rPr>
              <a:t>Pipeline identity</a:t>
            </a:r>
            <a:endParaRPr lang="en-US" sz="1200" dirty="0"/>
          </a:p>
        </p:txBody>
      </p:sp>
      <p:sp>
        <p:nvSpPr>
          <p:cNvPr id="12" name="Shape 10"/>
          <p:cNvSpPr/>
          <p:nvPr/>
        </p:nvSpPr>
        <p:spPr>
          <a:xfrm>
            <a:off x="3246120" y="1993392"/>
            <a:ext cx="914400" cy="292608"/>
          </a:xfrm>
          <a:prstGeom prst="rightArrow">
            <a:avLst/>
          </a:prstGeom>
          <a:solidFill>
            <a:srgbClr val="D93025"/>
          </a:solidFill>
          <a:ln w="12700">
            <a:solidFill>
              <a:srgbClr val="D93025"/>
            </a:solidFill>
            <a:prstDash val="solid"/>
          </a:ln>
        </p:spPr>
      </p:sp>
      <p:sp>
        <p:nvSpPr>
          <p:cNvPr id="13" name="Shape 11"/>
          <p:cNvSpPr/>
          <p:nvPr/>
        </p:nvSpPr>
        <p:spPr>
          <a:xfrm>
            <a:off x="4343400" y="1719072"/>
            <a:ext cx="6492240" cy="3337560"/>
          </a:xfrm>
          <a:prstGeom prst="roundRect">
            <a:avLst>
              <a:gd name="adj" fmla="val 1370"/>
            </a:avLst>
          </a:prstGeom>
          <a:solidFill>
            <a:srgbClr val="FFFFFF"/>
          </a:solidFill>
          <a:ln w="19050">
            <a:solidFill>
              <a:srgbClr val="D93025"/>
            </a:solidFill>
            <a:prstDash val="solid"/>
          </a:ln>
        </p:spPr>
      </p:sp>
      <p:sp>
        <p:nvSpPr>
          <p:cNvPr id="14" name="Text 12"/>
          <p:cNvSpPr/>
          <p:nvPr/>
        </p:nvSpPr>
        <p:spPr>
          <a:xfrm>
            <a:off x="4663440" y="1956816"/>
            <a:ext cx="2286000" cy="201168"/>
          </a:xfrm>
          <a:prstGeom prst="rect">
            <a:avLst/>
          </a:prstGeom>
          <a:noFill/>
          <a:ln/>
        </p:spPr>
        <p:txBody>
          <a:bodyPr wrap="square" lIns="1016" tIns="1016" rIns="1016" bIns="1016" rtlCol="0" anchor="t">
            <a:normAutofit/>
          </a:bodyPr>
          <a:lstStyle/>
          <a:p>
            <a:pPr algn="l" indent="0" marL="0">
              <a:buNone/>
            </a:pPr>
            <a:r>
              <a:rPr lang="en-US" sz="1400" b="1" dirty="0">
                <a:solidFill>
                  <a:srgbClr val="D93025"/>
                </a:solidFill>
                <a:latin typeface="Aptos" pitchFamily="34" charset="0"/>
                <a:ea typeface="Aptos" pitchFamily="34" charset="-122"/>
                <a:cs typeface="Aptos" pitchFamily="34" charset="-120"/>
              </a:rPr>
              <a:t>Subscription scope</a:t>
            </a:r>
            <a:endParaRPr lang="en-US" sz="1400" dirty="0"/>
          </a:p>
        </p:txBody>
      </p:sp>
      <p:sp>
        <p:nvSpPr>
          <p:cNvPr id="15" name="Text 13"/>
          <p:cNvSpPr/>
          <p:nvPr/>
        </p:nvSpPr>
        <p:spPr>
          <a:xfrm>
            <a:off x="4709160" y="2423160"/>
            <a:ext cx="5440680" cy="228600"/>
          </a:xfrm>
          <a:prstGeom prst="rect">
            <a:avLst/>
          </a:prstGeom>
          <a:noFill/>
          <a:ln/>
        </p:spPr>
        <p:txBody>
          <a:bodyPr wrap="square" lIns="1016" tIns="1016" rIns="1016" bIns="1016" rtlCol="0" anchor="t">
            <a:normAutofit/>
          </a:bodyPr>
          <a:lstStyle/>
          <a:p>
            <a:pPr algn="l" indent="0" marL="0">
              <a:buNone/>
            </a:pPr>
            <a:r>
              <a:rPr lang="en-US" sz="1300" dirty="0">
                <a:solidFill>
                  <a:srgbClr val="101828"/>
                </a:solidFill>
                <a:latin typeface="Aptos" pitchFamily="34" charset="0"/>
                <a:ea typeface="Aptos" pitchFamily="34" charset="-122"/>
                <a:cs typeface="Aptos" pitchFamily="34" charset="-120"/>
              </a:rPr>
              <a:t>• Can create/delete resources everywhere</a:t>
            </a:r>
            <a:endParaRPr lang="en-US" sz="1300" dirty="0"/>
          </a:p>
        </p:txBody>
      </p:sp>
      <p:sp>
        <p:nvSpPr>
          <p:cNvPr id="16" name="Text 14"/>
          <p:cNvSpPr/>
          <p:nvPr/>
        </p:nvSpPr>
        <p:spPr>
          <a:xfrm>
            <a:off x="4709160" y="2862072"/>
            <a:ext cx="5440680" cy="228600"/>
          </a:xfrm>
          <a:prstGeom prst="rect">
            <a:avLst/>
          </a:prstGeom>
          <a:noFill/>
          <a:ln/>
        </p:spPr>
        <p:txBody>
          <a:bodyPr wrap="square" lIns="1016" tIns="1016" rIns="1016" bIns="1016" rtlCol="0" anchor="t">
            <a:normAutofit/>
          </a:bodyPr>
          <a:lstStyle/>
          <a:p>
            <a:pPr algn="l" indent="0" marL="0">
              <a:buNone/>
            </a:pPr>
            <a:r>
              <a:rPr lang="en-US" sz="1300" dirty="0">
                <a:solidFill>
                  <a:srgbClr val="101828"/>
                </a:solidFill>
                <a:latin typeface="Aptos" pitchFamily="34" charset="0"/>
                <a:ea typeface="Aptos" pitchFamily="34" charset="-122"/>
                <a:cs typeface="Aptos" pitchFamily="34" charset="-120"/>
              </a:rPr>
              <a:t>• Can assign access to other principals</a:t>
            </a:r>
            <a:endParaRPr lang="en-US" sz="1300" dirty="0"/>
          </a:p>
        </p:txBody>
      </p:sp>
      <p:sp>
        <p:nvSpPr>
          <p:cNvPr id="17" name="Text 15"/>
          <p:cNvSpPr/>
          <p:nvPr/>
        </p:nvSpPr>
        <p:spPr>
          <a:xfrm>
            <a:off x="4709160" y="3300984"/>
            <a:ext cx="5440680" cy="228600"/>
          </a:xfrm>
          <a:prstGeom prst="rect">
            <a:avLst/>
          </a:prstGeom>
          <a:noFill/>
          <a:ln/>
        </p:spPr>
        <p:txBody>
          <a:bodyPr wrap="square" lIns="1016" tIns="1016" rIns="1016" bIns="1016" rtlCol="0" anchor="t">
            <a:normAutofit/>
          </a:bodyPr>
          <a:lstStyle/>
          <a:p>
            <a:pPr algn="l" indent="0" marL="0">
              <a:buNone/>
            </a:pPr>
            <a:r>
              <a:rPr lang="en-US" sz="1300" dirty="0">
                <a:solidFill>
                  <a:srgbClr val="101828"/>
                </a:solidFill>
                <a:latin typeface="Aptos" pitchFamily="34" charset="0"/>
                <a:ea typeface="Aptos" pitchFamily="34" charset="-122"/>
                <a:cs typeface="Aptos" pitchFamily="34" charset="-120"/>
              </a:rPr>
              <a:t>• Compromise can affect Dev, Stage and Prod</a:t>
            </a:r>
            <a:endParaRPr lang="en-US" sz="1300" dirty="0"/>
          </a:p>
        </p:txBody>
      </p:sp>
      <p:sp>
        <p:nvSpPr>
          <p:cNvPr id="18" name="Text 16"/>
          <p:cNvSpPr/>
          <p:nvPr/>
        </p:nvSpPr>
        <p:spPr>
          <a:xfrm>
            <a:off x="4709160" y="3739896"/>
            <a:ext cx="5440680" cy="228600"/>
          </a:xfrm>
          <a:prstGeom prst="rect">
            <a:avLst/>
          </a:prstGeom>
          <a:noFill/>
          <a:ln/>
        </p:spPr>
        <p:txBody>
          <a:bodyPr wrap="square" lIns="1016" tIns="1016" rIns="1016" bIns="1016" rtlCol="0" anchor="t">
            <a:normAutofit/>
          </a:bodyPr>
          <a:lstStyle/>
          <a:p>
            <a:pPr algn="l" indent="0" marL="0">
              <a:buNone/>
            </a:pPr>
            <a:r>
              <a:rPr lang="en-US" sz="1300" dirty="0">
                <a:solidFill>
                  <a:srgbClr val="101828"/>
                </a:solidFill>
                <a:latin typeface="Aptos" pitchFamily="34" charset="0"/>
                <a:ea typeface="Aptos" pitchFamily="34" charset="-122"/>
                <a:cs typeface="Aptos" pitchFamily="34" charset="-120"/>
              </a:rPr>
              <a:t>• Audit blast radius becomes too broad</a:t>
            </a:r>
            <a:endParaRPr lang="en-US" sz="1300" dirty="0"/>
          </a:p>
        </p:txBody>
      </p:sp>
      <p:sp>
        <p:nvSpPr>
          <p:cNvPr id="19" name="Text 17"/>
          <p:cNvSpPr/>
          <p:nvPr/>
        </p:nvSpPr>
        <p:spPr>
          <a:xfrm>
            <a:off x="1051560" y="5074920"/>
            <a:ext cx="9784080" cy="320040"/>
          </a:xfrm>
          <a:prstGeom prst="rect">
            <a:avLst/>
          </a:prstGeom>
          <a:noFill/>
          <a:ln/>
        </p:spPr>
        <p:txBody>
          <a:bodyPr wrap="square" lIns="0" tIns="0" rIns="0" bIns="0" rtlCol="0" anchor="ctr"/>
          <a:lstStyle/>
          <a:p>
            <a:pPr algn="ctr" indent="0" marL="0">
              <a:buNone/>
            </a:pPr>
            <a:r>
              <a:rPr lang="en-US" sz="1800" b="1" dirty="0">
                <a:solidFill>
                  <a:srgbClr val="D93025"/>
                </a:solidFill>
              </a:rPr>
              <a:t>Risk: one leaked credential can become a tenant-impacting incident.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333333">
                <a:alpha val="0"/>
              </a:srgbClr>
            </a:solidFill>
            <a:prstDash val="solid"/>
          </a:ln>
        </p:spPr>
      </p:sp>
      <p:sp>
        <p:nvSpPr>
          <p:cNvPr id="3" name="Shape 1"/>
          <p:cNvSpPr/>
          <p:nvPr/>
        </p:nvSpPr>
        <p:spPr>
          <a:xfrm>
            <a:off x="0" y="0"/>
            <a:ext cx="155448" cy="6858000"/>
          </a:xfrm>
          <a:prstGeom prst="rect">
            <a:avLst/>
          </a:prstGeom>
          <a:solidFill>
            <a:srgbClr val="1A73E8"/>
          </a:solidFill>
          <a:ln w="12700">
            <a:solidFill>
              <a:srgbClr val="333333">
                <a:alpha val="0"/>
              </a:srgbClr>
            </a:solidFill>
            <a:prstDash val="solid"/>
          </a:ln>
        </p:spPr>
      </p:sp>
      <p:sp>
        <p:nvSpPr>
          <p:cNvPr id="4" name="Text 2"/>
          <p:cNvSpPr/>
          <p:nvPr/>
        </p:nvSpPr>
        <p:spPr>
          <a:xfrm>
            <a:off x="502920" y="228600"/>
            <a:ext cx="7498080" cy="228600"/>
          </a:xfrm>
          <a:prstGeom prst="rect">
            <a:avLst/>
          </a:prstGeom>
          <a:noFill/>
          <a:ln/>
        </p:spPr>
        <p:txBody>
          <a:bodyPr wrap="square" lIns="0" tIns="0" rIns="0" bIns="0" rtlCol="0" anchor="ctr">
            <a:normAutofit/>
          </a:bodyPr>
          <a:lstStyle/>
          <a:p>
            <a:pPr indent="0" marL="0">
              <a:buNone/>
            </a:pPr>
            <a:r>
              <a:rPr lang="en-US" sz="850" b="1" dirty="0">
                <a:solidFill>
                  <a:srgbClr val="1A73E8"/>
                </a:solidFill>
                <a:latin typeface="Aptos" pitchFamily="34" charset="0"/>
                <a:ea typeface="Aptos" pitchFamily="34" charset="-122"/>
                <a:cs typeface="Aptos" pitchFamily="34" charset="-120"/>
              </a:rPr>
              <a:t>Maturity step</a:t>
            </a:r>
            <a:endParaRPr lang="en-US" sz="850" dirty="0"/>
          </a:p>
        </p:txBody>
      </p:sp>
      <p:sp>
        <p:nvSpPr>
          <p:cNvPr id="5" name="Text 3"/>
          <p:cNvSpPr/>
          <p:nvPr/>
        </p:nvSpPr>
        <p:spPr>
          <a:xfrm>
            <a:off x="502920" y="475488"/>
            <a:ext cx="9966960" cy="475488"/>
          </a:xfrm>
          <a:prstGeom prst="rect">
            <a:avLst/>
          </a:prstGeom>
          <a:noFill/>
          <a:ln/>
        </p:spPr>
        <p:txBody>
          <a:bodyPr wrap="square" lIns="254" tIns="254" rIns="254" bIns="254" rtlCol="0" anchor="ctr">
            <a:normAutofit/>
          </a:bodyPr>
          <a:lstStyle/>
          <a:p>
            <a:pPr indent="0" marL="0">
              <a:buNone/>
            </a:pPr>
            <a:r>
              <a:rPr lang="en-US" sz="2500" b="1" dirty="0">
                <a:solidFill>
                  <a:srgbClr val="101828"/>
                </a:solidFill>
                <a:latin typeface="Aptos Display" pitchFamily="34" charset="0"/>
                <a:ea typeface="Aptos Display" pitchFamily="34" charset="-122"/>
                <a:cs typeface="Aptos Display" pitchFamily="34" charset="-120"/>
              </a:rPr>
              <a:t>BETTER: Contributor at resource-group scope</a:t>
            </a:r>
            <a:endParaRPr lang="en-US" sz="2500" dirty="0"/>
          </a:p>
        </p:txBody>
      </p:sp>
      <p:sp>
        <p:nvSpPr>
          <p:cNvPr id="6" name="Shape 4"/>
          <p:cNvSpPr/>
          <p:nvPr/>
        </p:nvSpPr>
        <p:spPr>
          <a:xfrm>
            <a:off x="502920" y="1078992"/>
            <a:ext cx="10927080" cy="0"/>
          </a:xfrm>
          <a:prstGeom prst="line">
            <a:avLst/>
          </a:prstGeom>
          <a:noFill/>
          <a:ln w="12700">
            <a:solidFill>
              <a:srgbClr val="D0D5DD"/>
            </a:solidFill>
            <a:prstDash val="solid"/>
          </a:ln>
        </p:spPr>
      </p:sp>
      <p:sp>
        <p:nvSpPr>
          <p:cNvPr id="7" name="Text 5"/>
          <p:cNvSpPr/>
          <p:nvPr/>
        </p:nvSpPr>
        <p:spPr>
          <a:xfrm>
            <a:off x="502920" y="6492240"/>
            <a:ext cx="4114800" cy="182880"/>
          </a:xfrm>
          <a:prstGeom prst="rect">
            <a:avLst/>
          </a:prstGeom>
          <a:noFill/>
          <a:ln/>
        </p:spPr>
        <p:txBody>
          <a:bodyPr wrap="square" lIns="0" tIns="0" rIns="0" bIns="0" rtlCol="0" anchor="ctr">
            <a:normAutofit/>
          </a:bodyPr>
          <a:lstStyle/>
          <a:p>
            <a:pPr indent="0" marL="0">
              <a:buNone/>
            </a:pPr>
            <a:r>
              <a:rPr lang="en-US" sz="750" dirty="0">
                <a:solidFill>
                  <a:srgbClr val="475467"/>
                </a:solidFill>
              </a:rPr>
              <a:t>CESE323 | Least Privilege RBAC</a:t>
            </a:r>
            <a:endParaRPr lang="en-US" sz="750" dirty="0"/>
          </a:p>
        </p:txBody>
      </p:sp>
      <p:sp>
        <p:nvSpPr>
          <p:cNvPr id="8" name="Text 6"/>
          <p:cNvSpPr/>
          <p:nvPr/>
        </p:nvSpPr>
        <p:spPr>
          <a:xfrm>
            <a:off x="11109960" y="6428232"/>
            <a:ext cx="502920" cy="274320"/>
          </a:xfrm>
          <a:prstGeom prst="rect">
            <a:avLst/>
          </a:prstGeom>
          <a:noFill/>
          <a:ln/>
        </p:spPr>
        <p:txBody>
          <a:bodyPr wrap="square" lIns="0" tIns="0" rIns="0" bIns="0" rtlCol="0" anchor="ctr"/>
          <a:lstStyle/>
          <a:p>
            <a:pPr algn="r" indent="0" marL="0">
              <a:buNone/>
            </a:pPr>
            <a:r>
              <a:rPr lang="en-US" sz="900" b="1" dirty="0">
                <a:solidFill>
                  <a:srgbClr val="1A73E8"/>
                </a:solidFill>
              </a:rPr>
              <a:t>05</a:t>
            </a:r>
            <a:endParaRPr lang="en-US" sz="900" dirty="0"/>
          </a:p>
        </p:txBody>
      </p:sp>
      <p:sp>
        <p:nvSpPr>
          <p:cNvPr id="9" name="Shape 7"/>
          <p:cNvSpPr/>
          <p:nvPr/>
        </p:nvSpPr>
        <p:spPr>
          <a:xfrm>
            <a:off x="731520" y="1508760"/>
            <a:ext cx="10698480" cy="4343400"/>
          </a:xfrm>
          <a:prstGeom prst="rect">
            <a:avLst/>
          </a:prstGeom>
          <a:solidFill>
            <a:srgbClr val="FFF7E8"/>
          </a:solidFill>
          <a:ln w="12700">
            <a:solidFill>
              <a:srgbClr val="FDD47D"/>
            </a:solidFill>
            <a:prstDash val="solid"/>
          </a:ln>
        </p:spPr>
      </p:sp>
      <p:sp>
        <p:nvSpPr>
          <p:cNvPr id="10" name="Shape 8"/>
          <p:cNvSpPr/>
          <p:nvPr/>
        </p:nvSpPr>
        <p:spPr>
          <a:xfrm>
            <a:off x="868680" y="1920240"/>
            <a:ext cx="2011680" cy="530352"/>
          </a:xfrm>
          <a:prstGeom prst="roundRect">
            <a:avLst/>
          </a:prstGeom>
          <a:solidFill>
            <a:srgbClr val="F6A623"/>
          </a:solidFill>
          <a:ln w="12700">
            <a:solidFill>
              <a:srgbClr val="F6A623"/>
            </a:solidFill>
            <a:prstDash val="solid"/>
          </a:ln>
        </p:spPr>
      </p:sp>
      <p:sp>
        <p:nvSpPr>
          <p:cNvPr id="11" name="Text 9"/>
          <p:cNvSpPr/>
          <p:nvPr/>
        </p:nvSpPr>
        <p:spPr>
          <a:xfrm>
            <a:off x="1060704" y="2112264"/>
            <a:ext cx="1627632" cy="118872"/>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rPr>
              <a:t>spn-dev-deploy</a:t>
            </a:r>
            <a:endParaRPr lang="en-US" sz="1100" dirty="0"/>
          </a:p>
        </p:txBody>
      </p:sp>
      <p:sp>
        <p:nvSpPr>
          <p:cNvPr id="12" name="Shape 10"/>
          <p:cNvSpPr/>
          <p:nvPr/>
        </p:nvSpPr>
        <p:spPr>
          <a:xfrm>
            <a:off x="2971800" y="2029968"/>
            <a:ext cx="749808" cy="256032"/>
          </a:xfrm>
          <a:prstGeom prst="rightArrow">
            <a:avLst/>
          </a:prstGeom>
          <a:solidFill>
            <a:srgbClr val="F6A623"/>
          </a:solidFill>
          <a:ln w="12700">
            <a:solidFill>
              <a:srgbClr val="F6A623"/>
            </a:solidFill>
            <a:prstDash val="solid"/>
          </a:ln>
        </p:spPr>
      </p:sp>
      <p:sp>
        <p:nvSpPr>
          <p:cNvPr id="13" name="Shape 11"/>
          <p:cNvSpPr/>
          <p:nvPr/>
        </p:nvSpPr>
        <p:spPr>
          <a:xfrm>
            <a:off x="3886200" y="1783080"/>
            <a:ext cx="2057400" cy="2057400"/>
          </a:xfrm>
          <a:prstGeom prst="roundRect">
            <a:avLst/>
          </a:prstGeom>
          <a:solidFill>
            <a:srgbClr val="FFFFFF"/>
          </a:solidFill>
          <a:ln w="25400">
            <a:solidFill>
              <a:srgbClr val="F6A623"/>
            </a:solidFill>
            <a:prstDash val="solid"/>
          </a:ln>
        </p:spPr>
      </p:sp>
      <p:sp>
        <p:nvSpPr>
          <p:cNvPr id="14" name="Text 12"/>
          <p:cNvSpPr/>
          <p:nvPr/>
        </p:nvSpPr>
        <p:spPr>
          <a:xfrm>
            <a:off x="4023360" y="2029968"/>
            <a:ext cx="1783080" cy="164592"/>
          </a:xfrm>
          <a:prstGeom prst="rect">
            <a:avLst/>
          </a:prstGeom>
          <a:noFill/>
          <a:ln/>
        </p:spPr>
        <p:txBody>
          <a:bodyPr wrap="square" lIns="0" tIns="0" rIns="0" bIns="0" rtlCol="0" anchor="ctr">
            <a:normAutofit/>
          </a:bodyPr>
          <a:lstStyle/>
          <a:p>
            <a:pPr algn="ctr" indent="0" marL="0">
              <a:buNone/>
            </a:pPr>
            <a:r>
              <a:rPr lang="en-US" sz="1200" b="1" dirty="0">
                <a:solidFill>
                  <a:srgbClr val="F6A623"/>
                </a:solidFill>
              </a:rPr>
              <a:t>rg-saas-dev</a:t>
            </a:r>
            <a:endParaRPr lang="en-US" sz="1200" dirty="0"/>
          </a:p>
        </p:txBody>
      </p:sp>
      <p:sp>
        <p:nvSpPr>
          <p:cNvPr id="15" name="Text 13"/>
          <p:cNvSpPr/>
          <p:nvPr/>
        </p:nvSpPr>
        <p:spPr>
          <a:xfrm>
            <a:off x="4069080" y="2788920"/>
            <a:ext cx="1691640" cy="411480"/>
          </a:xfrm>
          <a:prstGeom prst="rect">
            <a:avLst/>
          </a:prstGeom>
          <a:noFill/>
          <a:ln/>
        </p:spPr>
        <p:txBody>
          <a:bodyPr wrap="square" lIns="254" tIns="254" rIns="254" bIns="254" rtlCol="0" anchor="ctr">
            <a:normAutofit/>
          </a:bodyPr>
          <a:lstStyle/>
          <a:p>
            <a:pPr algn="ctr" indent="0" marL="0">
              <a:buNone/>
            </a:pPr>
            <a:r>
              <a:rPr lang="en-US" sz="1200" dirty="0">
                <a:solidFill>
                  <a:srgbClr val="101828"/>
                </a:solidFill>
              </a:rPr>
              <a:t>Contributor</a:t>
            </a:r>
            <a:endParaRPr lang="en-US" sz="1200" dirty="0"/>
          </a:p>
          <a:p>
            <a:pPr algn="ctr" indent="0" marL="0">
              <a:buNone/>
            </a:pPr>
            <a:r>
              <a:rPr lang="en-US" sz="1200" dirty="0">
                <a:solidFill>
                  <a:srgbClr val="101828"/>
                </a:solidFill>
              </a:rPr>
              <a:t>allowed here</a:t>
            </a:r>
            <a:endParaRPr lang="en-US" sz="1200" dirty="0"/>
          </a:p>
        </p:txBody>
      </p:sp>
      <p:sp>
        <p:nvSpPr>
          <p:cNvPr id="16" name="Shape 14"/>
          <p:cNvSpPr/>
          <p:nvPr/>
        </p:nvSpPr>
        <p:spPr>
          <a:xfrm>
            <a:off x="6263640" y="1783080"/>
            <a:ext cx="2057400" cy="2057400"/>
          </a:xfrm>
          <a:prstGeom prst="roundRect">
            <a:avLst/>
          </a:prstGeom>
          <a:solidFill>
            <a:srgbClr val="F2F4F7"/>
          </a:solidFill>
          <a:ln w="12700">
            <a:solidFill>
              <a:srgbClr val="D0D5DD"/>
            </a:solidFill>
            <a:prstDash val="solid"/>
          </a:ln>
        </p:spPr>
      </p:sp>
      <p:sp>
        <p:nvSpPr>
          <p:cNvPr id="17" name="Text 15"/>
          <p:cNvSpPr/>
          <p:nvPr/>
        </p:nvSpPr>
        <p:spPr>
          <a:xfrm>
            <a:off x="6400800" y="2029968"/>
            <a:ext cx="1783080" cy="164592"/>
          </a:xfrm>
          <a:prstGeom prst="rect">
            <a:avLst/>
          </a:prstGeom>
          <a:noFill/>
          <a:ln/>
        </p:spPr>
        <p:txBody>
          <a:bodyPr wrap="square" lIns="0" tIns="0" rIns="0" bIns="0" rtlCol="0" anchor="ctr">
            <a:normAutofit/>
          </a:bodyPr>
          <a:lstStyle/>
          <a:p>
            <a:pPr algn="ctr" indent="0" marL="0">
              <a:buNone/>
            </a:pPr>
            <a:r>
              <a:rPr lang="en-US" sz="1200" b="1" dirty="0">
                <a:solidFill>
                  <a:srgbClr val="475467"/>
                </a:solidFill>
              </a:rPr>
              <a:t>rg-saas-stage</a:t>
            </a:r>
            <a:endParaRPr lang="en-US" sz="1200" dirty="0"/>
          </a:p>
        </p:txBody>
      </p:sp>
      <p:sp>
        <p:nvSpPr>
          <p:cNvPr id="18" name="Text 16"/>
          <p:cNvSpPr/>
          <p:nvPr/>
        </p:nvSpPr>
        <p:spPr>
          <a:xfrm>
            <a:off x="6446520" y="2788920"/>
            <a:ext cx="1691640" cy="411480"/>
          </a:xfrm>
          <a:prstGeom prst="rect">
            <a:avLst/>
          </a:prstGeom>
          <a:noFill/>
          <a:ln/>
        </p:spPr>
        <p:txBody>
          <a:bodyPr wrap="square" lIns="254" tIns="254" rIns="254" bIns="254" rtlCol="0" anchor="ctr">
            <a:normAutofit/>
          </a:bodyPr>
          <a:lstStyle/>
          <a:p>
            <a:pPr algn="ctr" indent="0" marL="0">
              <a:buNone/>
            </a:pPr>
            <a:r>
              <a:rPr lang="en-US" sz="1200" dirty="0">
                <a:solidFill>
                  <a:srgbClr val="475467"/>
                </a:solidFill>
              </a:rPr>
              <a:t>No access</a:t>
            </a:r>
            <a:endParaRPr lang="en-US" sz="1200" dirty="0"/>
          </a:p>
        </p:txBody>
      </p:sp>
      <p:sp>
        <p:nvSpPr>
          <p:cNvPr id="19" name="Shape 17"/>
          <p:cNvSpPr/>
          <p:nvPr/>
        </p:nvSpPr>
        <p:spPr>
          <a:xfrm>
            <a:off x="8641080" y="1783080"/>
            <a:ext cx="2057400" cy="2057400"/>
          </a:xfrm>
          <a:prstGeom prst="roundRect">
            <a:avLst/>
          </a:prstGeom>
          <a:solidFill>
            <a:srgbClr val="F2F4F7"/>
          </a:solidFill>
          <a:ln w="12700">
            <a:solidFill>
              <a:srgbClr val="D0D5DD"/>
            </a:solidFill>
            <a:prstDash val="solid"/>
          </a:ln>
        </p:spPr>
      </p:sp>
      <p:sp>
        <p:nvSpPr>
          <p:cNvPr id="20" name="Text 18"/>
          <p:cNvSpPr/>
          <p:nvPr/>
        </p:nvSpPr>
        <p:spPr>
          <a:xfrm>
            <a:off x="8778240" y="2029968"/>
            <a:ext cx="1783080" cy="164592"/>
          </a:xfrm>
          <a:prstGeom prst="rect">
            <a:avLst/>
          </a:prstGeom>
          <a:noFill/>
          <a:ln/>
        </p:spPr>
        <p:txBody>
          <a:bodyPr wrap="square" lIns="0" tIns="0" rIns="0" bIns="0" rtlCol="0" anchor="ctr">
            <a:normAutofit/>
          </a:bodyPr>
          <a:lstStyle/>
          <a:p>
            <a:pPr algn="ctr" indent="0" marL="0">
              <a:buNone/>
            </a:pPr>
            <a:r>
              <a:rPr lang="en-US" sz="1200" b="1" dirty="0">
                <a:solidFill>
                  <a:srgbClr val="475467"/>
                </a:solidFill>
              </a:rPr>
              <a:t>rg-saas-prod</a:t>
            </a:r>
            <a:endParaRPr lang="en-US" sz="1200" dirty="0"/>
          </a:p>
        </p:txBody>
      </p:sp>
      <p:sp>
        <p:nvSpPr>
          <p:cNvPr id="21" name="Text 19"/>
          <p:cNvSpPr/>
          <p:nvPr/>
        </p:nvSpPr>
        <p:spPr>
          <a:xfrm>
            <a:off x="8823960" y="2788920"/>
            <a:ext cx="1691640" cy="411480"/>
          </a:xfrm>
          <a:prstGeom prst="rect">
            <a:avLst/>
          </a:prstGeom>
          <a:noFill/>
          <a:ln/>
        </p:spPr>
        <p:txBody>
          <a:bodyPr wrap="square" lIns="254" tIns="254" rIns="254" bIns="254" rtlCol="0" anchor="ctr">
            <a:normAutofit/>
          </a:bodyPr>
          <a:lstStyle/>
          <a:p>
            <a:pPr algn="ctr" indent="0" marL="0">
              <a:buNone/>
            </a:pPr>
            <a:r>
              <a:rPr lang="en-US" sz="1200" dirty="0">
                <a:solidFill>
                  <a:srgbClr val="475467"/>
                </a:solidFill>
              </a:rPr>
              <a:t>No access</a:t>
            </a:r>
            <a:endParaRPr lang="en-US" sz="1200" dirty="0"/>
          </a:p>
        </p:txBody>
      </p:sp>
      <p:sp>
        <p:nvSpPr>
          <p:cNvPr id="22" name="Text 20"/>
          <p:cNvSpPr/>
          <p:nvPr/>
        </p:nvSpPr>
        <p:spPr>
          <a:xfrm>
            <a:off x="1097280" y="4800600"/>
            <a:ext cx="9784080" cy="384048"/>
          </a:xfrm>
          <a:prstGeom prst="rect">
            <a:avLst/>
          </a:prstGeom>
          <a:noFill/>
          <a:ln/>
        </p:spPr>
        <p:txBody>
          <a:bodyPr wrap="square" lIns="1016" tIns="1016" rIns="1016" bIns="1016" rtlCol="0" anchor="t">
            <a:normAutofit/>
          </a:bodyPr>
          <a:lstStyle/>
          <a:p>
            <a:pPr algn="ctr" indent="0" marL="0">
              <a:buNone/>
            </a:pPr>
            <a:r>
              <a:rPr lang="en-US" sz="1800" b="1" dirty="0">
                <a:solidFill>
                  <a:srgbClr val="101828"/>
                </a:solidFill>
                <a:latin typeface="Aptos" pitchFamily="34" charset="0"/>
                <a:ea typeface="Aptos" pitchFamily="34" charset="-122"/>
                <a:cs typeface="Aptos" pitchFamily="34" charset="-120"/>
              </a:rPr>
              <a:t>Improvement: scope is reduced, so Dev identity cannot touch Stage or Production.</a:t>
            </a:r>
            <a:endParaRPr lang="en-US" sz="1800" dirty="0"/>
          </a:p>
        </p:txBody>
      </p:sp>
      <p:sp>
        <p:nvSpPr>
          <p:cNvPr id="23" name="Text 21"/>
          <p:cNvSpPr/>
          <p:nvPr/>
        </p:nvSpPr>
        <p:spPr>
          <a:xfrm>
            <a:off x="1097280" y="5285232"/>
            <a:ext cx="9784080" cy="256032"/>
          </a:xfrm>
          <a:prstGeom prst="rect">
            <a:avLst/>
          </a:prstGeom>
          <a:noFill/>
          <a:ln/>
        </p:spPr>
        <p:txBody>
          <a:bodyPr wrap="square" lIns="1016" tIns="1016" rIns="1016" bIns="1016" rtlCol="0" anchor="t">
            <a:normAutofit/>
          </a:bodyPr>
          <a:lstStyle/>
          <a:p>
            <a:pPr algn="ctr" indent="0" marL="0">
              <a:buNone/>
            </a:pPr>
            <a:r>
              <a:rPr lang="en-US" sz="1350" dirty="0">
                <a:solidFill>
                  <a:srgbClr val="475467"/>
                </a:solidFill>
                <a:latin typeface="Aptos" pitchFamily="34" charset="0"/>
                <a:ea typeface="Aptos" pitchFamily="34" charset="-122"/>
                <a:cs typeface="Aptos" pitchFamily="34" charset="-120"/>
              </a:rPr>
              <a:t>Remaining limitation: Contributor may still be broader than the deployment needs.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333333">
                <a:alpha val="0"/>
              </a:srgbClr>
            </a:solidFill>
            <a:prstDash val="solid"/>
          </a:ln>
        </p:spPr>
      </p:sp>
      <p:sp>
        <p:nvSpPr>
          <p:cNvPr id="3" name="Shape 1"/>
          <p:cNvSpPr/>
          <p:nvPr/>
        </p:nvSpPr>
        <p:spPr>
          <a:xfrm>
            <a:off x="0" y="0"/>
            <a:ext cx="155448" cy="6858000"/>
          </a:xfrm>
          <a:prstGeom prst="rect">
            <a:avLst/>
          </a:prstGeom>
          <a:solidFill>
            <a:srgbClr val="1A73E8"/>
          </a:solidFill>
          <a:ln w="12700">
            <a:solidFill>
              <a:srgbClr val="333333">
                <a:alpha val="0"/>
              </a:srgbClr>
            </a:solidFill>
            <a:prstDash val="solid"/>
          </a:ln>
        </p:spPr>
      </p:sp>
      <p:sp>
        <p:nvSpPr>
          <p:cNvPr id="4" name="Text 2"/>
          <p:cNvSpPr/>
          <p:nvPr/>
        </p:nvSpPr>
        <p:spPr>
          <a:xfrm>
            <a:off x="502920" y="228600"/>
            <a:ext cx="7498080" cy="228600"/>
          </a:xfrm>
          <a:prstGeom prst="rect">
            <a:avLst/>
          </a:prstGeom>
          <a:noFill/>
          <a:ln/>
        </p:spPr>
        <p:txBody>
          <a:bodyPr wrap="square" lIns="0" tIns="0" rIns="0" bIns="0" rtlCol="0" anchor="ctr">
            <a:normAutofit/>
          </a:bodyPr>
          <a:lstStyle/>
          <a:p>
            <a:pPr indent="0" marL="0">
              <a:buNone/>
            </a:pPr>
            <a:r>
              <a:rPr lang="en-US" sz="850" b="1" dirty="0">
                <a:solidFill>
                  <a:srgbClr val="1A73E8"/>
                </a:solidFill>
                <a:latin typeface="Aptos" pitchFamily="34" charset="0"/>
                <a:ea typeface="Aptos" pitchFamily="34" charset="-122"/>
                <a:cs typeface="Aptos" pitchFamily="34" charset="-120"/>
              </a:rPr>
              <a:t>Target state</a:t>
            </a:r>
            <a:endParaRPr lang="en-US" sz="850" dirty="0"/>
          </a:p>
        </p:txBody>
      </p:sp>
      <p:sp>
        <p:nvSpPr>
          <p:cNvPr id="5" name="Text 3"/>
          <p:cNvSpPr/>
          <p:nvPr/>
        </p:nvSpPr>
        <p:spPr>
          <a:xfrm>
            <a:off x="502920" y="475488"/>
            <a:ext cx="9966960" cy="475488"/>
          </a:xfrm>
          <a:prstGeom prst="rect">
            <a:avLst/>
          </a:prstGeom>
          <a:noFill/>
          <a:ln/>
        </p:spPr>
        <p:txBody>
          <a:bodyPr wrap="square" lIns="254" tIns="254" rIns="254" bIns="254" rtlCol="0" anchor="ctr">
            <a:normAutofit/>
          </a:bodyPr>
          <a:lstStyle/>
          <a:p>
            <a:pPr indent="0" marL="0">
              <a:buNone/>
            </a:pPr>
            <a:r>
              <a:rPr lang="en-US" sz="2500" b="1" dirty="0">
                <a:solidFill>
                  <a:srgbClr val="101828"/>
                </a:solidFill>
                <a:latin typeface="Aptos Display" pitchFamily="34" charset="0"/>
                <a:ea typeface="Aptos Display" pitchFamily="34" charset="-122"/>
                <a:cs typeface="Aptos Display" pitchFamily="34" charset="-120"/>
              </a:rPr>
              <a:t>BEST: custom role with exact deployment permissions</a:t>
            </a:r>
            <a:endParaRPr lang="en-US" sz="2500" dirty="0"/>
          </a:p>
        </p:txBody>
      </p:sp>
      <p:sp>
        <p:nvSpPr>
          <p:cNvPr id="6" name="Shape 4"/>
          <p:cNvSpPr/>
          <p:nvPr/>
        </p:nvSpPr>
        <p:spPr>
          <a:xfrm>
            <a:off x="502920" y="1078992"/>
            <a:ext cx="10927080" cy="0"/>
          </a:xfrm>
          <a:prstGeom prst="line">
            <a:avLst/>
          </a:prstGeom>
          <a:noFill/>
          <a:ln w="12700">
            <a:solidFill>
              <a:srgbClr val="D0D5DD"/>
            </a:solidFill>
            <a:prstDash val="solid"/>
          </a:ln>
        </p:spPr>
      </p:sp>
      <p:sp>
        <p:nvSpPr>
          <p:cNvPr id="7" name="Text 5"/>
          <p:cNvSpPr/>
          <p:nvPr/>
        </p:nvSpPr>
        <p:spPr>
          <a:xfrm>
            <a:off x="502920" y="6492240"/>
            <a:ext cx="4114800" cy="182880"/>
          </a:xfrm>
          <a:prstGeom prst="rect">
            <a:avLst/>
          </a:prstGeom>
          <a:noFill/>
          <a:ln/>
        </p:spPr>
        <p:txBody>
          <a:bodyPr wrap="square" lIns="0" tIns="0" rIns="0" bIns="0" rtlCol="0" anchor="ctr">
            <a:normAutofit/>
          </a:bodyPr>
          <a:lstStyle/>
          <a:p>
            <a:pPr indent="0" marL="0">
              <a:buNone/>
            </a:pPr>
            <a:r>
              <a:rPr lang="en-US" sz="750" dirty="0">
                <a:solidFill>
                  <a:srgbClr val="475467"/>
                </a:solidFill>
              </a:rPr>
              <a:t>CESE323 | Least Privilege RBAC</a:t>
            </a:r>
            <a:endParaRPr lang="en-US" sz="750" dirty="0"/>
          </a:p>
        </p:txBody>
      </p:sp>
      <p:sp>
        <p:nvSpPr>
          <p:cNvPr id="8" name="Text 6"/>
          <p:cNvSpPr/>
          <p:nvPr/>
        </p:nvSpPr>
        <p:spPr>
          <a:xfrm>
            <a:off x="11109960" y="6428232"/>
            <a:ext cx="502920" cy="274320"/>
          </a:xfrm>
          <a:prstGeom prst="rect">
            <a:avLst/>
          </a:prstGeom>
          <a:noFill/>
          <a:ln/>
        </p:spPr>
        <p:txBody>
          <a:bodyPr wrap="square" lIns="0" tIns="0" rIns="0" bIns="0" rtlCol="0" anchor="ctr"/>
          <a:lstStyle/>
          <a:p>
            <a:pPr algn="r" indent="0" marL="0">
              <a:buNone/>
            </a:pPr>
            <a:r>
              <a:rPr lang="en-US" sz="900" b="1" dirty="0">
                <a:solidFill>
                  <a:srgbClr val="1A73E8"/>
                </a:solidFill>
              </a:rPr>
              <a:t>06</a:t>
            </a:r>
            <a:endParaRPr lang="en-US" sz="900" dirty="0"/>
          </a:p>
        </p:txBody>
      </p:sp>
      <p:sp>
        <p:nvSpPr>
          <p:cNvPr id="9" name="Shape 7"/>
          <p:cNvSpPr/>
          <p:nvPr/>
        </p:nvSpPr>
        <p:spPr>
          <a:xfrm>
            <a:off x="731520" y="1417320"/>
            <a:ext cx="10698480" cy="4572000"/>
          </a:xfrm>
          <a:prstGeom prst="rect">
            <a:avLst/>
          </a:prstGeom>
          <a:solidFill>
            <a:srgbClr val="EAF8F1"/>
          </a:solidFill>
          <a:ln w="12700">
            <a:solidFill>
              <a:srgbClr val="9EDCC0"/>
            </a:solidFill>
            <a:prstDash val="solid"/>
          </a:ln>
        </p:spPr>
      </p:sp>
      <p:sp>
        <p:nvSpPr>
          <p:cNvPr id="10" name="Shape 8"/>
          <p:cNvSpPr/>
          <p:nvPr/>
        </p:nvSpPr>
        <p:spPr>
          <a:xfrm>
            <a:off x="960120" y="1783080"/>
            <a:ext cx="2606040" cy="365760"/>
          </a:xfrm>
          <a:prstGeom prst="roundRect">
            <a:avLst/>
          </a:prstGeom>
          <a:solidFill>
            <a:srgbClr val="1A73E8"/>
          </a:solidFill>
          <a:ln w="12700">
            <a:solidFill>
              <a:srgbClr val="1A73E8">
                <a:alpha val="0"/>
              </a:srgbClr>
            </a:solidFill>
            <a:prstDash val="solid"/>
          </a:ln>
        </p:spPr>
      </p:sp>
      <p:sp>
        <p:nvSpPr>
          <p:cNvPr id="11" name="Text 9"/>
          <p:cNvSpPr/>
          <p:nvPr/>
        </p:nvSpPr>
        <p:spPr>
          <a:xfrm>
            <a:off x="1069848" y="1892808"/>
            <a:ext cx="2386584" cy="146304"/>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Action</a:t>
            </a:r>
            <a:endParaRPr lang="en-US" sz="950" dirty="0"/>
          </a:p>
        </p:txBody>
      </p:sp>
      <p:sp>
        <p:nvSpPr>
          <p:cNvPr id="12" name="Text 10"/>
          <p:cNvSpPr/>
          <p:nvPr/>
        </p:nvSpPr>
        <p:spPr>
          <a:xfrm>
            <a:off x="1051560" y="2395728"/>
            <a:ext cx="2423160" cy="502920"/>
          </a:xfrm>
          <a:prstGeom prst="rect">
            <a:avLst/>
          </a:prstGeom>
          <a:noFill/>
          <a:ln/>
        </p:spPr>
        <p:txBody>
          <a:bodyPr wrap="square" lIns="1016" tIns="1016" rIns="1016" bIns="1016" rtlCol="0" anchor="t">
            <a:normAutofit/>
          </a:bodyPr>
          <a:lstStyle/>
          <a:p>
            <a:pPr algn="ctr" indent="0" marL="0">
              <a:buNone/>
            </a:pPr>
            <a:r>
              <a:rPr lang="en-US" sz="1250" dirty="0">
                <a:solidFill>
                  <a:srgbClr val="101828"/>
                </a:solidFill>
                <a:latin typeface="Aptos" pitchFamily="34" charset="0"/>
                <a:ea typeface="Aptos" pitchFamily="34" charset="-122"/>
                <a:cs typeface="Aptos" pitchFamily="34" charset="-120"/>
              </a:rPr>
              <a:t>Only required write actions</a:t>
            </a:r>
            <a:endParaRPr lang="en-US" sz="1250" dirty="0"/>
          </a:p>
        </p:txBody>
      </p:sp>
      <p:sp>
        <p:nvSpPr>
          <p:cNvPr id="13" name="Shape 11"/>
          <p:cNvSpPr/>
          <p:nvPr/>
        </p:nvSpPr>
        <p:spPr>
          <a:xfrm>
            <a:off x="4526280" y="1783080"/>
            <a:ext cx="2606040" cy="365760"/>
          </a:xfrm>
          <a:prstGeom prst="roundRect">
            <a:avLst/>
          </a:prstGeom>
          <a:solidFill>
            <a:srgbClr val="D93025"/>
          </a:solidFill>
          <a:ln w="12700">
            <a:solidFill>
              <a:srgbClr val="D93025">
                <a:alpha val="0"/>
              </a:srgbClr>
            </a:solidFill>
            <a:prstDash val="solid"/>
          </a:ln>
        </p:spPr>
      </p:sp>
      <p:sp>
        <p:nvSpPr>
          <p:cNvPr id="14" name="Text 12"/>
          <p:cNvSpPr/>
          <p:nvPr/>
        </p:nvSpPr>
        <p:spPr>
          <a:xfrm>
            <a:off x="4636008" y="1892808"/>
            <a:ext cx="2386584" cy="146304"/>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NotAction</a:t>
            </a:r>
            <a:endParaRPr lang="en-US" sz="950" dirty="0"/>
          </a:p>
        </p:txBody>
      </p:sp>
      <p:sp>
        <p:nvSpPr>
          <p:cNvPr id="15" name="Text 13"/>
          <p:cNvSpPr/>
          <p:nvPr/>
        </p:nvSpPr>
        <p:spPr>
          <a:xfrm>
            <a:off x="4617720" y="2395728"/>
            <a:ext cx="2423160" cy="502920"/>
          </a:xfrm>
          <a:prstGeom prst="rect">
            <a:avLst/>
          </a:prstGeom>
          <a:noFill/>
          <a:ln/>
        </p:spPr>
        <p:txBody>
          <a:bodyPr wrap="square" lIns="1016" tIns="1016" rIns="1016" bIns="1016" rtlCol="0" anchor="t">
            <a:normAutofit/>
          </a:bodyPr>
          <a:lstStyle/>
          <a:p>
            <a:pPr algn="ctr" indent="0" marL="0">
              <a:buNone/>
            </a:pPr>
            <a:r>
              <a:rPr lang="en-US" sz="1250" dirty="0">
                <a:solidFill>
                  <a:srgbClr val="101828"/>
                </a:solidFill>
                <a:latin typeface="Aptos" pitchFamily="34" charset="0"/>
                <a:ea typeface="Aptos" pitchFamily="34" charset="-122"/>
                <a:cs typeface="Aptos" pitchFamily="34" charset="-120"/>
              </a:rPr>
              <a:t>Exclude role assignments and secrets unless needed</a:t>
            </a:r>
            <a:endParaRPr lang="en-US" sz="1250" dirty="0"/>
          </a:p>
        </p:txBody>
      </p:sp>
      <p:sp>
        <p:nvSpPr>
          <p:cNvPr id="16" name="Shape 14"/>
          <p:cNvSpPr/>
          <p:nvPr/>
        </p:nvSpPr>
        <p:spPr>
          <a:xfrm>
            <a:off x="8092440" y="1783080"/>
            <a:ext cx="2606040" cy="365760"/>
          </a:xfrm>
          <a:prstGeom prst="roundRect">
            <a:avLst/>
          </a:prstGeom>
          <a:solidFill>
            <a:srgbClr val="0F8A5F"/>
          </a:solidFill>
          <a:ln w="12700">
            <a:solidFill>
              <a:srgbClr val="0F8A5F">
                <a:alpha val="0"/>
              </a:srgbClr>
            </a:solidFill>
            <a:prstDash val="solid"/>
          </a:ln>
        </p:spPr>
      </p:sp>
      <p:sp>
        <p:nvSpPr>
          <p:cNvPr id="17" name="Text 15"/>
          <p:cNvSpPr/>
          <p:nvPr/>
        </p:nvSpPr>
        <p:spPr>
          <a:xfrm>
            <a:off x="8202168" y="1892808"/>
            <a:ext cx="2386584" cy="146304"/>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Assignable scope</a:t>
            </a:r>
            <a:endParaRPr lang="en-US" sz="950" dirty="0"/>
          </a:p>
        </p:txBody>
      </p:sp>
      <p:sp>
        <p:nvSpPr>
          <p:cNvPr id="18" name="Text 16"/>
          <p:cNvSpPr/>
          <p:nvPr/>
        </p:nvSpPr>
        <p:spPr>
          <a:xfrm>
            <a:off x="8183880" y="2395728"/>
            <a:ext cx="2423160" cy="502920"/>
          </a:xfrm>
          <a:prstGeom prst="rect">
            <a:avLst/>
          </a:prstGeom>
          <a:noFill/>
          <a:ln/>
        </p:spPr>
        <p:txBody>
          <a:bodyPr wrap="square" lIns="1016" tIns="1016" rIns="1016" bIns="1016" rtlCol="0" anchor="t">
            <a:normAutofit/>
          </a:bodyPr>
          <a:lstStyle/>
          <a:p>
            <a:pPr algn="ctr" indent="0" marL="0">
              <a:buNone/>
            </a:pPr>
            <a:r>
              <a:rPr lang="en-US" sz="1250" dirty="0">
                <a:solidFill>
                  <a:srgbClr val="101828"/>
                </a:solidFill>
                <a:latin typeface="Aptos" pitchFamily="34" charset="0"/>
                <a:ea typeface="Aptos" pitchFamily="34" charset="-122"/>
                <a:cs typeface="Aptos" pitchFamily="34" charset="-120"/>
              </a:rPr>
              <a:t>Only specific resource group or subscription</a:t>
            </a:r>
            <a:endParaRPr lang="en-US" sz="1250" dirty="0"/>
          </a:p>
        </p:txBody>
      </p:sp>
      <p:sp>
        <p:nvSpPr>
          <p:cNvPr id="19" name="Shape 17"/>
          <p:cNvSpPr/>
          <p:nvPr/>
        </p:nvSpPr>
        <p:spPr>
          <a:xfrm>
            <a:off x="1828800" y="3429000"/>
            <a:ext cx="8595360" cy="1664208"/>
          </a:xfrm>
          <a:prstGeom prst="roundRect">
            <a:avLst/>
          </a:prstGeom>
          <a:solidFill>
            <a:srgbClr val="091827"/>
          </a:solidFill>
          <a:ln w="12700">
            <a:solidFill>
              <a:srgbClr val="091827"/>
            </a:solidFill>
            <a:prstDash val="solid"/>
          </a:ln>
        </p:spPr>
      </p:sp>
      <p:sp>
        <p:nvSpPr>
          <p:cNvPr id="20" name="Text 18"/>
          <p:cNvSpPr/>
          <p:nvPr/>
        </p:nvSpPr>
        <p:spPr>
          <a:xfrm>
            <a:off x="2057400" y="3611880"/>
            <a:ext cx="8046720" cy="1234440"/>
          </a:xfrm>
          <a:prstGeom prst="rect">
            <a:avLst/>
          </a:prstGeom>
          <a:noFill/>
          <a:ln/>
        </p:spPr>
        <p:txBody>
          <a:bodyPr wrap="square" lIns="0" tIns="0" rIns="0" bIns="0" rtlCol="0" anchor="ctr">
            <a:normAutofit/>
          </a:bodyPr>
          <a:lstStyle/>
          <a:p>
            <a:pPr indent="0" marL="0">
              <a:buNone/>
            </a:pPr>
            <a:r>
              <a:rPr lang="en-US" sz="1220" dirty="0">
                <a:solidFill>
                  <a:srgbClr val="FFFFFF"/>
                </a:solidFill>
                <a:latin typeface="Cascadia Mono" pitchFamily="34" charset="0"/>
                <a:ea typeface="Cascadia Mono" pitchFamily="34" charset="-122"/>
                <a:cs typeface="Cascadia Mono" pitchFamily="34" charset="-120"/>
              </a:rPr>
              <a:t>{</a:t>
            </a:r>
            <a:endParaRPr lang="en-US" sz="1220" dirty="0"/>
          </a:p>
          <a:p>
            <a:pPr indent="0" marL="0">
              <a:buNone/>
            </a:pPr>
            <a:r>
              <a:rPr lang="en-US" sz="1220" dirty="0">
                <a:solidFill>
                  <a:srgbClr val="FFFFFF"/>
                </a:solidFill>
                <a:latin typeface="Cascadia Mono" pitchFamily="34" charset="0"/>
                <a:ea typeface="Cascadia Mono" pitchFamily="34" charset="-122"/>
                <a:cs typeface="Cascadia Mono" pitchFamily="34" charset="-120"/>
              </a:rPr>
              <a:t>  "Actions": [</a:t>
            </a:r>
            <a:endParaRPr lang="en-US" sz="1220" dirty="0"/>
          </a:p>
          <a:p>
            <a:pPr indent="0" marL="0">
              <a:buNone/>
            </a:pPr>
            <a:r>
              <a:rPr lang="en-US" sz="1220" dirty="0">
                <a:solidFill>
                  <a:srgbClr val="FFFFFF"/>
                </a:solidFill>
                <a:latin typeface="Cascadia Mono" pitchFamily="34" charset="0"/>
                <a:ea typeface="Cascadia Mono" pitchFamily="34" charset="-122"/>
                <a:cs typeface="Cascadia Mono" pitchFamily="34" charset="-120"/>
              </a:rPr>
              <a:t>    "Microsoft.Web/sites/*",</a:t>
            </a:r>
            <a:endParaRPr lang="en-US" sz="1220" dirty="0"/>
          </a:p>
          <a:p>
            <a:pPr indent="0" marL="0">
              <a:buNone/>
            </a:pPr>
            <a:r>
              <a:rPr lang="en-US" sz="1220" dirty="0">
                <a:solidFill>
                  <a:srgbClr val="FFFFFF"/>
                </a:solidFill>
                <a:latin typeface="Cascadia Mono" pitchFamily="34" charset="0"/>
                <a:ea typeface="Cascadia Mono" pitchFamily="34" charset="-122"/>
                <a:cs typeface="Cascadia Mono" pitchFamily="34" charset="-120"/>
              </a:rPr>
              <a:t>    "Microsoft.Resources/deployments/*"</a:t>
            </a:r>
            <a:endParaRPr lang="en-US" sz="1220" dirty="0"/>
          </a:p>
          <a:p>
            <a:pPr indent="0" marL="0">
              <a:buNone/>
            </a:pPr>
            <a:r>
              <a:rPr lang="en-US" sz="1220" dirty="0">
                <a:solidFill>
                  <a:srgbClr val="FFFFFF"/>
                </a:solidFill>
                <a:latin typeface="Cascadia Mono" pitchFamily="34" charset="0"/>
                <a:ea typeface="Cascadia Mono" pitchFamily="34" charset="-122"/>
                <a:cs typeface="Cascadia Mono" pitchFamily="34" charset="-120"/>
              </a:rPr>
              <a:t>  ],</a:t>
            </a:r>
            <a:endParaRPr lang="en-US" sz="1220" dirty="0"/>
          </a:p>
          <a:p>
            <a:pPr indent="0" marL="0">
              <a:buNone/>
            </a:pPr>
            <a:r>
              <a:rPr lang="en-US" sz="1220" dirty="0">
                <a:solidFill>
                  <a:srgbClr val="FFFFFF"/>
                </a:solidFill>
                <a:latin typeface="Cascadia Mono" pitchFamily="34" charset="0"/>
                <a:ea typeface="Cascadia Mono" pitchFamily="34" charset="-122"/>
                <a:cs typeface="Cascadia Mono" pitchFamily="34" charset="-120"/>
              </a:rPr>
              <a:t>  "NotActions": [</a:t>
            </a:r>
            <a:endParaRPr lang="en-US" sz="1220" dirty="0"/>
          </a:p>
          <a:p>
            <a:pPr indent="0" marL="0">
              <a:buNone/>
            </a:pPr>
            <a:r>
              <a:rPr lang="en-US" sz="1220" dirty="0">
                <a:solidFill>
                  <a:srgbClr val="FFFFFF"/>
                </a:solidFill>
                <a:latin typeface="Cascadia Mono" pitchFamily="34" charset="0"/>
                <a:ea typeface="Cascadia Mono" pitchFamily="34" charset="-122"/>
                <a:cs typeface="Cascadia Mono" pitchFamily="34" charset="-120"/>
              </a:rPr>
              <a:t>    "Microsoft.Authorization/*/write"</a:t>
            </a:r>
            <a:endParaRPr lang="en-US" sz="1220" dirty="0"/>
          </a:p>
          <a:p>
            <a:pPr indent="0" marL="0">
              <a:buNone/>
            </a:pPr>
            <a:r>
              <a:rPr lang="en-US" sz="1220" dirty="0">
                <a:solidFill>
                  <a:srgbClr val="FFFFFF"/>
                </a:solidFill>
                <a:latin typeface="Cascadia Mono" pitchFamily="34" charset="0"/>
                <a:ea typeface="Cascadia Mono" pitchFamily="34" charset="-122"/>
                <a:cs typeface="Cascadia Mono" pitchFamily="34" charset="-120"/>
              </a:rPr>
              <a:t>  ],</a:t>
            </a:r>
            <a:endParaRPr lang="en-US" sz="1220" dirty="0"/>
          </a:p>
          <a:p>
            <a:pPr indent="0" marL="0">
              <a:buNone/>
            </a:pPr>
            <a:r>
              <a:rPr lang="en-US" sz="1220" dirty="0">
                <a:solidFill>
                  <a:srgbClr val="FFFFFF"/>
                </a:solidFill>
                <a:latin typeface="Cascadia Mono" pitchFamily="34" charset="0"/>
                <a:ea typeface="Cascadia Mono" pitchFamily="34" charset="-122"/>
                <a:cs typeface="Cascadia Mono" pitchFamily="34" charset="-120"/>
              </a:rPr>
              <a:t>  "AssignableScopes": [</a:t>
            </a:r>
            <a:endParaRPr lang="en-US" sz="1220" dirty="0"/>
          </a:p>
          <a:p>
            <a:pPr indent="0" marL="0">
              <a:buNone/>
            </a:pPr>
            <a:r>
              <a:rPr lang="en-US" sz="1220" dirty="0">
                <a:solidFill>
                  <a:srgbClr val="FFFFFF"/>
                </a:solidFill>
                <a:latin typeface="Cascadia Mono" pitchFamily="34" charset="0"/>
                <a:ea typeface="Cascadia Mono" pitchFamily="34" charset="-122"/>
                <a:cs typeface="Cascadia Mono" pitchFamily="34" charset="-120"/>
              </a:rPr>
              <a:t>    "/subscriptions/.../resourceGroups/rg-saas-prod"</a:t>
            </a:r>
            <a:endParaRPr lang="en-US" sz="1220" dirty="0"/>
          </a:p>
          <a:p>
            <a:pPr indent="0" marL="0">
              <a:buNone/>
            </a:pPr>
            <a:r>
              <a:rPr lang="en-US" sz="1220" dirty="0">
                <a:solidFill>
                  <a:srgbClr val="FFFFFF"/>
                </a:solidFill>
                <a:latin typeface="Cascadia Mono" pitchFamily="34" charset="0"/>
                <a:ea typeface="Cascadia Mono" pitchFamily="34" charset="-122"/>
                <a:cs typeface="Cascadia Mono" pitchFamily="34" charset="-120"/>
              </a:rPr>
              <a:t>  ]</a:t>
            </a:r>
            <a:endParaRPr lang="en-US" sz="1220" dirty="0"/>
          </a:p>
          <a:p>
            <a:pPr indent="0" marL="0">
              <a:buNone/>
            </a:pPr>
            <a:r>
              <a:rPr lang="en-US" sz="1220" dirty="0">
                <a:solidFill>
                  <a:srgbClr val="FFFFFF"/>
                </a:solidFill>
                <a:latin typeface="Cascadia Mono" pitchFamily="34" charset="0"/>
                <a:ea typeface="Cascadia Mono" pitchFamily="34" charset="-122"/>
                <a:cs typeface="Cascadia Mono" pitchFamily="34" charset="-120"/>
              </a:rPr>
              <a:t>}</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333333">
                <a:alpha val="0"/>
              </a:srgbClr>
            </a:solidFill>
            <a:prstDash val="solid"/>
          </a:ln>
        </p:spPr>
      </p:sp>
      <p:sp>
        <p:nvSpPr>
          <p:cNvPr id="3" name="Shape 1"/>
          <p:cNvSpPr/>
          <p:nvPr/>
        </p:nvSpPr>
        <p:spPr>
          <a:xfrm>
            <a:off x="0" y="0"/>
            <a:ext cx="155448" cy="6858000"/>
          </a:xfrm>
          <a:prstGeom prst="rect">
            <a:avLst/>
          </a:prstGeom>
          <a:solidFill>
            <a:srgbClr val="1A73E8"/>
          </a:solidFill>
          <a:ln w="12700">
            <a:solidFill>
              <a:srgbClr val="333333">
                <a:alpha val="0"/>
              </a:srgbClr>
            </a:solidFill>
            <a:prstDash val="solid"/>
          </a:ln>
        </p:spPr>
      </p:sp>
      <p:sp>
        <p:nvSpPr>
          <p:cNvPr id="4" name="Text 2"/>
          <p:cNvSpPr/>
          <p:nvPr/>
        </p:nvSpPr>
        <p:spPr>
          <a:xfrm>
            <a:off x="502920" y="228600"/>
            <a:ext cx="7498080" cy="228600"/>
          </a:xfrm>
          <a:prstGeom prst="rect">
            <a:avLst/>
          </a:prstGeom>
          <a:noFill/>
          <a:ln/>
        </p:spPr>
        <p:txBody>
          <a:bodyPr wrap="square" lIns="0" tIns="0" rIns="0" bIns="0" rtlCol="0" anchor="ctr">
            <a:normAutofit/>
          </a:bodyPr>
          <a:lstStyle/>
          <a:p>
            <a:pPr indent="0" marL="0">
              <a:buNone/>
            </a:pPr>
            <a:r>
              <a:rPr lang="en-US" sz="850" b="1" dirty="0">
                <a:solidFill>
                  <a:srgbClr val="1A73E8"/>
                </a:solidFill>
                <a:latin typeface="Aptos" pitchFamily="34" charset="0"/>
                <a:ea typeface="Aptos" pitchFamily="34" charset="-122"/>
                <a:cs typeface="Aptos" pitchFamily="34" charset="-120"/>
              </a:rPr>
              <a:t>Blast-radius reduction</a:t>
            </a:r>
            <a:endParaRPr lang="en-US" sz="850" dirty="0"/>
          </a:p>
        </p:txBody>
      </p:sp>
      <p:sp>
        <p:nvSpPr>
          <p:cNvPr id="5" name="Text 3"/>
          <p:cNvSpPr/>
          <p:nvPr/>
        </p:nvSpPr>
        <p:spPr>
          <a:xfrm>
            <a:off x="502920" y="475488"/>
            <a:ext cx="9966960" cy="475488"/>
          </a:xfrm>
          <a:prstGeom prst="rect">
            <a:avLst/>
          </a:prstGeom>
          <a:noFill/>
          <a:ln/>
        </p:spPr>
        <p:txBody>
          <a:bodyPr wrap="square" lIns="254" tIns="254" rIns="254" bIns="254" rtlCol="0" anchor="ctr">
            <a:normAutofit/>
          </a:bodyPr>
          <a:lstStyle/>
          <a:p>
            <a:pPr indent="0" marL="0">
              <a:buNone/>
            </a:pPr>
            <a:r>
              <a:rPr lang="en-US" sz="2500" b="1" dirty="0">
                <a:solidFill>
                  <a:srgbClr val="101828"/>
                </a:solidFill>
                <a:latin typeface="Aptos Display" pitchFamily="34" charset="0"/>
                <a:ea typeface="Aptos Display" pitchFamily="34" charset="-122"/>
                <a:cs typeface="Aptos Display" pitchFamily="34" charset="-120"/>
              </a:rPr>
              <a:t>Design pattern: split identities by environment</a:t>
            </a:r>
            <a:endParaRPr lang="en-US" sz="2500" dirty="0"/>
          </a:p>
        </p:txBody>
      </p:sp>
      <p:sp>
        <p:nvSpPr>
          <p:cNvPr id="6" name="Shape 4"/>
          <p:cNvSpPr/>
          <p:nvPr/>
        </p:nvSpPr>
        <p:spPr>
          <a:xfrm>
            <a:off x="502920" y="1078992"/>
            <a:ext cx="10927080" cy="0"/>
          </a:xfrm>
          <a:prstGeom prst="line">
            <a:avLst/>
          </a:prstGeom>
          <a:noFill/>
          <a:ln w="12700">
            <a:solidFill>
              <a:srgbClr val="D0D5DD"/>
            </a:solidFill>
            <a:prstDash val="solid"/>
          </a:ln>
        </p:spPr>
      </p:sp>
      <p:sp>
        <p:nvSpPr>
          <p:cNvPr id="7" name="Text 5"/>
          <p:cNvSpPr/>
          <p:nvPr/>
        </p:nvSpPr>
        <p:spPr>
          <a:xfrm>
            <a:off x="502920" y="6492240"/>
            <a:ext cx="4114800" cy="182880"/>
          </a:xfrm>
          <a:prstGeom prst="rect">
            <a:avLst/>
          </a:prstGeom>
          <a:noFill/>
          <a:ln/>
        </p:spPr>
        <p:txBody>
          <a:bodyPr wrap="square" lIns="0" tIns="0" rIns="0" bIns="0" rtlCol="0" anchor="ctr">
            <a:normAutofit/>
          </a:bodyPr>
          <a:lstStyle/>
          <a:p>
            <a:pPr indent="0" marL="0">
              <a:buNone/>
            </a:pPr>
            <a:r>
              <a:rPr lang="en-US" sz="750" dirty="0">
                <a:solidFill>
                  <a:srgbClr val="475467"/>
                </a:solidFill>
              </a:rPr>
              <a:t>CESE323 | Least Privilege RBAC</a:t>
            </a:r>
            <a:endParaRPr lang="en-US" sz="750" dirty="0"/>
          </a:p>
        </p:txBody>
      </p:sp>
      <p:sp>
        <p:nvSpPr>
          <p:cNvPr id="8" name="Text 6"/>
          <p:cNvSpPr/>
          <p:nvPr/>
        </p:nvSpPr>
        <p:spPr>
          <a:xfrm>
            <a:off x="11109960" y="6428232"/>
            <a:ext cx="502920" cy="274320"/>
          </a:xfrm>
          <a:prstGeom prst="rect">
            <a:avLst/>
          </a:prstGeom>
          <a:noFill/>
          <a:ln/>
        </p:spPr>
        <p:txBody>
          <a:bodyPr wrap="square" lIns="0" tIns="0" rIns="0" bIns="0" rtlCol="0" anchor="ctr"/>
          <a:lstStyle/>
          <a:p>
            <a:pPr algn="r" indent="0" marL="0">
              <a:buNone/>
            </a:pPr>
            <a:r>
              <a:rPr lang="en-US" sz="900" b="1" dirty="0">
                <a:solidFill>
                  <a:srgbClr val="1A73E8"/>
                </a:solidFill>
              </a:rPr>
              <a:t>07</a:t>
            </a:r>
            <a:endParaRPr lang="en-US" sz="900" dirty="0"/>
          </a:p>
        </p:txBody>
      </p:sp>
      <p:sp>
        <p:nvSpPr>
          <p:cNvPr id="9" name="Shape 7"/>
          <p:cNvSpPr/>
          <p:nvPr/>
        </p:nvSpPr>
        <p:spPr>
          <a:xfrm>
            <a:off x="3337560" y="1901952"/>
            <a:ext cx="658368" cy="228600"/>
          </a:xfrm>
          <a:prstGeom prst="rightArrow">
            <a:avLst/>
          </a:prstGeom>
          <a:solidFill>
            <a:srgbClr val="1A73E8"/>
          </a:solidFill>
          <a:ln w="12700">
            <a:solidFill>
              <a:srgbClr val="1A73E8"/>
            </a:solidFill>
            <a:prstDash val="solid"/>
          </a:ln>
        </p:spPr>
      </p:sp>
      <p:sp>
        <p:nvSpPr>
          <p:cNvPr id="10" name="Shape 8"/>
          <p:cNvSpPr/>
          <p:nvPr/>
        </p:nvSpPr>
        <p:spPr>
          <a:xfrm>
            <a:off x="6629400" y="1901952"/>
            <a:ext cx="658368" cy="228600"/>
          </a:xfrm>
          <a:prstGeom prst="rightArrow">
            <a:avLst/>
          </a:prstGeom>
          <a:solidFill>
            <a:srgbClr val="1A73E8"/>
          </a:solidFill>
          <a:ln w="12700">
            <a:solidFill>
              <a:srgbClr val="1A73E8"/>
            </a:solidFill>
            <a:prstDash val="solid"/>
          </a:ln>
        </p:spPr>
      </p:sp>
      <p:sp>
        <p:nvSpPr>
          <p:cNvPr id="11" name="Shape 9"/>
          <p:cNvSpPr/>
          <p:nvPr/>
        </p:nvSpPr>
        <p:spPr>
          <a:xfrm>
            <a:off x="868680" y="1600200"/>
            <a:ext cx="2423160" cy="822960"/>
          </a:xfrm>
          <a:prstGeom prst="roundRect">
            <a:avLst/>
          </a:prstGeom>
          <a:solidFill>
            <a:srgbClr val="FFFFFF"/>
          </a:solidFill>
          <a:ln w="15240">
            <a:solidFill>
              <a:srgbClr val="1A73E8"/>
            </a:solidFill>
            <a:prstDash val="solid"/>
          </a:ln>
        </p:spPr>
      </p:sp>
      <p:sp>
        <p:nvSpPr>
          <p:cNvPr id="12" name="Shape 10"/>
          <p:cNvSpPr/>
          <p:nvPr/>
        </p:nvSpPr>
        <p:spPr>
          <a:xfrm>
            <a:off x="4160520" y="1600200"/>
            <a:ext cx="2423160" cy="822960"/>
          </a:xfrm>
          <a:prstGeom prst="roundRect">
            <a:avLst/>
          </a:prstGeom>
          <a:solidFill>
            <a:srgbClr val="FFFFFF"/>
          </a:solidFill>
          <a:ln w="15240">
            <a:solidFill>
              <a:srgbClr val="1A73E8"/>
            </a:solidFill>
            <a:prstDash val="solid"/>
          </a:ln>
        </p:spPr>
      </p:sp>
      <p:sp>
        <p:nvSpPr>
          <p:cNvPr id="13" name="Shape 11"/>
          <p:cNvSpPr/>
          <p:nvPr/>
        </p:nvSpPr>
        <p:spPr>
          <a:xfrm>
            <a:off x="7452360" y="1600200"/>
            <a:ext cx="2423160" cy="822960"/>
          </a:xfrm>
          <a:prstGeom prst="roundRect">
            <a:avLst/>
          </a:prstGeom>
          <a:solidFill>
            <a:srgbClr val="FFFFFF"/>
          </a:solidFill>
          <a:ln w="15240">
            <a:solidFill>
              <a:srgbClr val="1A73E8"/>
            </a:solidFill>
            <a:prstDash val="solid"/>
          </a:ln>
        </p:spPr>
      </p:sp>
      <p:sp>
        <p:nvSpPr>
          <p:cNvPr id="14" name="Text 12"/>
          <p:cNvSpPr/>
          <p:nvPr/>
        </p:nvSpPr>
        <p:spPr>
          <a:xfrm>
            <a:off x="1051560" y="1874520"/>
            <a:ext cx="2057400" cy="155448"/>
          </a:xfrm>
          <a:prstGeom prst="rect">
            <a:avLst/>
          </a:prstGeom>
          <a:noFill/>
          <a:ln/>
        </p:spPr>
        <p:txBody>
          <a:bodyPr wrap="square" lIns="0" tIns="0" rIns="0" bIns="0" rtlCol="0" anchor="ctr">
            <a:normAutofit/>
          </a:bodyPr>
          <a:lstStyle/>
          <a:p>
            <a:pPr algn="ctr" indent="0" marL="0">
              <a:buNone/>
            </a:pPr>
            <a:r>
              <a:rPr lang="en-US" sz="1250" b="1" dirty="0">
                <a:solidFill>
                  <a:srgbClr val="1A73E8"/>
                </a:solidFill>
              </a:rPr>
              <a:t>Dev pipeline</a:t>
            </a:r>
            <a:endParaRPr lang="en-US" sz="1250" dirty="0"/>
          </a:p>
        </p:txBody>
      </p:sp>
      <p:sp>
        <p:nvSpPr>
          <p:cNvPr id="15" name="Text 13"/>
          <p:cNvSpPr/>
          <p:nvPr/>
        </p:nvSpPr>
        <p:spPr>
          <a:xfrm>
            <a:off x="4279392" y="1874520"/>
            <a:ext cx="2176272" cy="155448"/>
          </a:xfrm>
          <a:prstGeom prst="rect">
            <a:avLst/>
          </a:prstGeom>
          <a:noFill/>
          <a:ln/>
        </p:spPr>
        <p:txBody>
          <a:bodyPr wrap="square" lIns="0" tIns="0" rIns="0" bIns="0" rtlCol="0" anchor="ctr">
            <a:normAutofit/>
          </a:bodyPr>
          <a:lstStyle/>
          <a:p>
            <a:pPr algn="ctr" indent="0" marL="0">
              <a:buNone/>
            </a:pPr>
            <a:r>
              <a:rPr lang="en-US" sz="1130" b="1" dirty="0">
                <a:solidFill>
                  <a:srgbClr val="101828"/>
                </a:solidFill>
              </a:rPr>
              <a:t>spn-saas-dev-deploy</a:t>
            </a:r>
            <a:endParaRPr lang="en-US" sz="1130" dirty="0"/>
          </a:p>
        </p:txBody>
      </p:sp>
      <p:sp>
        <p:nvSpPr>
          <p:cNvPr id="16" name="Text 14"/>
          <p:cNvSpPr/>
          <p:nvPr/>
        </p:nvSpPr>
        <p:spPr>
          <a:xfrm>
            <a:off x="7635240" y="1874520"/>
            <a:ext cx="2057400" cy="155448"/>
          </a:xfrm>
          <a:prstGeom prst="rect">
            <a:avLst/>
          </a:prstGeom>
          <a:noFill/>
          <a:ln/>
        </p:spPr>
        <p:txBody>
          <a:bodyPr wrap="square" lIns="0" tIns="0" rIns="0" bIns="0" rtlCol="0" anchor="ctr">
            <a:normAutofit/>
          </a:bodyPr>
          <a:lstStyle/>
          <a:p>
            <a:pPr algn="ctr" indent="0" marL="0">
              <a:buNone/>
            </a:pPr>
            <a:r>
              <a:rPr lang="en-US" sz="1130" b="1" dirty="0">
                <a:solidFill>
                  <a:srgbClr val="101828"/>
                </a:solidFill>
              </a:rPr>
              <a:t>rg-saas-dev only</a:t>
            </a:r>
            <a:endParaRPr lang="en-US" sz="1130" dirty="0"/>
          </a:p>
        </p:txBody>
      </p:sp>
      <p:sp>
        <p:nvSpPr>
          <p:cNvPr id="17" name="Shape 15"/>
          <p:cNvSpPr/>
          <p:nvPr/>
        </p:nvSpPr>
        <p:spPr>
          <a:xfrm>
            <a:off x="3337560" y="3319272"/>
            <a:ext cx="658368" cy="228600"/>
          </a:xfrm>
          <a:prstGeom prst="rightArrow">
            <a:avLst/>
          </a:prstGeom>
          <a:solidFill>
            <a:srgbClr val="F6A623"/>
          </a:solidFill>
          <a:ln w="12700">
            <a:solidFill>
              <a:srgbClr val="F6A623"/>
            </a:solidFill>
            <a:prstDash val="solid"/>
          </a:ln>
        </p:spPr>
      </p:sp>
      <p:sp>
        <p:nvSpPr>
          <p:cNvPr id="18" name="Shape 16"/>
          <p:cNvSpPr/>
          <p:nvPr/>
        </p:nvSpPr>
        <p:spPr>
          <a:xfrm>
            <a:off x="6629400" y="3319272"/>
            <a:ext cx="658368" cy="228600"/>
          </a:xfrm>
          <a:prstGeom prst="rightArrow">
            <a:avLst/>
          </a:prstGeom>
          <a:solidFill>
            <a:srgbClr val="F6A623"/>
          </a:solidFill>
          <a:ln w="12700">
            <a:solidFill>
              <a:srgbClr val="F6A623"/>
            </a:solidFill>
            <a:prstDash val="solid"/>
          </a:ln>
        </p:spPr>
      </p:sp>
      <p:sp>
        <p:nvSpPr>
          <p:cNvPr id="19" name="Shape 17"/>
          <p:cNvSpPr/>
          <p:nvPr/>
        </p:nvSpPr>
        <p:spPr>
          <a:xfrm>
            <a:off x="868680" y="3017520"/>
            <a:ext cx="2423160" cy="822960"/>
          </a:xfrm>
          <a:prstGeom prst="roundRect">
            <a:avLst/>
          </a:prstGeom>
          <a:solidFill>
            <a:srgbClr val="FFFFFF"/>
          </a:solidFill>
          <a:ln w="15240">
            <a:solidFill>
              <a:srgbClr val="F6A623"/>
            </a:solidFill>
            <a:prstDash val="solid"/>
          </a:ln>
        </p:spPr>
      </p:sp>
      <p:sp>
        <p:nvSpPr>
          <p:cNvPr id="20" name="Shape 18"/>
          <p:cNvSpPr/>
          <p:nvPr/>
        </p:nvSpPr>
        <p:spPr>
          <a:xfrm>
            <a:off x="4160520" y="3017520"/>
            <a:ext cx="2423160" cy="822960"/>
          </a:xfrm>
          <a:prstGeom prst="roundRect">
            <a:avLst/>
          </a:prstGeom>
          <a:solidFill>
            <a:srgbClr val="FFFFFF"/>
          </a:solidFill>
          <a:ln w="15240">
            <a:solidFill>
              <a:srgbClr val="F6A623"/>
            </a:solidFill>
            <a:prstDash val="solid"/>
          </a:ln>
        </p:spPr>
      </p:sp>
      <p:sp>
        <p:nvSpPr>
          <p:cNvPr id="21" name="Shape 19"/>
          <p:cNvSpPr/>
          <p:nvPr/>
        </p:nvSpPr>
        <p:spPr>
          <a:xfrm>
            <a:off x="7452360" y="3017520"/>
            <a:ext cx="2423160" cy="822960"/>
          </a:xfrm>
          <a:prstGeom prst="roundRect">
            <a:avLst/>
          </a:prstGeom>
          <a:solidFill>
            <a:srgbClr val="FFFFFF"/>
          </a:solidFill>
          <a:ln w="15240">
            <a:solidFill>
              <a:srgbClr val="F6A623"/>
            </a:solidFill>
            <a:prstDash val="solid"/>
          </a:ln>
        </p:spPr>
      </p:sp>
      <p:sp>
        <p:nvSpPr>
          <p:cNvPr id="22" name="Text 20"/>
          <p:cNvSpPr/>
          <p:nvPr/>
        </p:nvSpPr>
        <p:spPr>
          <a:xfrm>
            <a:off x="1051560" y="3291840"/>
            <a:ext cx="2057400" cy="155448"/>
          </a:xfrm>
          <a:prstGeom prst="rect">
            <a:avLst/>
          </a:prstGeom>
          <a:noFill/>
          <a:ln/>
        </p:spPr>
        <p:txBody>
          <a:bodyPr wrap="square" lIns="0" tIns="0" rIns="0" bIns="0" rtlCol="0" anchor="ctr">
            <a:normAutofit/>
          </a:bodyPr>
          <a:lstStyle/>
          <a:p>
            <a:pPr algn="ctr" indent="0" marL="0">
              <a:buNone/>
            </a:pPr>
            <a:r>
              <a:rPr lang="en-US" sz="1250" b="1" dirty="0">
                <a:solidFill>
                  <a:srgbClr val="F6A623"/>
                </a:solidFill>
              </a:rPr>
              <a:t>Stage pipeline</a:t>
            </a:r>
            <a:endParaRPr lang="en-US" sz="1250" dirty="0"/>
          </a:p>
        </p:txBody>
      </p:sp>
      <p:sp>
        <p:nvSpPr>
          <p:cNvPr id="23" name="Text 21"/>
          <p:cNvSpPr/>
          <p:nvPr/>
        </p:nvSpPr>
        <p:spPr>
          <a:xfrm>
            <a:off x="4279392" y="3291840"/>
            <a:ext cx="2176272" cy="155448"/>
          </a:xfrm>
          <a:prstGeom prst="rect">
            <a:avLst/>
          </a:prstGeom>
          <a:noFill/>
          <a:ln/>
        </p:spPr>
        <p:txBody>
          <a:bodyPr wrap="square" lIns="0" tIns="0" rIns="0" bIns="0" rtlCol="0" anchor="ctr">
            <a:normAutofit/>
          </a:bodyPr>
          <a:lstStyle/>
          <a:p>
            <a:pPr algn="ctr" indent="0" marL="0">
              <a:buNone/>
            </a:pPr>
            <a:r>
              <a:rPr lang="en-US" sz="1130" b="1" dirty="0">
                <a:solidFill>
                  <a:srgbClr val="101828"/>
                </a:solidFill>
              </a:rPr>
              <a:t>spn-saas-stage-deploy</a:t>
            </a:r>
            <a:endParaRPr lang="en-US" sz="1130" dirty="0"/>
          </a:p>
        </p:txBody>
      </p:sp>
      <p:sp>
        <p:nvSpPr>
          <p:cNvPr id="24" name="Text 22"/>
          <p:cNvSpPr/>
          <p:nvPr/>
        </p:nvSpPr>
        <p:spPr>
          <a:xfrm>
            <a:off x="7635240" y="3291840"/>
            <a:ext cx="2057400" cy="155448"/>
          </a:xfrm>
          <a:prstGeom prst="rect">
            <a:avLst/>
          </a:prstGeom>
          <a:noFill/>
          <a:ln/>
        </p:spPr>
        <p:txBody>
          <a:bodyPr wrap="square" lIns="0" tIns="0" rIns="0" bIns="0" rtlCol="0" anchor="ctr">
            <a:normAutofit/>
          </a:bodyPr>
          <a:lstStyle/>
          <a:p>
            <a:pPr algn="ctr" indent="0" marL="0">
              <a:buNone/>
            </a:pPr>
            <a:r>
              <a:rPr lang="en-US" sz="1130" b="1" dirty="0">
                <a:solidFill>
                  <a:srgbClr val="101828"/>
                </a:solidFill>
              </a:rPr>
              <a:t>rg-saas-stage only</a:t>
            </a:r>
            <a:endParaRPr lang="en-US" sz="1130" dirty="0"/>
          </a:p>
        </p:txBody>
      </p:sp>
      <p:sp>
        <p:nvSpPr>
          <p:cNvPr id="25" name="Shape 23"/>
          <p:cNvSpPr/>
          <p:nvPr/>
        </p:nvSpPr>
        <p:spPr>
          <a:xfrm>
            <a:off x="3337560" y="4736592"/>
            <a:ext cx="658368" cy="228600"/>
          </a:xfrm>
          <a:prstGeom prst="rightArrow">
            <a:avLst/>
          </a:prstGeom>
          <a:solidFill>
            <a:srgbClr val="0F8A5F"/>
          </a:solidFill>
          <a:ln w="12700">
            <a:solidFill>
              <a:srgbClr val="0F8A5F"/>
            </a:solidFill>
            <a:prstDash val="solid"/>
          </a:ln>
        </p:spPr>
      </p:sp>
      <p:sp>
        <p:nvSpPr>
          <p:cNvPr id="26" name="Shape 24"/>
          <p:cNvSpPr/>
          <p:nvPr/>
        </p:nvSpPr>
        <p:spPr>
          <a:xfrm>
            <a:off x="6629400" y="4736592"/>
            <a:ext cx="658368" cy="228600"/>
          </a:xfrm>
          <a:prstGeom prst="rightArrow">
            <a:avLst/>
          </a:prstGeom>
          <a:solidFill>
            <a:srgbClr val="0F8A5F"/>
          </a:solidFill>
          <a:ln w="12700">
            <a:solidFill>
              <a:srgbClr val="0F8A5F"/>
            </a:solidFill>
            <a:prstDash val="solid"/>
          </a:ln>
        </p:spPr>
      </p:sp>
      <p:sp>
        <p:nvSpPr>
          <p:cNvPr id="27" name="Shape 25"/>
          <p:cNvSpPr/>
          <p:nvPr/>
        </p:nvSpPr>
        <p:spPr>
          <a:xfrm>
            <a:off x="868680" y="4434840"/>
            <a:ext cx="2423160" cy="822960"/>
          </a:xfrm>
          <a:prstGeom prst="roundRect">
            <a:avLst/>
          </a:prstGeom>
          <a:solidFill>
            <a:srgbClr val="FFFFFF"/>
          </a:solidFill>
          <a:ln w="15240">
            <a:solidFill>
              <a:srgbClr val="0F8A5F"/>
            </a:solidFill>
            <a:prstDash val="solid"/>
          </a:ln>
        </p:spPr>
      </p:sp>
      <p:sp>
        <p:nvSpPr>
          <p:cNvPr id="28" name="Shape 26"/>
          <p:cNvSpPr/>
          <p:nvPr/>
        </p:nvSpPr>
        <p:spPr>
          <a:xfrm>
            <a:off x="4160520" y="4434840"/>
            <a:ext cx="2423160" cy="822960"/>
          </a:xfrm>
          <a:prstGeom prst="roundRect">
            <a:avLst/>
          </a:prstGeom>
          <a:solidFill>
            <a:srgbClr val="FFFFFF"/>
          </a:solidFill>
          <a:ln w="15240">
            <a:solidFill>
              <a:srgbClr val="0F8A5F"/>
            </a:solidFill>
            <a:prstDash val="solid"/>
          </a:ln>
        </p:spPr>
      </p:sp>
      <p:sp>
        <p:nvSpPr>
          <p:cNvPr id="29" name="Shape 27"/>
          <p:cNvSpPr/>
          <p:nvPr/>
        </p:nvSpPr>
        <p:spPr>
          <a:xfrm>
            <a:off x="7452360" y="4434840"/>
            <a:ext cx="2423160" cy="822960"/>
          </a:xfrm>
          <a:prstGeom prst="roundRect">
            <a:avLst/>
          </a:prstGeom>
          <a:solidFill>
            <a:srgbClr val="FFFFFF"/>
          </a:solidFill>
          <a:ln w="15240">
            <a:solidFill>
              <a:srgbClr val="0F8A5F"/>
            </a:solidFill>
            <a:prstDash val="solid"/>
          </a:ln>
        </p:spPr>
      </p:sp>
      <p:sp>
        <p:nvSpPr>
          <p:cNvPr id="30" name="Text 28"/>
          <p:cNvSpPr/>
          <p:nvPr/>
        </p:nvSpPr>
        <p:spPr>
          <a:xfrm>
            <a:off x="1051560" y="4709160"/>
            <a:ext cx="2057400" cy="155448"/>
          </a:xfrm>
          <a:prstGeom prst="rect">
            <a:avLst/>
          </a:prstGeom>
          <a:noFill/>
          <a:ln/>
        </p:spPr>
        <p:txBody>
          <a:bodyPr wrap="square" lIns="0" tIns="0" rIns="0" bIns="0" rtlCol="0" anchor="ctr">
            <a:normAutofit/>
          </a:bodyPr>
          <a:lstStyle/>
          <a:p>
            <a:pPr algn="ctr" indent="0" marL="0">
              <a:buNone/>
            </a:pPr>
            <a:r>
              <a:rPr lang="en-US" sz="1250" b="1" dirty="0">
                <a:solidFill>
                  <a:srgbClr val="0F8A5F"/>
                </a:solidFill>
              </a:rPr>
              <a:t>Prod pipeline</a:t>
            </a:r>
            <a:endParaRPr lang="en-US" sz="1250" dirty="0"/>
          </a:p>
        </p:txBody>
      </p:sp>
      <p:sp>
        <p:nvSpPr>
          <p:cNvPr id="31" name="Text 29"/>
          <p:cNvSpPr/>
          <p:nvPr/>
        </p:nvSpPr>
        <p:spPr>
          <a:xfrm>
            <a:off x="4279392" y="4709160"/>
            <a:ext cx="2176272" cy="155448"/>
          </a:xfrm>
          <a:prstGeom prst="rect">
            <a:avLst/>
          </a:prstGeom>
          <a:noFill/>
          <a:ln/>
        </p:spPr>
        <p:txBody>
          <a:bodyPr wrap="square" lIns="0" tIns="0" rIns="0" bIns="0" rtlCol="0" anchor="ctr">
            <a:normAutofit/>
          </a:bodyPr>
          <a:lstStyle/>
          <a:p>
            <a:pPr algn="ctr" indent="0" marL="0">
              <a:buNone/>
            </a:pPr>
            <a:r>
              <a:rPr lang="en-US" sz="1130" b="1" dirty="0">
                <a:solidFill>
                  <a:srgbClr val="101828"/>
                </a:solidFill>
              </a:rPr>
              <a:t>spn-saas-prod-deploy</a:t>
            </a:r>
            <a:endParaRPr lang="en-US" sz="1130" dirty="0"/>
          </a:p>
        </p:txBody>
      </p:sp>
      <p:sp>
        <p:nvSpPr>
          <p:cNvPr id="32" name="Text 30"/>
          <p:cNvSpPr/>
          <p:nvPr/>
        </p:nvSpPr>
        <p:spPr>
          <a:xfrm>
            <a:off x="7635240" y="4709160"/>
            <a:ext cx="2057400" cy="155448"/>
          </a:xfrm>
          <a:prstGeom prst="rect">
            <a:avLst/>
          </a:prstGeom>
          <a:noFill/>
          <a:ln/>
        </p:spPr>
        <p:txBody>
          <a:bodyPr wrap="square" lIns="0" tIns="0" rIns="0" bIns="0" rtlCol="0" anchor="ctr">
            <a:normAutofit/>
          </a:bodyPr>
          <a:lstStyle/>
          <a:p>
            <a:pPr algn="ctr" indent="0" marL="0">
              <a:buNone/>
            </a:pPr>
            <a:r>
              <a:rPr lang="en-US" sz="1130" b="1" dirty="0">
                <a:solidFill>
                  <a:srgbClr val="101828"/>
                </a:solidFill>
              </a:rPr>
              <a:t>rg-saas-prod only + approval</a:t>
            </a:r>
            <a:endParaRPr lang="en-US" sz="1130" dirty="0"/>
          </a:p>
        </p:txBody>
      </p:sp>
      <p:sp>
        <p:nvSpPr>
          <p:cNvPr id="33" name="Text 31"/>
          <p:cNvSpPr/>
          <p:nvPr/>
        </p:nvSpPr>
        <p:spPr>
          <a:xfrm>
            <a:off x="1051560" y="5833872"/>
            <a:ext cx="9875520" cy="347472"/>
          </a:xfrm>
          <a:prstGeom prst="rect">
            <a:avLst/>
          </a:prstGeom>
          <a:noFill/>
          <a:ln/>
        </p:spPr>
        <p:txBody>
          <a:bodyPr wrap="square" lIns="1016" tIns="1016" rIns="1016" bIns="1016" rtlCol="0" anchor="t">
            <a:normAutofit/>
          </a:bodyPr>
          <a:lstStyle/>
          <a:p>
            <a:pPr algn="ctr" indent="0" marL="0">
              <a:buNone/>
            </a:pPr>
            <a:r>
              <a:rPr lang="en-US" sz="1750" b="1" dirty="0">
                <a:solidFill>
                  <a:srgbClr val="101828"/>
                </a:solidFill>
                <a:latin typeface="Aptos" pitchFamily="34" charset="0"/>
                <a:ea typeface="Aptos" pitchFamily="34" charset="-122"/>
                <a:cs typeface="Aptos" pitchFamily="34" charset="-120"/>
              </a:rPr>
              <a:t>Rule: no identity should cross Dev → Stage → Prod unless explicitly justified, approved, and monitored.</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333333">
                <a:alpha val="0"/>
              </a:srgbClr>
            </a:solidFill>
            <a:prstDash val="solid"/>
          </a:ln>
        </p:spPr>
      </p:sp>
      <p:sp>
        <p:nvSpPr>
          <p:cNvPr id="3" name="Shape 1"/>
          <p:cNvSpPr/>
          <p:nvPr/>
        </p:nvSpPr>
        <p:spPr>
          <a:xfrm>
            <a:off x="0" y="0"/>
            <a:ext cx="155448" cy="6858000"/>
          </a:xfrm>
          <a:prstGeom prst="rect">
            <a:avLst/>
          </a:prstGeom>
          <a:solidFill>
            <a:srgbClr val="1A73E8"/>
          </a:solidFill>
          <a:ln w="12700">
            <a:solidFill>
              <a:srgbClr val="333333">
                <a:alpha val="0"/>
              </a:srgbClr>
            </a:solidFill>
            <a:prstDash val="solid"/>
          </a:ln>
        </p:spPr>
      </p:sp>
      <p:sp>
        <p:nvSpPr>
          <p:cNvPr id="4" name="Text 2"/>
          <p:cNvSpPr/>
          <p:nvPr/>
        </p:nvSpPr>
        <p:spPr>
          <a:xfrm>
            <a:off x="502920" y="228600"/>
            <a:ext cx="7498080" cy="228600"/>
          </a:xfrm>
          <a:prstGeom prst="rect">
            <a:avLst/>
          </a:prstGeom>
          <a:noFill/>
          <a:ln/>
        </p:spPr>
        <p:txBody>
          <a:bodyPr wrap="square" lIns="0" tIns="0" rIns="0" bIns="0" rtlCol="0" anchor="ctr">
            <a:normAutofit/>
          </a:bodyPr>
          <a:lstStyle/>
          <a:p>
            <a:pPr indent="0" marL="0">
              <a:buNone/>
            </a:pPr>
            <a:r>
              <a:rPr lang="en-US" sz="850" b="1" dirty="0">
                <a:solidFill>
                  <a:srgbClr val="1A73E8"/>
                </a:solidFill>
                <a:latin typeface="Aptos" pitchFamily="34" charset="0"/>
                <a:ea typeface="Aptos" pitchFamily="34" charset="-122"/>
                <a:cs typeface="Aptos" pitchFamily="34" charset="-120"/>
              </a:rPr>
              <a:t>Demo sequence 1</a:t>
            </a:r>
            <a:endParaRPr lang="en-US" sz="850" dirty="0"/>
          </a:p>
        </p:txBody>
      </p:sp>
      <p:sp>
        <p:nvSpPr>
          <p:cNvPr id="5" name="Text 3"/>
          <p:cNvSpPr/>
          <p:nvPr/>
        </p:nvSpPr>
        <p:spPr>
          <a:xfrm>
            <a:off x="502920" y="475488"/>
            <a:ext cx="9966960" cy="475488"/>
          </a:xfrm>
          <a:prstGeom prst="rect">
            <a:avLst/>
          </a:prstGeom>
          <a:noFill/>
          <a:ln/>
        </p:spPr>
        <p:txBody>
          <a:bodyPr wrap="square" lIns="254" tIns="254" rIns="254" bIns="254" rtlCol="0" anchor="ctr">
            <a:normAutofit/>
          </a:bodyPr>
          <a:lstStyle/>
          <a:p>
            <a:pPr indent="0" marL="0">
              <a:buNone/>
            </a:pPr>
            <a:r>
              <a:rPr lang="en-US" sz="2500" b="1" dirty="0">
                <a:solidFill>
                  <a:srgbClr val="101828"/>
                </a:solidFill>
                <a:latin typeface="Aptos Display" pitchFamily="34" charset="0"/>
                <a:ea typeface="Aptos Display" pitchFamily="34" charset="-122"/>
                <a:cs typeface="Aptos Display" pitchFamily="34" charset="-120"/>
              </a:rPr>
              <a:t>Practical portal demo: prepare the lab objects</a:t>
            </a:r>
            <a:endParaRPr lang="en-US" sz="2500" dirty="0"/>
          </a:p>
        </p:txBody>
      </p:sp>
      <p:sp>
        <p:nvSpPr>
          <p:cNvPr id="6" name="Shape 4"/>
          <p:cNvSpPr/>
          <p:nvPr/>
        </p:nvSpPr>
        <p:spPr>
          <a:xfrm>
            <a:off x="502920" y="1078992"/>
            <a:ext cx="10927080" cy="0"/>
          </a:xfrm>
          <a:prstGeom prst="line">
            <a:avLst/>
          </a:prstGeom>
          <a:noFill/>
          <a:ln w="12700">
            <a:solidFill>
              <a:srgbClr val="D0D5DD"/>
            </a:solidFill>
            <a:prstDash val="solid"/>
          </a:ln>
        </p:spPr>
      </p:sp>
      <p:sp>
        <p:nvSpPr>
          <p:cNvPr id="7" name="Text 5"/>
          <p:cNvSpPr/>
          <p:nvPr/>
        </p:nvSpPr>
        <p:spPr>
          <a:xfrm>
            <a:off x="502920" y="6492240"/>
            <a:ext cx="4114800" cy="182880"/>
          </a:xfrm>
          <a:prstGeom prst="rect">
            <a:avLst/>
          </a:prstGeom>
          <a:noFill/>
          <a:ln/>
        </p:spPr>
        <p:txBody>
          <a:bodyPr wrap="square" lIns="0" tIns="0" rIns="0" bIns="0" rtlCol="0" anchor="ctr">
            <a:normAutofit/>
          </a:bodyPr>
          <a:lstStyle/>
          <a:p>
            <a:pPr indent="0" marL="0">
              <a:buNone/>
            </a:pPr>
            <a:r>
              <a:rPr lang="en-US" sz="750" dirty="0">
                <a:solidFill>
                  <a:srgbClr val="475467"/>
                </a:solidFill>
              </a:rPr>
              <a:t>CESE323 | Least Privilege RBAC</a:t>
            </a:r>
            <a:endParaRPr lang="en-US" sz="750" dirty="0"/>
          </a:p>
        </p:txBody>
      </p:sp>
      <p:sp>
        <p:nvSpPr>
          <p:cNvPr id="8" name="Text 6"/>
          <p:cNvSpPr/>
          <p:nvPr/>
        </p:nvSpPr>
        <p:spPr>
          <a:xfrm>
            <a:off x="11109960" y="6428232"/>
            <a:ext cx="502920" cy="274320"/>
          </a:xfrm>
          <a:prstGeom prst="rect">
            <a:avLst/>
          </a:prstGeom>
          <a:noFill/>
          <a:ln/>
        </p:spPr>
        <p:txBody>
          <a:bodyPr wrap="square" lIns="0" tIns="0" rIns="0" bIns="0" rtlCol="0" anchor="ctr"/>
          <a:lstStyle/>
          <a:p>
            <a:pPr algn="r" indent="0" marL="0">
              <a:buNone/>
            </a:pPr>
            <a:r>
              <a:rPr lang="en-US" sz="900" b="1" dirty="0">
                <a:solidFill>
                  <a:srgbClr val="1A73E8"/>
                </a:solidFill>
              </a:rPr>
              <a:t>08</a:t>
            </a:r>
            <a:endParaRPr lang="en-US" sz="900" dirty="0"/>
          </a:p>
        </p:txBody>
      </p:sp>
      <p:sp>
        <p:nvSpPr>
          <p:cNvPr id="9" name="Shape 7"/>
          <p:cNvSpPr/>
          <p:nvPr/>
        </p:nvSpPr>
        <p:spPr>
          <a:xfrm>
            <a:off x="868680" y="1527048"/>
            <a:ext cx="438912" cy="438912"/>
          </a:xfrm>
          <a:prstGeom prst="ellipse">
            <a:avLst/>
          </a:prstGeom>
          <a:solidFill>
            <a:srgbClr val="1A73E8"/>
          </a:solidFill>
          <a:ln w="12700">
            <a:solidFill>
              <a:srgbClr val="333333">
                <a:alpha val="0"/>
              </a:srgbClr>
            </a:solidFill>
            <a:prstDash val="solid"/>
          </a:ln>
        </p:spPr>
      </p:sp>
      <p:sp>
        <p:nvSpPr>
          <p:cNvPr id="10" name="Text 8"/>
          <p:cNvSpPr/>
          <p:nvPr/>
        </p:nvSpPr>
        <p:spPr>
          <a:xfrm>
            <a:off x="987552" y="1682496"/>
            <a:ext cx="201168" cy="91440"/>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1" name="Text 9"/>
          <p:cNvSpPr/>
          <p:nvPr/>
        </p:nvSpPr>
        <p:spPr>
          <a:xfrm>
            <a:off x="1536192" y="1417320"/>
            <a:ext cx="4572000" cy="228600"/>
          </a:xfrm>
          <a:prstGeom prst="rect">
            <a:avLst/>
          </a:prstGeom>
          <a:noFill/>
          <a:ln/>
        </p:spPr>
        <p:txBody>
          <a:bodyPr wrap="square" lIns="1016" tIns="1016" rIns="1016" bIns="1016" rtlCol="0" anchor="t">
            <a:normAutofit/>
          </a:bodyPr>
          <a:lstStyle/>
          <a:p>
            <a:pPr algn="l" indent="0" marL="0">
              <a:buNone/>
            </a:pPr>
            <a:r>
              <a:rPr lang="en-US" sz="1450" b="1" dirty="0">
                <a:solidFill>
                  <a:srgbClr val="101828"/>
                </a:solidFill>
                <a:latin typeface="Aptos" pitchFamily="34" charset="0"/>
                <a:ea typeface="Aptos" pitchFamily="34" charset="-122"/>
                <a:cs typeface="Aptos" pitchFamily="34" charset="-120"/>
              </a:rPr>
              <a:t>Create or identify resource groups</a:t>
            </a:r>
            <a:endParaRPr lang="en-US" sz="1450" dirty="0"/>
          </a:p>
        </p:txBody>
      </p:sp>
      <p:sp>
        <p:nvSpPr>
          <p:cNvPr id="12" name="Text 10"/>
          <p:cNvSpPr/>
          <p:nvPr/>
        </p:nvSpPr>
        <p:spPr>
          <a:xfrm>
            <a:off x="1536192" y="1764792"/>
            <a:ext cx="6720840" cy="256032"/>
          </a:xfrm>
          <a:prstGeom prst="rect">
            <a:avLst/>
          </a:prstGeom>
          <a:noFill/>
          <a:ln/>
        </p:spPr>
        <p:txBody>
          <a:bodyPr wrap="square" lIns="1016" tIns="1016" rIns="1016" bIns="1016" rtlCol="0" anchor="t">
            <a:normAutofit/>
          </a:bodyPr>
          <a:lstStyle/>
          <a:p>
            <a:pPr algn="l" indent="0" marL="0">
              <a:buNone/>
            </a:pPr>
            <a:r>
              <a:rPr lang="en-US" sz="1250" dirty="0">
                <a:solidFill>
                  <a:srgbClr val="475467"/>
                </a:solidFill>
                <a:latin typeface="Aptos" pitchFamily="34" charset="0"/>
                <a:ea typeface="Aptos" pitchFamily="34" charset="-122"/>
                <a:cs typeface="Aptos" pitchFamily="34" charset="-120"/>
              </a:rPr>
              <a:t>rg-saas-dev, rg-saas-stage, rg-saas-prod</a:t>
            </a:r>
            <a:endParaRPr lang="en-US" sz="1250" dirty="0"/>
          </a:p>
        </p:txBody>
      </p:sp>
      <p:sp>
        <p:nvSpPr>
          <p:cNvPr id="13" name="Shape 11"/>
          <p:cNvSpPr/>
          <p:nvPr/>
        </p:nvSpPr>
        <p:spPr>
          <a:xfrm>
            <a:off x="868680" y="2624328"/>
            <a:ext cx="438912" cy="438912"/>
          </a:xfrm>
          <a:prstGeom prst="ellipse">
            <a:avLst/>
          </a:prstGeom>
          <a:solidFill>
            <a:srgbClr val="1A73E8"/>
          </a:solidFill>
          <a:ln w="12700">
            <a:solidFill>
              <a:srgbClr val="333333">
                <a:alpha val="0"/>
              </a:srgbClr>
            </a:solidFill>
            <a:prstDash val="solid"/>
          </a:ln>
        </p:spPr>
      </p:sp>
      <p:sp>
        <p:nvSpPr>
          <p:cNvPr id="14" name="Text 12"/>
          <p:cNvSpPr/>
          <p:nvPr/>
        </p:nvSpPr>
        <p:spPr>
          <a:xfrm>
            <a:off x="987552" y="2779776"/>
            <a:ext cx="201168" cy="91440"/>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5" name="Text 13"/>
          <p:cNvSpPr/>
          <p:nvPr/>
        </p:nvSpPr>
        <p:spPr>
          <a:xfrm>
            <a:off x="1536192" y="2514600"/>
            <a:ext cx="4572000" cy="228600"/>
          </a:xfrm>
          <a:prstGeom prst="rect">
            <a:avLst/>
          </a:prstGeom>
          <a:noFill/>
          <a:ln/>
        </p:spPr>
        <p:txBody>
          <a:bodyPr wrap="square" lIns="1016" tIns="1016" rIns="1016" bIns="1016" rtlCol="0" anchor="t">
            <a:normAutofit/>
          </a:bodyPr>
          <a:lstStyle/>
          <a:p>
            <a:pPr algn="l" indent="0" marL="0">
              <a:buNone/>
            </a:pPr>
            <a:r>
              <a:rPr lang="en-US" sz="1450" b="1" dirty="0">
                <a:solidFill>
                  <a:srgbClr val="101828"/>
                </a:solidFill>
                <a:latin typeface="Aptos" pitchFamily="34" charset="0"/>
                <a:ea typeface="Aptos" pitchFamily="34" charset="-122"/>
                <a:cs typeface="Aptos" pitchFamily="34" charset="-120"/>
              </a:rPr>
              <a:t>Create app registrations or managed identities</a:t>
            </a:r>
            <a:endParaRPr lang="en-US" sz="1450" dirty="0"/>
          </a:p>
        </p:txBody>
      </p:sp>
      <p:sp>
        <p:nvSpPr>
          <p:cNvPr id="16" name="Text 14"/>
          <p:cNvSpPr/>
          <p:nvPr/>
        </p:nvSpPr>
        <p:spPr>
          <a:xfrm>
            <a:off x="1536192" y="2862072"/>
            <a:ext cx="6720840" cy="256032"/>
          </a:xfrm>
          <a:prstGeom prst="rect">
            <a:avLst/>
          </a:prstGeom>
          <a:noFill/>
          <a:ln/>
        </p:spPr>
        <p:txBody>
          <a:bodyPr wrap="square" lIns="1016" tIns="1016" rIns="1016" bIns="1016" rtlCol="0" anchor="t">
            <a:normAutofit/>
          </a:bodyPr>
          <a:lstStyle/>
          <a:p>
            <a:pPr algn="l" indent="0" marL="0">
              <a:buNone/>
            </a:pPr>
            <a:r>
              <a:rPr lang="en-US" sz="1250" dirty="0">
                <a:solidFill>
                  <a:srgbClr val="475467"/>
                </a:solidFill>
                <a:latin typeface="Aptos" pitchFamily="34" charset="0"/>
                <a:ea typeface="Aptos" pitchFamily="34" charset="-122"/>
                <a:cs typeface="Aptos" pitchFamily="34" charset="-120"/>
              </a:rPr>
              <a:t>spn-saas-dev-deploy, spn-saas-stage-deploy, spn-saas-prod-deploy</a:t>
            </a:r>
            <a:endParaRPr lang="en-US" sz="1250" dirty="0"/>
          </a:p>
        </p:txBody>
      </p:sp>
      <p:sp>
        <p:nvSpPr>
          <p:cNvPr id="17" name="Shape 15"/>
          <p:cNvSpPr/>
          <p:nvPr/>
        </p:nvSpPr>
        <p:spPr>
          <a:xfrm>
            <a:off x="868680" y="3721608"/>
            <a:ext cx="438912" cy="438912"/>
          </a:xfrm>
          <a:prstGeom prst="ellipse">
            <a:avLst/>
          </a:prstGeom>
          <a:solidFill>
            <a:srgbClr val="1A73E8"/>
          </a:solidFill>
          <a:ln w="12700">
            <a:solidFill>
              <a:srgbClr val="333333">
                <a:alpha val="0"/>
              </a:srgbClr>
            </a:solidFill>
            <a:prstDash val="solid"/>
          </a:ln>
        </p:spPr>
      </p:sp>
      <p:sp>
        <p:nvSpPr>
          <p:cNvPr id="18" name="Text 16"/>
          <p:cNvSpPr/>
          <p:nvPr/>
        </p:nvSpPr>
        <p:spPr>
          <a:xfrm>
            <a:off x="987552" y="3877056"/>
            <a:ext cx="201168" cy="91440"/>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9" name="Text 17"/>
          <p:cNvSpPr/>
          <p:nvPr/>
        </p:nvSpPr>
        <p:spPr>
          <a:xfrm>
            <a:off x="1536192" y="3611880"/>
            <a:ext cx="4572000" cy="228600"/>
          </a:xfrm>
          <a:prstGeom prst="rect">
            <a:avLst/>
          </a:prstGeom>
          <a:noFill/>
          <a:ln/>
        </p:spPr>
        <p:txBody>
          <a:bodyPr wrap="square" lIns="1016" tIns="1016" rIns="1016" bIns="1016" rtlCol="0" anchor="t">
            <a:normAutofit/>
          </a:bodyPr>
          <a:lstStyle/>
          <a:p>
            <a:pPr algn="l" indent="0" marL="0">
              <a:buNone/>
            </a:pPr>
            <a:r>
              <a:rPr lang="en-US" sz="1450" b="1" dirty="0">
                <a:solidFill>
                  <a:srgbClr val="101828"/>
                </a:solidFill>
                <a:latin typeface="Aptos" pitchFamily="34" charset="0"/>
                <a:ea typeface="Aptos" pitchFamily="34" charset="-122"/>
                <a:cs typeface="Aptos" pitchFamily="34" charset="-120"/>
              </a:rPr>
              <a:t>Confirm tenant and subscription scope</a:t>
            </a:r>
            <a:endParaRPr lang="en-US" sz="1450" dirty="0"/>
          </a:p>
        </p:txBody>
      </p:sp>
      <p:sp>
        <p:nvSpPr>
          <p:cNvPr id="20" name="Text 18"/>
          <p:cNvSpPr/>
          <p:nvPr/>
        </p:nvSpPr>
        <p:spPr>
          <a:xfrm>
            <a:off x="1536192" y="3959352"/>
            <a:ext cx="6720840" cy="256032"/>
          </a:xfrm>
          <a:prstGeom prst="rect">
            <a:avLst/>
          </a:prstGeom>
          <a:noFill/>
          <a:ln/>
        </p:spPr>
        <p:txBody>
          <a:bodyPr wrap="square" lIns="1016" tIns="1016" rIns="1016" bIns="1016" rtlCol="0" anchor="t">
            <a:normAutofit/>
          </a:bodyPr>
          <a:lstStyle/>
          <a:p>
            <a:pPr algn="l" indent="0" marL="0">
              <a:buNone/>
            </a:pPr>
            <a:r>
              <a:rPr lang="en-US" sz="1250" dirty="0">
                <a:solidFill>
                  <a:srgbClr val="475467"/>
                </a:solidFill>
                <a:latin typeface="Aptos" pitchFamily="34" charset="0"/>
                <a:ea typeface="Aptos" pitchFamily="34" charset="-122"/>
                <a:cs typeface="Aptos" pitchFamily="34" charset="-120"/>
              </a:rPr>
              <a:t>Use a lab subscription or explicitly approved customer scope</a:t>
            </a:r>
            <a:endParaRPr lang="en-US" sz="1250" dirty="0"/>
          </a:p>
        </p:txBody>
      </p:sp>
      <p:sp>
        <p:nvSpPr>
          <p:cNvPr id="21" name="Shape 19"/>
          <p:cNvSpPr/>
          <p:nvPr/>
        </p:nvSpPr>
        <p:spPr>
          <a:xfrm>
            <a:off x="868680" y="4818888"/>
            <a:ext cx="438912" cy="438912"/>
          </a:xfrm>
          <a:prstGeom prst="ellipse">
            <a:avLst/>
          </a:prstGeom>
          <a:solidFill>
            <a:srgbClr val="1A73E8"/>
          </a:solidFill>
          <a:ln w="12700">
            <a:solidFill>
              <a:srgbClr val="333333">
                <a:alpha val="0"/>
              </a:srgbClr>
            </a:solidFill>
            <a:prstDash val="solid"/>
          </a:ln>
        </p:spPr>
      </p:sp>
      <p:sp>
        <p:nvSpPr>
          <p:cNvPr id="22" name="Text 20"/>
          <p:cNvSpPr/>
          <p:nvPr/>
        </p:nvSpPr>
        <p:spPr>
          <a:xfrm>
            <a:off x="987552" y="4974336"/>
            <a:ext cx="201168" cy="91440"/>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23" name="Text 21"/>
          <p:cNvSpPr/>
          <p:nvPr/>
        </p:nvSpPr>
        <p:spPr>
          <a:xfrm>
            <a:off x="1536192" y="4709160"/>
            <a:ext cx="4572000" cy="228600"/>
          </a:xfrm>
          <a:prstGeom prst="rect">
            <a:avLst/>
          </a:prstGeom>
          <a:noFill/>
          <a:ln/>
        </p:spPr>
        <p:txBody>
          <a:bodyPr wrap="square" lIns="1016" tIns="1016" rIns="1016" bIns="1016" rtlCol="0" anchor="t">
            <a:normAutofit/>
          </a:bodyPr>
          <a:lstStyle/>
          <a:p>
            <a:pPr algn="l" indent="0" marL="0">
              <a:buNone/>
            </a:pPr>
            <a:r>
              <a:rPr lang="en-US" sz="1450" b="1" dirty="0">
                <a:solidFill>
                  <a:srgbClr val="101828"/>
                </a:solidFill>
                <a:latin typeface="Aptos" pitchFamily="34" charset="0"/>
                <a:ea typeface="Aptos" pitchFamily="34" charset="-122"/>
                <a:cs typeface="Aptos" pitchFamily="34" charset="-120"/>
              </a:rPr>
              <a:t>Open Access control (IAM)</a:t>
            </a:r>
            <a:endParaRPr lang="en-US" sz="1450" dirty="0"/>
          </a:p>
        </p:txBody>
      </p:sp>
      <p:sp>
        <p:nvSpPr>
          <p:cNvPr id="24" name="Text 22"/>
          <p:cNvSpPr/>
          <p:nvPr/>
        </p:nvSpPr>
        <p:spPr>
          <a:xfrm>
            <a:off x="1536192" y="5056632"/>
            <a:ext cx="6720840" cy="256032"/>
          </a:xfrm>
          <a:prstGeom prst="rect">
            <a:avLst/>
          </a:prstGeom>
          <a:noFill/>
          <a:ln/>
        </p:spPr>
        <p:txBody>
          <a:bodyPr wrap="square" lIns="1016" tIns="1016" rIns="1016" bIns="1016" rtlCol="0" anchor="t">
            <a:normAutofit/>
          </a:bodyPr>
          <a:lstStyle/>
          <a:p>
            <a:pPr algn="l" indent="0" marL="0">
              <a:buNone/>
            </a:pPr>
            <a:r>
              <a:rPr lang="en-US" sz="1250" dirty="0">
                <a:solidFill>
                  <a:srgbClr val="475467"/>
                </a:solidFill>
                <a:latin typeface="Aptos" pitchFamily="34" charset="0"/>
                <a:ea typeface="Aptos" pitchFamily="34" charset="-122"/>
                <a:cs typeface="Aptos" pitchFamily="34" charset="-120"/>
              </a:rPr>
              <a:t>Prepare to review existing assignments and remediate them</a:t>
            </a:r>
            <a:endParaRPr lang="en-US" sz="1250" dirty="0"/>
          </a:p>
        </p:txBody>
      </p:sp>
      <p:sp>
        <p:nvSpPr>
          <p:cNvPr id="25" name="Shape 23"/>
          <p:cNvSpPr/>
          <p:nvPr/>
        </p:nvSpPr>
        <p:spPr>
          <a:xfrm>
            <a:off x="8823960" y="1600200"/>
            <a:ext cx="2240280" cy="2834640"/>
          </a:xfrm>
          <a:prstGeom prst="roundRect">
            <a:avLst/>
          </a:prstGeom>
          <a:solidFill>
            <a:srgbClr val="091827"/>
          </a:solidFill>
          <a:ln w="12700">
            <a:solidFill>
              <a:srgbClr val="091827"/>
            </a:solidFill>
            <a:prstDash val="solid"/>
          </a:ln>
        </p:spPr>
      </p:sp>
      <p:sp>
        <p:nvSpPr>
          <p:cNvPr id="26" name="Text 24"/>
          <p:cNvSpPr/>
          <p:nvPr/>
        </p:nvSpPr>
        <p:spPr>
          <a:xfrm>
            <a:off x="9006840" y="1874520"/>
            <a:ext cx="1874520" cy="182880"/>
          </a:xfrm>
          <a:prstGeom prst="rect">
            <a:avLst/>
          </a:prstGeom>
          <a:noFill/>
          <a:ln/>
        </p:spPr>
        <p:txBody>
          <a:bodyPr wrap="square" lIns="0" tIns="0" rIns="0" bIns="0" rtlCol="0" anchor="ctr"/>
          <a:lstStyle/>
          <a:p>
            <a:pPr algn="ctr" indent="0" marL="0">
              <a:buNone/>
            </a:pPr>
            <a:r>
              <a:rPr lang="en-US" sz="1400" b="1" dirty="0">
                <a:solidFill>
                  <a:srgbClr val="21C7EC"/>
                </a:solidFill>
              </a:rPr>
              <a:t>Demo safety</a:t>
            </a:r>
            <a:endParaRPr lang="en-US" sz="1400" dirty="0"/>
          </a:p>
        </p:txBody>
      </p:sp>
      <p:sp>
        <p:nvSpPr>
          <p:cNvPr id="27" name="Text 25"/>
          <p:cNvSpPr/>
          <p:nvPr/>
        </p:nvSpPr>
        <p:spPr>
          <a:xfrm>
            <a:off x="9052560" y="2331720"/>
            <a:ext cx="1783080" cy="1143000"/>
          </a:xfrm>
          <a:prstGeom prst="rect">
            <a:avLst/>
          </a:prstGeom>
          <a:noFill/>
          <a:ln/>
        </p:spPr>
        <p:txBody>
          <a:bodyPr wrap="square" lIns="1016" tIns="1016" rIns="1016" bIns="1016" rtlCol="0" anchor="t">
            <a:normAutofit/>
          </a:bodyPr>
          <a:lstStyle/>
          <a:p>
            <a:pPr algn="ctr" indent="0" marL="0">
              <a:buNone/>
            </a:pPr>
            <a:r>
              <a:rPr lang="en-US" sz="1150" dirty="0">
                <a:solidFill>
                  <a:srgbClr val="FFFFFF"/>
                </a:solidFill>
                <a:latin typeface="Aptos" pitchFamily="34" charset="0"/>
                <a:ea typeface="Aptos" pitchFamily="34" charset="-122"/>
                <a:cs typeface="Aptos" pitchFamily="34" charset="-120"/>
              </a:rPr>
              <a:t>Use a lab subscription.</a:t>
            </a:r>
            <a:endParaRPr lang="en-US" sz="1150" dirty="0"/>
          </a:p>
          <a:p>
            <a:pPr algn="ctr" indent="0" marL="0">
              <a:buNone/>
            </a:pPr>
            <a:r>
              <a:rPr lang="en-US" sz="1150" dirty="0">
                <a:solidFill>
                  <a:srgbClr val="FFFFFF"/>
                </a:solidFill>
                <a:latin typeface="Aptos" pitchFamily="34" charset="0"/>
                <a:ea typeface="Aptos" pitchFamily="34" charset="-122"/>
                <a:cs typeface="Aptos" pitchFamily="34" charset="-120"/>
              </a:rPr>
              <a:t>Do not change production RBAC without approval.</a:t>
            </a:r>
            <a:endParaRPr lang="en-US" sz="1150" dirty="0"/>
          </a:p>
          <a:p>
            <a:pPr algn="ctr" indent="0" marL="0">
              <a:buNone/>
            </a:pPr>
            <a:r>
              <a:rPr lang="en-US" sz="1150" dirty="0">
                <a:solidFill>
                  <a:srgbClr val="FFFFFF"/>
                </a:solidFill>
                <a:latin typeface="Aptos" pitchFamily="34" charset="0"/>
                <a:ea typeface="Aptos" pitchFamily="34" charset="-122"/>
                <a:cs typeface="Aptos" pitchFamily="34" charset="-120"/>
              </a:rPr>
              <a:t>Take screenshots before remediation.</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333333">
                <a:alpha val="0"/>
              </a:srgbClr>
            </a:solidFill>
            <a:prstDash val="solid"/>
          </a:ln>
        </p:spPr>
      </p:sp>
      <p:sp>
        <p:nvSpPr>
          <p:cNvPr id="3" name="Shape 1"/>
          <p:cNvSpPr/>
          <p:nvPr/>
        </p:nvSpPr>
        <p:spPr>
          <a:xfrm>
            <a:off x="0" y="0"/>
            <a:ext cx="155448" cy="6858000"/>
          </a:xfrm>
          <a:prstGeom prst="rect">
            <a:avLst/>
          </a:prstGeom>
          <a:solidFill>
            <a:srgbClr val="1A73E8"/>
          </a:solidFill>
          <a:ln w="12700">
            <a:solidFill>
              <a:srgbClr val="333333">
                <a:alpha val="0"/>
              </a:srgbClr>
            </a:solidFill>
            <a:prstDash val="solid"/>
          </a:ln>
        </p:spPr>
      </p:sp>
      <p:sp>
        <p:nvSpPr>
          <p:cNvPr id="4" name="Text 2"/>
          <p:cNvSpPr/>
          <p:nvPr/>
        </p:nvSpPr>
        <p:spPr>
          <a:xfrm>
            <a:off x="502920" y="228600"/>
            <a:ext cx="7498080" cy="228600"/>
          </a:xfrm>
          <a:prstGeom prst="rect">
            <a:avLst/>
          </a:prstGeom>
          <a:noFill/>
          <a:ln/>
        </p:spPr>
        <p:txBody>
          <a:bodyPr wrap="square" lIns="0" tIns="0" rIns="0" bIns="0" rtlCol="0" anchor="ctr">
            <a:normAutofit/>
          </a:bodyPr>
          <a:lstStyle/>
          <a:p>
            <a:pPr indent="0" marL="0">
              <a:buNone/>
            </a:pPr>
            <a:r>
              <a:rPr lang="en-US" sz="850" b="1" dirty="0">
                <a:solidFill>
                  <a:srgbClr val="1A73E8"/>
                </a:solidFill>
                <a:latin typeface="Aptos" pitchFamily="34" charset="0"/>
                <a:ea typeface="Aptos" pitchFamily="34" charset="-122"/>
                <a:cs typeface="Aptos" pitchFamily="34" charset="-120"/>
              </a:rPr>
              <a:t>Portal walkthrough</a:t>
            </a:r>
            <a:endParaRPr lang="en-US" sz="850" dirty="0"/>
          </a:p>
        </p:txBody>
      </p:sp>
      <p:sp>
        <p:nvSpPr>
          <p:cNvPr id="5" name="Text 3"/>
          <p:cNvSpPr/>
          <p:nvPr/>
        </p:nvSpPr>
        <p:spPr>
          <a:xfrm>
            <a:off x="502920" y="475488"/>
            <a:ext cx="9966960" cy="475488"/>
          </a:xfrm>
          <a:prstGeom prst="rect">
            <a:avLst/>
          </a:prstGeom>
          <a:noFill/>
          <a:ln/>
        </p:spPr>
        <p:txBody>
          <a:bodyPr wrap="square" lIns="254" tIns="254" rIns="254" bIns="254" rtlCol="0" anchor="ctr">
            <a:normAutofit/>
          </a:bodyPr>
          <a:lstStyle/>
          <a:p>
            <a:pPr indent="0" marL="0">
              <a:buNone/>
            </a:pPr>
            <a:r>
              <a:rPr lang="en-US" sz="2500" b="1" dirty="0">
                <a:solidFill>
                  <a:srgbClr val="101828"/>
                </a:solidFill>
                <a:latin typeface="Aptos Display" pitchFamily="34" charset="0"/>
                <a:ea typeface="Aptos Display" pitchFamily="34" charset="-122"/>
                <a:cs typeface="Aptos Display" pitchFamily="34" charset="-120"/>
              </a:rPr>
              <a:t>Demo: audit the current pipeline identity</a:t>
            </a:r>
            <a:endParaRPr lang="en-US" sz="2500" dirty="0"/>
          </a:p>
        </p:txBody>
      </p:sp>
      <p:sp>
        <p:nvSpPr>
          <p:cNvPr id="6" name="Shape 4"/>
          <p:cNvSpPr/>
          <p:nvPr/>
        </p:nvSpPr>
        <p:spPr>
          <a:xfrm>
            <a:off x="502920" y="1078992"/>
            <a:ext cx="10927080" cy="0"/>
          </a:xfrm>
          <a:prstGeom prst="line">
            <a:avLst/>
          </a:prstGeom>
          <a:noFill/>
          <a:ln w="12700">
            <a:solidFill>
              <a:srgbClr val="D0D5DD"/>
            </a:solidFill>
            <a:prstDash val="solid"/>
          </a:ln>
        </p:spPr>
      </p:sp>
      <p:sp>
        <p:nvSpPr>
          <p:cNvPr id="7" name="Text 5"/>
          <p:cNvSpPr/>
          <p:nvPr/>
        </p:nvSpPr>
        <p:spPr>
          <a:xfrm>
            <a:off x="502920" y="6492240"/>
            <a:ext cx="4114800" cy="182880"/>
          </a:xfrm>
          <a:prstGeom prst="rect">
            <a:avLst/>
          </a:prstGeom>
          <a:noFill/>
          <a:ln/>
        </p:spPr>
        <p:txBody>
          <a:bodyPr wrap="square" lIns="0" tIns="0" rIns="0" bIns="0" rtlCol="0" anchor="ctr">
            <a:normAutofit/>
          </a:bodyPr>
          <a:lstStyle/>
          <a:p>
            <a:pPr indent="0" marL="0">
              <a:buNone/>
            </a:pPr>
            <a:r>
              <a:rPr lang="en-US" sz="750" dirty="0">
                <a:solidFill>
                  <a:srgbClr val="475467"/>
                </a:solidFill>
              </a:rPr>
              <a:t>CESE323 | Least Privilege RBAC</a:t>
            </a:r>
            <a:endParaRPr lang="en-US" sz="750" dirty="0"/>
          </a:p>
        </p:txBody>
      </p:sp>
      <p:sp>
        <p:nvSpPr>
          <p:cNvPr id="8" name="Text 6"/>
          <p:cNvSpPr/>
          <p:nvPr/>
        </p:nvSpPr>
        <p:spPr>
          <a:xfrm>
            <a:off x="11109960" y="6428232"/>
            <a:ext cx="502920" cy="274320"/>
          </a:xfrm>
          <a:prstGeom prst="rect">
            <a:avLst/>
          </a:prstGeom>
          <a:noFill/>
          <a:ln/>
        </p:spPr>
        <p:txBody>
          <a:bodyPr wrap="square" lIns="0" tIns="0" rIns="0" bIns="0" rtlCol="0" anchor="ctr"/>
          <a:lstStyle/>
          <a:p>
            <a:pPr algn="r" indent="0" marL="0">
              <a:buNone/>
            </a:pPr>
            <a:r>
              <a:rPr lang="en-US" sz="900" b="1" dirty="0">
                <a:solidFill>
                  <a:srgbClr val="1A73E8"/>
                </a:solidFill>
              </a:rPr>
              <a:t>09</a:t>
            </a:r>
            <a:endParaRPr lang="en-US" sz="900" dirty="0"/>
          </a:p>
        </p:txBody>
      </p:sp>
      <p:sp>
        <p:nvSpPr>
          <p:cNvPr id="9" name="Text 7"/>
          <p:cNvSpPr/>
          <p:nvPr/>
        </p:nvSpPr>
        <p:spPr>
          <a:xfrm>
            <a:off x="822960" y="1417320"/>
            <a:ext cx="4754880" cy="256032"/>
          </a:xfrm>
          <a:prstGeom prst="rect">
            <a:avLst/>
          </a:prstGeom>
          <a:noFill/>
          <a:ln/>
        </p:spPr>
        <p:txBody>
          <a:bodyPr wrap="square" lIns="1016" tIns="1016" rIns="1016" bIns="1016" rtlCol="0" anchor="t">
            <a:normAutofit/>
          </a:bodyPr>
          <a:lstStyle/>
          <a:p>
            <a:pPr algn="l" indent="0" marL="0">
              <a:buNone/>
            </a:pPr>
            <a:r>
              <a:rPr lang="en-US" sz="1400" dirty="0">
                <a:solidFill>
                  <a:srgbClr val="101828"/>
                </a:solidFill>
                <a:latin typeface="Aptos" pitchFamily="34" charset="0"/>
                <a:ea typeface="Aptos" pitchFamily="34" charset="-122"/>
                <a:cs typeface="Aptos" pitchFamily="34" charset="-120"/>
              </a:rPr>
              <a:t>1. Azure portal → Subscriptions</a:t>
            </a:r>
            <a:endParaRPr lang="en-US" sz="1400" dirty="0"/>
          </a:p>
        </p:txBody>
      </p:sp>
      <p:sp>
        <p:nvSpPr>
          <p:cNvPr id="10" name="Text 8"/>
          <p:cNvSpPr/>
          <p:nvPr/>
        </p:nvSpPr>
        <p:spPr>
          <a:xfrm>
            <a:off x="822960" y="1920240"/>
            <a:ext cx="4754880" cy="256032"/>
          </a:xfrm>
          <a:prstGeom prst="rect">
            <a:avLst/>
          </a:prstGeom>
          <a:noFill/>
          <a:ln/>
        </p:spPr>
        <p:txBody>
          <a:bodyPr wrap="square" lIns="1016" tIns="1016" rIns="1016" bIns="1016" rtlCol="0" anchor="t">
            <a:normAutofit/>
          </a:bodyPr>
          <a:lstStyle/>
          <a:p>
            <a:pPr algn="l" indent="0" marL="0">
              <a:buNone/>
            </a:pPr>
            <a:r>
              <a:rPr lang="en-US" sz="1400" dirty="0">
                <a:solidFill>
                  <a:srgbClr val="101828"/>
                </a:solidFill>
                <a:latin typeface="Aptos" pitchFamily="34" charset="0"/>
                <a:ea typeface="Aptos" pitchFamily="34" charset="-122"/>
                <a:cs typeface="Aptos" pitchFamily="34" charset="-120"/>
              </a:rPr>
              <a:t>2. Select target subscription</a:t>
            </a:r>
            <a:endParaRPr lang="en-US" sz="1400" dirty="0"/>
          </a:p>
        </p:txBody>
      </p:sp>
      <p:sp>
        <p:nvSpPr>
          <p:cNvPr id="11" name="Text 9"/>
          <p:cNvSpPr/>
          <p:nvPr/>
        </p:nvSpPr>
        <p:spPr>
          <a:xfrm>
            <a:off x="822960" y="2423160"/>
            <a:ext cx="4754880" cy="256032"/>
          </a:xfrm>
          <a:prstGeom prst="rect">
            <a:avLst/>
          </a:prstGeom>
          <a:noFill/>
          <a:ln/>
        </p:spPr>
        <p:txBody>
          <a:bodyPr wrap="square" lIns="1016" tIns="1016" rIns="1016" bIns="1016" rtlCol="0" anchor="t">
            <a:normAutofit/>
          </a:bodyPr>
          <a:lstStyle/>
          <a:p>
            <a:pPr algn="l" indent="0" marL="0">
              <a:buNone/>
            </a:pPr>
            <a:r>
              <a:rPr lang="en-US" sz="1400" dirty="0">
                <a:solidFill>
                  <a:srgbClr val="101828"/>
                </a:solidFill>
                <a:latin typeface="Aptos" pitchFamily="34" charset="0"/>
                <a:ea typeface="Aptos" pitchFamily="34" charset="-122"/>
                <a:cs typeface="Aptos" pitchFamily="34" charset="-120"/>
              </a:rPr>
              <a:t>3. Access control (IAM)</a:t>
            </a:r>
            <a:endParaRPr lang="en-US" sz="1400" dirty="0"/>
          </a:p>
        </p:txBody>
      </p:sp>
      <p:sp>
        <p:nvSpPr>
          <p:cNvPr id="12" name="Text 10"/>
          <p:cNvSpPr/>
          <p:nvPr/>
        </p:nvSpPr>
        <p:spPr>
          <a:xfrm>
            <a:off x="822960" y="2926080"/>
            <a:ext cx="4754880" cy="256032"/>
          </a:xfrm>
          <a:prstGeom prst="rect">
            <a:avLst/>
          </a:prstGeom>
          <a:noFill/>
          <a:ln/>
        </p:spPr>
        <p:txBody>
          <a:bodyPr wrap="square" lIns="1016" tIns="1016" rIns="1016" bIns="1016" rtlCol="0" anchor="t">
            <a:normAutofit/>
          </a:bodyPr>
          <a:lstStyle/>
          <a:p>
            <a:pPr algn="l" indent="0" marL="0">
              <a:buNone/>
            </a:pPr>
            <a:r>
              <a:rPr lang="en-US" sz="1400" dirty="0">
                <a:solidFill>
                  <a:srgbClr val="101828"/>
                </a:solidFill>
                <a:latin typeface="Aptos" pitchFamily="34" charset="0"/>
                <a:ea typeface="Aptos" pitchFamily="34" charset="-122"/>
                <a:cs typeface="Aptos" pitchFamily="34" charset="-120"/>
              </a:rPr>
              <a:t>4. Role assignments</a:t>
            </a:r>
            <a:endParaRPr lang="en-US" sz="1400" dirty="0"/>
          </a:p>
        </p:txBody>
      </p:sp>
      <p:sp>
        <p:nvSpPr>
          <p:cNvPr id="13" name="Text 11"/>
          <p:cNvSpPr/>
          <p:nvPr/>
        </p:nvSpPr>
        <p:spPr>
          <a:xfrm>
            <a:off x="822960" y="3429000"/>
            <a:ext cx="4754880" cy="256032"/>
          </a:xfrm>
          <a:prstGeom prst="rect">
            <a:avLst/>
          </a:prstGeom>
          <a:noFill/>
          <a:ln/>
        </p:spPr>
        <p:txBody>
          <a:bodyPr wrap="square" lIns="1016" tIns="1016" rIns="1016" bIns="1016" rtlCol="0" anchor="t">
            <a:normAutofit/>
          </a:bodyPr>
          <a:lstStyle/>
          <a:p>
            <a:pPr algn="l" indent="0" marL="0">
              <a:buNone/>
            </a:pPr>
            <a:r>
              <a:rPr lang="en-US" sz="1400" dirty="0">
                <a:solidFill>
                  <a:srgbClr val="101828"/>
                </a:solidFill>
                <a:latin typeface="Aptos" pitchFamily="34" charset="0"/>
                <a:ea typeface="Aptos" pitchFamily="34" charset="-122"/>
                <a:cs typeface="Aptos" pitchFamily="34" charset="-120"/>
              </a:rPr>
              <a:t>5. Search for pipeline identity</a:t>
            </a:r>
            <a:endParaRPr lang="en-US" sz="1400" dirty="0"/>
          </a:p>
        </p:txBody>
      </p:sp>
      <p:sp>
        <p:nvSpPr>
          <p:cNvPr id="14" name="Text 12"/>
          <p:cNvSpPr/>
          <p:nvPr/>
        </p:nvSpPr>
        <p:spPr>
          <a:xfrm>
            <a:off x="822960" y="3931920"/>
            <a:ext cx="4754880" cy="256032"/>
          </a:xfrm>
          <a:prstGeom prst="rect">
            <a:avLst/>
          </a:prstGeom>
          <a:noFill/>
          <a:ln/>
        </p:spPr>
        <p:txBody>
          <a:bodyPr wrap="square" lIns="1016" tIns="1016" rIns="1016" bIns="1016" rtlCol="0" anchor="t">
            <a:normAutofit/>
          </a:bodyPr>
          <a:lstStyle/>
          <a:p>
            <a:pPr algn="l" indent="0" marL="0">
              <a:buNone/>
            </a:pPr>
            <a:r>
              <a:rPr lang="en-US" sz="1400" dirty="0">
                <a:solidFill>
                  <a:srgbClr val="101828"/>
                </a:solidFill>
                <a:latin typeface="Aptos" pitchFamily="34" charset="0"/>
                <a:ea typeface="Aptos" pitchFamily="34" charset="-122"/>
                <a:cs typeface="Aptos" pitchFamily="34" charset="-120"/>
              </a:rPr>
              <a:t>6. Record role + scope</a:t>
            </a:r>
            <a:endParaRPr lang="en-US" sz="1400" dirty="0"/>
          </a:p>
        </p:txBody>
      </p:sp>
      <p:sp>
        <p:nvSpPr>
          <p:cNvPr id="15" name="Shape 13"/>
          <p:cNvSpPr/>
          <p:nvPr/>
        </p:nvSpPr>
        <p:spPr>
          <a:xfrm>
            <a:off x="6400800" y="1463040"/>
            <a:ext cx="4389120" cy="3566160"/>
          </a:xfrm>
          <a:prstGeom prst="roundRect">
            <a:avLst/>
          </a:prstGeom>
          <a:solidFill>
            <a:srgbClr val="FFFFFF"/>
          </a:solidFill>
          <a:ln w="12700">
            <a:solidFill>
              <a:srgbClr val="D0D5DD"/>
            </a:solidFill>
            <a:prstDash val="solid"/>
          </a:ln>
        </p:spPr>
      </p:sp>
      <p:sp>
        <p:nvSpPr>
          <p:cNvPr id="16" name="Text 14"/>
          <p:cNvSpPr/>
          <p:nvPr/>
        </p:nvSpPr>
        <p:spPr>
          <a:xfrm>
            <a:off x="6629400" y="1737360"/>
            <a:ext cx="1920240" cy="201168"/>
          </a:xfrm>
          <a:prstGeom prst="rect">
            <a:avLst/>
          </a:prstGeom>
          <a:noFill/>
          <a:ln/>
        </p:spPr>
        <p:txBody>
          <a:bodyPr wrap="square" lIns="0" tIns="0" rIns="0" bIns="0" rtlCol="0" anchor="ctr"/>
          <a:lstStyle/>
          <a:p>
            <a:pPr indent="0" marL="0">
              <a:buNone/>
            </a:pPr>
            <a:r>
              <a:rPr lang="en-US" sz="1600" b="1" dirty="0">
                <a:solidFill>
                  <a:srgbClr val="101828"/>
                </a:solidFill>
              </a:rPr>
              <a:t>What to look for</a:t>
            </a:r>
            <a:endParaRPr lang="en-US" sz="1600" dirty="0"/>
          </a:p>
        </p:txBody>
      </p:sp>
      <p:sp>
        <p:nvSpPr>
          <p:cNvPr id="17" name="Text 15"/>
          <p:cNvSpPr/>
          <p:nvPr/>
        </p:nvSpPr>
        <p:spPr>
          <a:xfrm>
            <a:off x="6629400" y="2148840"/>
            <a:ext cx="3749040" cy="210312"/>
          </a:xfrm>
          <a:prstGeom prst="rect">
            <a:avLst/>
          </a:prstGeom>
          <a:noFill/>
          <a:ln/>
        </p:spPr>
        <p:txBody>
          <a:bodyPr wrap="square" lIns="1016" tIns="1016" rIns="1016" bIns="1016" rtlCol="0" anchor="t">
            <a:normAutofit/>
          </a:bodyPr>
          <a:lstStyle/>
          <a:p>
            <a:pPr algn="l" indent="0" marL="0">
              <a:buNone/>
            </a:pPr>
            <a:r>
              <a:rPr lang="en-US" sz="1230" dirty="0">
                <a:solidFill>
                  <a:srgbClr val="D93025"/>
                </a:solidFill>
                <a:latin typeface="Aptos" pitchFamily="34" charset="0"/>
                <a:ea typeface="Aptos" pitchFamily="34" charset="-122"/>
                <a:cs typeface="Aptos" pitchFamily="34" charset="-120"/>
              </a:rPr>
              <a:t>• Owner at subscription scope</a:t>
            </a:r>
            <a:endParaRPr lang="en-US" sz="1230" dirty="0"/>
          </a:p>
        </p:txBody>
      </p:sp>
      <p:sp>
        <p:nvSpPr>
          <p:cNvPr id="18" name="Text 16"/>
          <p:cNvSpPr/>
          <p:nvPr/>
        </p:nvSpPr>
        <p:spPr>
          <a:xfrm>
            <a:off x="6629400" y="2578608"/>
            <a:ext cx="3749040" cy="210312"/>
          </a:xfrm>
          <a:prstGeom prst="rect">
            <a:avLst/>
          </a:prstGeom>
          <a:noFill/>
          <a:ln/>
        </p:spPr>
        <p:txBody>
          <a:bodyPr wrap="square" lIns="1016" tIns="1016" rIns="1016" bIns="1016" rtlCol="0" anchor="t">
            <a:normAutofit/>
          </a:bodyPr>
          <a:lstStyle/>
          <a:p>
            <a:pPr algn="l" indent="0" marL="0">
              <a:buNone/>
            </a:pPr>
            <a:r>
              <a:rPr lang="en-US" sz="1230" dirty="0">
                <a:solidFill>
                  <a:srgbClr val="D93025"/>
                </a:solidFill>
                <a:latin typeface="Aptos" pitchFamily="34" charset="0"/>
                <a:ea typeface="Aptos" pitchFamily="34" charset="-122"/>
                <a:cs typeface="Aptos" pitchFamily="34" charset="-120"/>
              </a:rPr>
              <a:t>• Contributor at subscription scope</a:t>
            </a:r>
            <a:endParaRPr lang="en-US" sz="1230" dirty="0"/>
          </a:p>
        </p:txBody>
      </p:sp>
      <p:sp>
        <p:nvSpPr>
          <p:cNvPr id="19" name="Text 17"/>
          <p:cNvSpPr/>
          <p:nvPr/>
        </p:nvSpPr>
        <p:spPr>
          <a:xfrm>
            <a:off x="6629400" y="3008376"/>
            <a:ext cx="3749040" cy="210312"/>
          </a:xfrm>
          <a:prstGeom prst="rect">
            <a:avLst/>
          </a:prstGeom>
          <a:noFill/>
          <a:ln/>
        </p:spPr>
        <p:txBody>
          <a:bodyPr wrap="square" lIns="1016" tIns="1016" rIns="1016" bIns="1016" rtlCol="0" anchor="t">
            <a:normAutofit/>
          </a:bodyPr>
          <a:lstStyle/>
          <a:p>
            <a:pPr algn="l" indent="0" marL="0">
              <a:buNone/>
            </a:pPr>
            <a:r>
              <a:rPr lang="en-US" sz="1230" dirty="0">
                <a:solidFill>
                  <a:srgbClr val="101828"/>
                </a:solidFill>
                <a:latin typeface="Aptos" pitchFamily="34" charset="0"/>
                <a:ea typeface="Aptos" pitchFamily="34" charset="-122"/>
                <a:cs typeface="Aptos" pitchFamily="34" charset="-120"/>
              </a:rPr>
              <a:t>• Same identity assigned to Dev/Stage/Prod</a:t>
            </a:r>
            <a:endParaRPr lang="en-US" sz="1230" dirty="0"/>
          </a:p>
        </p:txBody>
      </p:sp>
      <p:sp>
        <p:nvSpPr>
          <p:cNvPr id="20" name="Text 18"/>
          <p:cNvSpPr/>
          <p:nvPr/>
        </p:nvSpPr>
        <p:spPr>
          <a:xfrm>
            <a:off x="6629400" y="3438144"/>
            <a:ext cx="3749040" cy="210312"/>
          </a:xfrm>
          <a:prstGeom prst="rect">
            <a:avLst/>
          </a:prstGeom>
          <a:noFill/>
          <a:ln/>
        </p:spPr>
        <p:txBody>
          <a:bodyPr wrap="square" lIns="1016" tIns="1016" rIns="1016" bIns="1016" rtlCol="0" anchor="t">
            <a:normAutofit/>
          </a:bodyPr>
          <a:lstStyle/>
          <a:p>
            <a:pPr algn="l" indent="0" marL="0">
              <a:buNone/>
            </a:pPr>
            <a:r>
              <a:rPr lang="en-US" sz="1230" dirty="0">
                <a:solidFill>
                  <a:srgbClr val="101828"/>
                </a:solidFill>
                <a:latin typeface="Aptos" pitchFamily="34" charset="0"/>
                <a:ea typeface="Aptos" pitchFamily="34" charset="-122"/>
                <a:cs typeface="Aptos" pitchFamily="34" charset="-120"/>
              </a:rPr>
              <a:t>• Role assignment made directly to a single app or user</a:t>
            </a:r>
            <a:endParaRPr lang="en-US" sz="1230" dirty="0"/>
          </a:p>
        </p:txBody>
      </p:sp>
      <p:sp>
        <p:nvSpPr>
          <p:cNvPr id="21" name="Text 19"/>
          <p:cNvSpPr/>
          <p:nvPr/>
        </p:nvSpPr>
        <p:spPr>
          <a:xfrm>
            <a:off x="6629400" y="3867912"/>
            <a:ext cx="3749040" cy="210312"/>
          </a:xfrm>
          <a:prstGeom prst="rect">
            <a:avLst/>
          </a:prstGeom>
          <a:noFill/>
          <a:ln/>
        </p:spPr>
        <p:txBody>
          <a:bodyPr wrap="square" lIns="1016" tIns="1016" rIns="1016" bIns="1016" rtlCol="0" anchor="t">
            <a:normAutofit/>
          </a:bodyPr>
          <a:lstStyle/>
          <a:p>
            <a:pPr algn="l" indent="0" marL="0">
              <a:buNone/>
            </a:pPr>
            <a:r>
              <a:rPr lang="en-US" sz="1230" dirty="0">
                <a:solidFill>
                  <a:srgbClr val="101828"/>
                </a:solidFill>
                <a:latin typeface="Aptos" pitchFamily="34" charset="0"/>
                <a:ea typeface="Aptos" pitchFamily="34" charset="-122"/>
                <a:cs typeface="Aptos" pitchFamily="34" charset="-120"/>
              </a:rPr>
              <a:t>• Unknown owner or no business justification</a:t>
            </a:r>
            <a:endParaRPr lang="en-US" sz="1230" dirty="0"/>
          </a:p>
        </p:txBody>
      </p:sp>
      <p:sp>
        <p:nvSpPr>
          <p:cNvPr id="22" name="Text 20"/>
          <p:cNvSpPr/>
          <p:nvPr/>
        </p:nvSpPr>
        <p:spPr>
          <a:xfrm>
            <a:off x="822960" y="5715000"/>
            <a:ext cx="9966960" cy="347472"/>
          </a:xfrm>
          <a:prstGeom prst="rect">
            <a:avLst/>
          </a:prstGeom>
          <a:noFill/>
          <a:ln/>
        </p:spPr>
        <p:txBody>
          <a:bodyPr wrap="square" lIns="1016" tIns="1016" rIns="1016" bIns="1016" rtlCol="0" anchor="t">
            <a:normAutofit/>
          </a:bodyPr>
          <a:lstStyle/>
          <a:p>
            <a:pPr algn="ctr" indent="0" marL="0">
              <a:buNone/>
            </a:pPr>
            <a:r>
              <a:rPr lang="en-US" sz="1700" b="1" dirty="0">
                <a:solidFill>
                  <a:srgbClr val="101828"/>
                </a:solidFill>
                <a:latin typeface="Aptos" pitchFamily="34" charset="0"/>
                <a:ea typeface="Aptos" pitchFamily="34" charset="-122"/>
                <a:cs typeface="Aptos" pitchFamily="34" charset="-120"/>
              </a:rPr>
              <a:t>Instructor cue: ask learners “What would happen if this identity was compromised?”</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333333">
                <a:alpha val="0"/>
              </a:srgbClr>
            </a:solidFill>
            <a:prstDash val="solid"/>
          </a:ln>
        </p:spPr>
      </p:sp>
      <p:sp>
        <p:nvSpPr>
          <p:cNvPr id="3" name="Shape 1"/>
          <p:cNvSpPr/>
          <p:nvPr/>
        </p:nvSpPr>
        <p:spPr>
          <a:xfrm>
            <a:off x="0" y="0"/>
            <a:ext cx="155448" cy="6858000"/>
          </a:xfrm>
          <a:prstGeom prst="rect">
            <a:avLst/>
          </a:prstGeom>
          <a:solidFill>
            <a:srgbClr val="1A73E8"/>
          </a:solidFill>
          <a:ln w="12700">
            <a:solidFill>
              <a:srgbClr val="333333">
                <a:alpha val="0"/>
              </a:srgbClr>
            </a:solidFill>
            <a:prstDash val="solid"/>
          </a:ln>
        </p:spPr>
      </p:sp>
      <p:sp>
        <p:nvSpPr>
          <p:cNvPr id="4" name="Text 2"/>
          <p:cNvSpPr/>
          <p:nvPr/>
        </p:nvSpPr>
        <p:spPr>
          <a:xfrm>
            <a:off x="502920" y="228600"/>
            <a:ext cx="7498080" cy="228600"/>
          </a:xfrm>
          <a:prstGeom prst="rect">
            <a:avLst/>
          </a:prstGeom>
          <a:noFill/>
          <a:ln/>
        </p:spPr>
        <p:txBody>
          <a:bodyPr wrap="square" lIns="0" tIns="0" rIns="0" bIns="0" rtlCol="0" anchor="ctr">
            <a:normAutofit/>
          </a:bodyPr>
          <a:lstStyle/>
          <a:p>
            <a:pPr indent="0" marL="0">
              <a:buNone/>
            </a:pPr>
            <a:r>
              <a:rPr lang="en-US" sz="850" b="1" dirty="0">
                <a:solidFill>
                  <a:srgbClr val="1A73E8"/>
                </a:solidFill>
                <a:latin typeface="Aptos" pitchFamily="34" charset="0"/>
                <a:ea typeface="Aptos" pitchFamily="34" charset="-122"/>
                <a:cs typeface="Aptos" pitchFamily="34" charset="-120"/>
              </a:rPr>
              <a:t>Portal walkthrough</a:t>
            </a:r>
            <a:endParaRPr lang="en-US" sz="850" dirty="0"/>
          </a:p>
        </p:txBody>
      </p:sp>
      <p:sp>
        <p:nvSpPr>
          <p:cNvPr id="5" name="Text 3"/>
          <p:cNvSpPr/>
          <p:nvPr/>
        </p:nvSpPr>
        <p:spPr>
          <a:xfrm>
            <a:off x="502920" y="475488"/>
            <a:ext cx="9966960" cy="475488"/>
          </a:xfrm>
          <a:prstGeom prst="rect">
            <a:avLst/>
          </a:prstGeom>
          <a:noFill/>
          <a:ln/>
        </p:spPr>
        <p:txBody>
          <a:bodyPr wrap="square" lIns="254" tIns="254" rIns="254" bIns="254" rtlCol="0" anchor="ctr">
            <a:normAutofit/>
          </a:bodyPr>
          <a:lstStyle/>
          <a:p>
            <a:pPr indent="0" marL="0">
              <a:buNone/>
            </a:pPr>
            <a:r>
              <a:rPr lang="en-US" sz="2500" b="1" dirty="0">
                <a:solidFill>
                  <a:srgbClr val="101828"/>
                </a:solidFill>
                <a:latin typeface="Aptos Display" pitchFamily="34" charset="0"/>
                <a:ea typeface="Aptos Display" pitchFamily="34" charset="-122"/>
                <a:cs typeface="Aptos Display" pitchFamily="34" charset="-120"/>
              </a:rPr>
              <a:t>Demo: assign scoped access at the resource group</a:t>
            </a:r>
            <a:endParaRPr lang="en-US" sz="2500" dirty="0"/>
          </a:p>
        </p:txBody>
      </p:sp>
      <p:sp>
        <p:nvSpPr>
          <p:cNvPr id="6" name="Shape 4"/>
          <p:cNvSpPr/>
          <p:nvPr/>
        </p:nvSpPr>
        <p:spPr>
          <a:xfrm>
            <a:off x="502920" y="1078992"/>
            <a:ext cx="10927080" cy="0"/>
          </a:xfrm>
          <a:prstGeom prst="line">
            <a:avLst/>
          </a:prstGeom>
          <a:noFill/>
          <a:ln w="12700">
            <a:solidFill>
              <a:srgbClr val="D0D5DD"/>
            </a:solidFill>
            <a:prstDash val="solid"/>
          </a:ln>
        </p:spPr>
      </p:sp>
      <p:sp>
        <p:nvSpPr>
          <p:cNvPr id="7" name="Text 5"/>
          <p:cNvSpPr/>
          <p:nvPr/>
        </p:nvSpPr>
        <p:spPr>
          <a:xfrm>
            <a:off x="502920" y="6492240"/>
            <a:ext cx="4114800" cy="182880"/>
          </a:xfrm>
          <a:prstGeom prst="rect">
            <a:avLst/>
          </a:prstGeom>
          <a:noFill/>
          <a:ln/>
        </p:spPr>
        <p:txBody>
          <a:bodyPr wrap="square" lIns="0" tIns="0" rIns="0" bIns="0" rtlCol="0" anchor="ctr">
            <a:normAutofit/>
          </a:bodyPr>
          <a:lstStyle/>
          <a:p>
            <a:pPr indent="0" marL="0">
              <a:buNone/>
            </a:pPr>
            <a:r>
              <a:rPr lang="en-US" sz="750" dirty="0">
                <a:solidFill>
                  <a:srgbClr val="475467"/>
                </a:solidFill>
              </a:rPr>
              <a:t>CESE323 | Least Privilege RBAC</a:t>
            </a:r>
            <a:endParaRPr lang="en-US" sz="750" dirty="0"/>
          </a:p>
        </p:txBody>
      </p:sp>
      <p:sp>
        <p:nvSpPr>
          <p:cNvPr id="8" name="Text 6"/>
          <p:cNvSpPr/>
          <p:nvPr/>
        </p:nvSpPr>
        <p:spPr>
          <a:xfrm>
            <a:off x="11109960" y="6428232"/>
            <a:ext cx="502920" cy="274320"/>
          </a:xfrm>
          <a:prstGeom prst="rect">
            <a:avLst/>
          </a:prstGeom>
          <a:noFill/>
          <a:ln/>
        </p:spPr>
        <p:txBody>
          <a:bodyPr wrap="square" lIns="0" tIns="0" rIns="0" bIns="0" rtlCol="0" anchor="ctr"/>
          <a:lstStyle/>
          <a:p>
            <a:pPr algn="r" indent="0" marL="0">
              <a:buNone/>
            </a:pPr>
            <a:r>
              <a:rPr lang="en-US" sz="900" b="1" dirty="0">
                <a:solidFill>
                  <a:srgbClr val="1A73E8"/>
                </a:solidFill>
              </a:rPr>
              <a:t>10</a:t>
            </a:r>
            <a:endParaRPr lang="en-US" sz="900" dirty="0"/>
          </a:p>
        </p:txBody>
      </p:sp>
      <p:sp>
        <p:nvSpPr>
          <p:cNvPr id="9" name="Shape 7"/>
          <p:cNvSpPr/>
          <p:nvPr/>
        </p:nvSpPr>
        <p:spPr>
          <a:xfrm>
            <a:off x="868680" y="1353312"/>
            <a:ext cx="475488" cy="347472"/>
          </a:xfrm>
          <a:prstGeom prst="roundRect">
            <a:avLst/>
          </a:prstGeom>
          <a:solidFill>
            <a:srgbClr val="0F8A5F"/>
          </a:solidFill>
          <a:ln w="12700">
            <a:solidFill>
              <a:srgbClr val="333333">
                <a:alpha val="0"/>
              </a:srgbClr>
            </a:solidFill>
            <a:prstDash val="solid"/>
          </a:ln>
        </p:spPr>
      </p:sp>
      <p:sp>
        <p:nvSpPr>
          <p:cNvPr id="10" name="Text 8"/>
          <p:cNvSpPr/>
          <p:nvPr/>
        </p:nvSpPr>
        <p:spPr>
          <a:xfrm>
            <a:off x="1014984" y="1472184"/>
            <a:ext cx="182880" cy="91440"/>
          </a:xfrm>
          <a:prstGeom prst="rect">
            <a:avLst/>
          </a:prstGeom>
          <a:noFill/>
          <a:ln/>
        </p:spPr>
        <p:txBody>
          <a:bodyPr wrap="square" lIns="0" tIns="0" rIns="0" bIns="0" rtlCol="0" anchor="ctr"/>
          <a:lstStyle/>
          <a:p>
            <a:pPr algn="ctr" indent="0" marL="0">
              <a:buNone/>
            </a:pPr>
            <a:r>
              <a:rPr lang="en-US" sz="1000" b="1" dirty="0">
                <a:solidFill>
                  <a:srgbClr val="FFFFFF"/>
                </a:solidFill>
              </a:rPr>
              <a:t>1</a:t>
            </a:r>
            <a:endParaRPr lang="en-US" sz="1000" dirty="0"/>
          </a:p>
        </p:txBody>
      </p:sp>
      <p:sp>
        <p:nvSpPr>
          <p:cNvPr id="11" name="Text 9"/>
          <p:cNvSpPr/>
          <p:nvPr/>
        </p:nvSpPr>
        <p:spPr>
          <a:xfrm>
            <a:off x="1554480" y="1399032"/>
            <a:ext cx="6537960" cy="237744"/>
          </a:xfrm>
          <a:prstGeom prst="rect">
            <a:avLst/>
          </a:prstGeom>
          <a:noFill/>
          <a:ln/>
        </p:spPr>
        <p:txBody>
          <a:bodyPr wrap="square" lIns="1016" tIns="1016" rIns="1016" bIns="1016" rtlCol="0" anchor="t">
            <a:normAutofit/>
          </a:bodyPr>
          <a:lstStyle/>
          <a:p>
            <a:pPr algn="l" indent="0" marL="0">
              <a:buNone/>
            </a:pPr>
            <a:r>
              <a:rPr lang="en-US" sz="1430" dirty="0">
                <a:solidFill>
                  <a:srgbClr val="101828"/>
                </a:solidFill>
                <a:latin typeface="Aptos" pitchFamily="34" charset="0"/>
                <a:ea typeface="Aptos" pitchFamily="34" charset="-122"/>
                <a:cs typeface="Aptos" pitchFamily="34" charset="-120"/>
              </a:rPr>
              <a:t>Resource groups → rg-saas-dev</a:t>
            </a:r>
            <a:endParaRPr lang="en-US" sz="1430" dirty="0"/>
          </a:p>
        </p:txBody>
      </p:sp>
      <p:sp>
        <p:nvSpPr>
          <p:cNvPr id="12" name="Shape 10"/>
          <p:cNvSpPr/>
          <p:nvPr/>
        </p:nvSpPr>
        <p:spPr>
          <a:xfrm>
            <a:off x="868680" y="1965960"/>
            <a:ext cx="475488" cy="347472"/>
          </a:xfrm>
          <a:prstGeom prst="roundRect">
            <a:avLst/>
          </a:prstGeom>
          <a:solidFill>
            <a:srgbClr val="0F8A5F"/>
          </a:solidFill>
          <a:ln w="12700">
            <a:solidFill>
              <a:srgbClr val="333333">
                <a:alpha val="0"/>
              </a:srgbClr>
            </a:solidFill>
            <a:prstDash val="solid"/>
          </a:ln>
        </p:spPr>
      </p:sp>
      <p:sp>
        <p:nvSpPr>
          <p:cNvPr id="13" name="Text 11"/>
          <p:cNvSpPr/>
          <p:nvPr/>
        </p:nvSpPr>
        <p:spPr>
          <a:xfrm>
            <a:off x="1014984" y="2084832"/>
            <a:ext cx="182880" cy="91440"/>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4" name="Text 12"/>
          <p:cNvSpPr/>
          <p:nvPr/>
        </p:nvSpPr>
        <p:spPr>
          <a:xfrm>
            <a:off x="1554480" y="2011680"/>
            <a:ext cx="6537960" cy="237744"/>
          </a:xfrm>
          <a:prstGeom prst="rect">
            <a:avLst/>
          </a:prstGeom>
          <a:noFill/>
          <a:ln/>
        </p:spPr>
        <p:txBody>
          <a:bodyPr wrap="square" lIns="1016" tIns="1016" rIns="1016" bIns="1016" rtlCol="0" anchor="t">
            <a:normAutofit/>
          </a:bodyPr>
          <a:lstStyle/>
          <a:p>
            <a:pPr algn="l" indent="0" marL="0">
              <a:buNone/>
            </a:pPr>
            <a:r>
              <a:rPr lang="en-US" sz="1430" dirty="0">
                <a:solidFill>
                  <a:srgbClr val="101828"/>
                </a:solidFill>
                <a:latin typeface="Aptos" pitchFamily="34" charset="0"/>
                <a:ea typeface="Aptos" pitchFamily="34" charset="-122"/>
                <a:cs typeface="Aptos" pitchFamily="34" charset="-120"/>
              </a:rPr>
              <a:t>Access control (IAM) → Add role assignment</a:t>
            </a:r>
            <a:endParaRPr lang="en-US" sz="1430" dirty="0"/>
          </a:p>
        </p:txBody>
      </p:sp>
      <p:sp>
        <p:nvSpPr>
          <p:cNvPr id="15" name="Shape 13"/>
          <p:cNvSpPr/>
          <p:nvPr/>
        </p:nvSpPr>
        <p:spPr>
          <a:xfrm>
            <a:off x="868680" y="2578608"/>
            <a:ext cx="475488" cy="347472"/>
          </a:xfrm>
          <a:prstGeom prst="roundRect">
            <a:avLst/>
          </a:prstGeom>
          <a:solidFill>
            <a:srgbClr val="0F8A5F"/>
          </a:solidFill>
          <a:ln w="12700">
            <a:solidFill>
              <a:srgbClr val="333333">
                <a:alpha val="0"/>
              </a:srgbClr>
            </a:solidFill>
            <a:prstDash val="solid"/>
          </a:ln>
        </p:spPr>
      </p:sp>
      <p:sp>
        <p:nvSpPr>
          <p:cNvPr id="16" name="Text 14"/>
          <p:cNvSpPr/>
          <p:nvPr/>
        </p:nvSpPr>
        <p:spPr>
          <a:xfrm>
            <a:off x="1014984" y="2697480"/>
            <a:ext cx="182880" cy="91440"/>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7" name="Text 15"/>
          <p:cNvSpPr/>
          <p:nvPr/>
        </p:nvSpPr>
        <p:spPr>
          <a:xfrm>
            <a:off x="1554480" y="2624328"/>
            <a:ext cx="6537960" cy="237744"/>
          </a:xfrm>
          <a:prstGeom prst="rect">
            <a:avLst/>
          </a:prstGeom>
          <a:noFill/>
          <a:ln/>
        </p:spPr>
        <p:txBody>
          <a:bodyPr wrap="square" lIns="1016" tIns="1016" rIns="1016" bIns="1016" rtlCol="0" anchor="t">
            <a:normAutofit/>
          </a:bodyPr>
          <a:lstStyle/>
          <a:p>
            <a:pPr algn="l" indent="0" marL="0">
              <a:buNone/>
            </a:pPr>
            <a:r>
              <a:rPr lang="en-US" sz="1430" dirty="0">
                <a:solidFill>
                  <a:srgbClr val="101828"/>
                </a:solidFill>
                <a:latin typeface="Aptos" pitchFamily="34" charset="0"/>
                <a:ea typeface="Aptos" pitchFamily="34" charset="-122"/>
                <a:cs typeface="Aptos" pitchFamily="34" charset="-120"/>
              </a:rPr>
              <a:t>Role: Contributor, Website Contributor, or custom deployment role</a:t>
            </a:r>
            <a:endParaRPr lang="en-US" sz="1430" dirty="0"/>
          </a:p>
        </p:txBody>
      </p:sp>
      <p:sp>
        <p:nvSpPr>
          <p:cNvPr id="18" name="Shape 16"/>
          <p:cNvSpPr/>
          <p:nvPr/>
        </p:nvSpPr>
        <p:spPr>
          <a:xfrm>
            <a:off x="868680" y="3191256"/>
            <a:ext cx="475488" cy="347472"/>
          </a:xfrm>
          <a:prstGeom prst="roundRect">
            <a:avLst/>
          </a:prstGeom>
          <a:solidFill>
            <a:srgbClr val="0F8A5F"/>
          </a:solidFill>
          <a:ln w="12700">
            <a:solidFill>
              <a:srgbClr val="333333">
                <a:alpha val="0"/>
              </a:srgbClr>
            </a:solidFill>
            <a:prstDash val="solid"/>
          </a:ln>
        </p:spPr>
      </p:sp>
      <p:sp>
        <p:nvSpPr>
          <p:cNvPr id="19" name="Text 17"/>
          <p:cNvSpPr/>
          <p:nvPr/>
        </p:nvSpPr>
        <p:spPr>
          <a:xfrm>
            <a:off x="1014984" y="3310128"/>
            <a:ext cx="182880" cy="91440"/>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20" name="Text 18"/>
          <p:cNvSpPr/>
          <p:nvPr/>
        </p:nvSpPr>
        <p:spPr>
          <a:xfrm>
            <a:off x="1554480" y="3236976"/>
            <a:ext cx="6537960" cy="237744"/>
          </a:xfrm>
          <a:prstGeom prst="rect">
            <a:avLst/>
          </a:prstGeom>
          <a:noFill/>
          <a:ln/>
        </p:spPr>
        <p:txBody>
          <a:bodyPr wrap="square" lIns="1016" tIns="1016" rIns="1016" bIns="1016" rtlCol="0" anchor="t">
            <a:normAutofit/>
          </a:bodyPr>
          <a:lstStyle/>
          <a:p>
            <a:pPr algn="l" indent="0" marL="0">
              <a:buNone/>
            </a:pPr>
            <a:r>
              <a:rPr lang="en-US" sz="1430" dirty="0">
                <a:solidFill>
                  <a:srgbClr val="101828"/>
                </a:solidFill>
                <a:latin typeface="Aptos" pitchFamily="34" charset="0"/>
                <a:ea typeface="Aptos" pitchFamily="34" charset="-122"/>
                <a:cs typeface="Aptos" pitchFamily="34" charset="-120"/>
              </a:rPr>
              <a:t>Members: spn-saas-dev-deploy</a:t>
            </a:r>
            <a:endParaRPr lang="en-US" sz="1430" dirty="0"/>
          </a:p>
        </p:txBody>
      </p:sp>
      <p:sp>
        <p:nvSpPr>
          <p:cNvPr id="21" name="Shape 19"/>
          <p:cNvSpPr/>
          <p:nvPr/>
        </p:nvSpPr>
        <p:spPr>
          <a:xfrm>
            <a:off x="868680" y="3803904"/>
            <a:ext cx="475488" cy="347472"/>
          </a:xfrm>
          <a:prstGeom prst="roundRect">
            <a:avLst/>
          </a:prstGeom>
          <a:solidFill>
            <a:srgbClr val="0F8A5F"/>
          </a:solidFill>
          <a:ln w="12700">
            <a:solidFill>
              <a:srgbClr val="333333">
                <a:alpha val="0"/>
              </a:srgbClr>
            </a:solidFill>
            <a:prstDash val="solid"/>
          </a:ln>
        </p:spPr>
      </p:sp>
      <p:sp>
        <p:nvSpPr>
          <p:cNvPr id="22" name="Text 20"/>
          <p:cNvSpPr/>
          <p:nvPr/>
        </p:nvSpPr>
        <p:spPr>
          <a:xfrm>
            <a:off x="1014984" y="3922776"/>
            <a:ext cx="182880" cy="91440"/>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23" name="Text 21"/>
          <p:cNvSpPr/>
          <p:nvPr/>
        </p:nvSpPr>
        <p:spPr>
          <a:xfrm>
            <a:off x="1554480" y="3849624"/>
            <a:ext cx="6537960" cy="237744"/>
          </a:xfrm>
          <a:prstGeom prst="rect">
            <a:avLst/>
          </a:prstGeom>
          <a:noFill/>
          <a:ln/>
        </p:spPr>
        <p:txBody>
          <a:bodyPr wrap="square" lIns="1016" tIns="1016" rIns="1016" bIns="1016" rtlCol="0" anchor="t">
            <a:normAutofit/>
          </a:bodyPr>
          <a:lstStyle/>
          <a:p>
            <a:pPr algn="l" indent="0" marL="0">
              <a:buNone/>
            </a:pPr>
            <a:r>
              <a:rPr lang="en-US" sz="1430" dirty="0">
                <a:solidFill>
                  <a:srgbClr val="101828"/>
                </a:solidFill>
                <a:latin typeface="Aptos" pitchFamily="34" charset="0"/>
                <a:ea typeface="Aptos" pitchFamily="34" charset="-122"/>
                <a:cs typeface="Aptos" pitchFamily="34" charset="-120"/>
              </a:rPr>
              <a:t>Review + assign</a:t>
            </a:r>
            <a:endParaRPr lang="en-US" sz="1430" dirty="0"/>
          </a:p>
        </p:txBody>
      </p:sp>
      <p:sp>
        <p:nvSpPr>
          <p:cNvPr id="24" name="Shape 22"/>
          <p:cNvSpPr/>
          <p:nvPr/>
        </p:nvSpPr>
        <p:spPr>
          <a:xfrm>
            <a:off x="868680" y="4416552"/>
            <a:ext cx="475488" cy="347472"/>
          </a:xfrm>
          <a:prstGeom prst="roundRect">
            <a:avLst/>
          </a:prstGeom>
          <a:solidFill>
            <a:srgbClr val="0F8A5F"/>
          </a:solidFill>
          <a:ln w="12700">
            <a:solidFill>
              <a:srgbClr val="333333">
                <a:alpha val="0"/>
              </a:srgbClr>
            </a:solidFill>
            <a:prstDash val="solid"/>
          </a:ln>
        </p:spPr>
      </p:sp>
      <p:sp>
        <p:nvSpPr>
          <p:cNvPr id="25" name="Text 23"/>
          <p:cNvSpPr/>
          <p:nvPr/>
        </p:nvSpPr>
        <p:spPr>
          <a:xfrm>
            <a:off x="1014984" y="4535424"/>
            <a:ext cx="182880" cy="91440"/>
          </a:xfrm>
          <a:prstGeom prst="rect">
            <a:avLst/>
          </a:prstGeom>
          <a:noFill/>
          <a:ln/>
        </p:spPr>
        <p:txBody>
          <a:bodyPr wrap="square" lIns="0" tIns="0" rIns="0" bIns="0" rtlCol="0" anchor="ctr"/>
          <a:lstStyle/>
          <a:p>
            <a:pPr algn="ctr" indent="0" marL="0">
              <a:buNone/>
            </a:pPr>
            <a:r>
              <a:rPr lang="en-US" sz="1000" b="1" dirty="0">
                <a:solidFill>
                  <a:srgbClr val="FFFFFF"/>
                </a:solidFill>
              </a:rPr>
              <a:t>6</a:t>
            </a:r>
            <a:endParaRPr lang="en-US" sz="1000" dirty="0"/>
          </a:p>
        </p:txBody>
      </p:sp>
      <p:sp>
        <p:nvSpPr>
          <p:cNvPr id="26" name="Text 24"/>
          <p:cNvSpPr/>
          <p:nvPr/>
        </p:nvSpPr>
        <p:spPr>
          <a:xfrm>
            <a:off x="1554480" y="4462272"/>
            <a:ext cx="6537960" cy="237744"/>
          </a:xfrm>
          <a:prstGeom prst="rect">
            <a:avLst/>
          </a:prstGeom>
          <a:noFill/>
          <a:ln/>
        </p:spPr>
        <p:txBody>
          <a:bodyPr wrap="square" lIns="1016" tIns="1016" rIns="1016" bIns="1016" rtlCol="0" anchor="t">
            <a:normAutofit/>
          </a:bodyPr>
          <a:lstStyle/>
          <a:p>
            <a:pPr algn="l" indent="0" marL="0">
              <a:buNone/>
            </a:pPr>
            <a:r>
              <a:rPr lang="en-US" sz="1430" dirty="0">
                <a:solidFill>
                  <a:srgbClr val="101828"/>
                </a:solidFill>
                <a:latin typeface="Aptos" pitchFamily="34" charset="0"/>
                <a:ea typeface="Aptos" pitchFamily="34" charset="-122"/>
                <a:cs typeface="Aptos" pitchFamily="34" charset="-120"/>
              </a:rPr>
              <a:t>Repeat separately for Stage and Prod with separate identities</a:t>
            </a:r>
            <a:endParaRPr lang="en-US" sz="1430" dirty="0"/>
          </a:p>
        </p:txBody>
      </p:sp>
      <p:sp>
        <p:nvSpPr>
          <p:cNvPr id="27" name="Shape 25"/>
          <p:cNvSpPr/>
          <p:nvPr/>
        </p:nvSpPr>
        <p:spPr>
          <a:xfrm>
            <a:off x="8549640" y="1828800"/>
            <a:ext cx="2423160" cy="2240280"/>
          </a:xfrm>
          <a:prstGeom prst="roundRect">
            <a:avLst/>
          </a:prstGeom>
          <a:solidFill>
            <a:srgbClr val="EAF8F1"/>
          </a:solidFill>
          <a:ln w="12700">
            <a:solidFill>
              <a:srgbClr val="9EDCC0"/>
            </a:solidFill>
            <a:prstDash val="solid"/>
          </a:ln>
        </p:spPr>
      </p:sp>
      <p:sp>
        <p:nvSpPr>
          <p:cNvPr id="28" name="Text 26"/>
          <p:cNvSpPr/>
          <p:nvPr/>
        </p:nvSpPr>
        <p:spPr>
          <a:xfrm>
            <a:off x="8778240" y="2103120"/>
            <a:ext cx="1965960" cy="182880"/>
          </a:xfrm>
          <a:prstGeom prst="rect">
            <a:avLst/>
          </a:prstGeom>
          <a:noFill/>
          <a:ln/>
        </p:spPr>
        <p:txBody>
          <a:bodyPr wrap="square" lIns="0" tIns="0" rIns="0" bIns="0" rtlCol="0" anchor="ctr"/>
          <a:lstStyle/>
          <a:p>
            <a:pPr algn="ctr" indent="0" marL="0">
              <a:buNone/>
            </a:pPr>
            <a:r>
              <a:rPr lang="en-US" sz="1500" b="1" dirty="0">
                <a:solidFill>
                  <a:srgbClr val="0F8A5F"/>
                </a:solidFill>
              </a:rPr>
              <a:t>Scope test</a:t>
            </a:r>
            <a:endParaRPr lang="en-US" sz="1500" dirty="0"/>
          </a:p>
        </p:txBody>
      </p:sp>
      <p:sp>
        <p:nvSpPr>
          <p:cNvPr id="29" name="Text 27"/>
          <p:cNvSpPr/>
          <p:nvPr/>
        </p:nvSpPr>
        <p:spPr>
          <a:xfrm>
            <a:off x="8823960" y="2514600"/>
            <a:ext cx="1874520" cy="960120"/>
          </a:xfrm>
          <a:prstGeom prst="rect">
            <a:avLst/>
          </a:prstGeom>
          <a:noFill/>
          <a:ln/>
        </p:spPr>
        <p:txBody>
          <a:bodyPr wrap="square" lIns="1016" tIns="1016" rIns="1016" bIns="1016" rtlCol="0" anchor="t">
            <a:normAutofit/>
          </a:bodyPr>
          <a:lstStyle/>
          <a:p>
            <a:pPr algn="ctr" indent="0" marL="0">
              <a:buNone/>
            </a:pPr>
            <a:r>
              <a:rPr lang="en-US" sz="1250" dirty="0">
                <a:solidFill>
                  <a:srgbClr val="101828"/>
                </a:solidFill>
                <a:latin typeface="Aptos" pitchFamily="34" charset="0"/>
                <a:ea typeface="Aptos" pitchFamily="34" charset="-122"/>
                <a:cs typeface="Aptos" pitchFamily="34" charset="-120"/>
              </a:rPr>
              <a:t>Can Dev identity deploy to Dev?</a:t>
            </a:r>
            <a:endParaRPr lang="en-US" sz="1250" dirty="0"/>
          </a:p>
          <a:p>
            <a:pPr algn="ctr" indent="0" marL="0">
              <a:buNone/>
            </a:pPr>
            <a:r>
              <a:rPr lang="en-US" sz="1250" dirty="0">
                <a:solidFill>
                  <a:srgbClr val="101828"/>
                </a:solidFill>
                <a:latin typeface="Aptos" pitchFamily="34" charset="0"/>
                <a:ea typeface="Aptos" pitchFamily="34" charset="-122"/>
                <a:cs typeface="Aptos" pitchFamily="34" charset="-120"/>
              </a:rPr>
              <a:t>Yes.</a:t>
            </a:r>
            <a:endParaRPr lang="en-US" sz="1250" dirty="0"/>
          </a:p>
          <a:p>
            <a:pPr algn="ctr" indent="0" marL="0">
              <a:buNone/>
            </a:pPr>
            <a:endParaRPr lang="en-US" sz="1250" dirty="0"/>
          </a:p>
          <a:p>
            <a:pPr algn="ctr" indent="0" marL="0">
              <a:buNone/>
            </a:pPr>
            <a:r>
              <a:rPr lang="en-US" sz="1250" dirty="0">
                <a:solidFill>
                  <a:srgbClr val="101828"/>
                </a:solidFill>
                <a:latin typeface="Aptos" pitchFamily="34" charset="0"/>
                <a:ea typeface="Aptos" pitchFamily="34" charset="-122"/>
                <a:cs typeface="Aptos" pitchFamily="34" charset="-120"/>
              </a:rPr>
              <a:t>Can Dev identity deploy to Prod?</a:t>
            </a:r>
            <a:endParaRPr lang="en-US" sz="1250" dirty="0"/>
          </a:p>
          <a:p>
            <a:pPr algn="ctr" indent="0" marL="0">
              <a:buNone/>
            </a:pPr>
            <a:r>
              <a:rPr lang="en-US" sz="1250" dirty="0">
                <a:solidFill>
                  <a:srgbClr val="101828"/>
                </a:solidFill>
                <a:latin typeface="Aptos" pitchFamily="34" charset="0"/>
                <a:ea typeface="Aptos" pitchFamily="34" charset="-122"/>
                <a:cs typeface="Aptos" pitchFamily="34" charset="-120"/>
              </a:rPr>
              <a:t>No.</a:t>
            </a:r>
            <a:endParaRPr lang="en-US" sz="1250" dirty="0"/>
          </a:p>
        </p:txBody>
      </p:sp>
      <p:sp>
        <p:nvSpPr>
          <p:cNvPr id="30" name="Text 28"/>
          <p:cNvSpPr/>
          <p:nvPr/>
        </p:nvSpPr>
        <p:spPr>
          <a:xfrm>
            <a:off x="1005840" y="5623560"/>
            <a:ext cx="9784080" cy="347472"/>
          </a:xfrm>
          <a:prstGeom prst="rect">
            <a:avLst/>
          </a:prstGeom>
          <a:noFill/>
          <a:ln/>
        </p:spPr>
        <p:txBody>
          <a:bodyPr wrap="square" lIns="1016" tIns="1016" rIns="1016" bIns="1016" rtlCol="0" anchor="t">
            <a:normAutofit/>
          </a:bodyPr>
          <a:lstStyle/>
          <a:p>
            <a:pPr algn="ctr" indent="0" marL="0">
              <a:buNone/>
            </a:pPr>
            <a:r>
              <a:rPr lang="en-US" sz="1700" b="1" dirty="0">
                <a:solidFill>
                  <a:srgbClr val="101828"/>
                </a:solidFill>
                <a:latin typeface="Aptos" pitchFamily="34" charset="0"/>
                <a:ea typeface="Aptos" pitchFamily="34" charset="-122"/>
                <a:cs typeface="Aptos" pitchFamily="34" charset="-120"/>
              </a:rPr>
              <a:t>This shows least privilege by scope before we optimize least privilege by role.</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333333">
                <a:alpha val="0"/>
              </a:srgbClr>
            </a:solidFill>
            <a:prstDash val="solid"/>
          </a:ln>
        </p:spPr>
      </p:sp>
      <p:sp>
        <p:nvSpPr>
          <p:cNvPr id="3" name="Shape 1"/>
          <p:cNvSpPr/>
          <p:nvPr/>
        </p:nvSpPr>
        <p:spPr>
          <a:xfrm>
            <a:off x="0" y="0"/>
            <a:ext cx="155448" cy="6858000"/>
          </a:xfrm>
          <a:prstGeom prst="rect">
            <a:avLst/>
          </a:prstGeom>
          <a:solidFill>
            <a:srgbClr val="1A73E8"/>
          </a:solidFill>
          <a:ln w="12700">
            <a:solidFill>
              <a:srgbClr val="333333">
                <a:alpha val="0"/>
              </a:srgbClr>
            </a:solidFill>
            <a:prstDash val="solid"/>
          </a:ln>
        </p:spPr>
      </p:sp>
      <p:sp>
        <p:nvSpPr>
          <p:cNvPr id="4" name="Text 2"/>
          <p:cNvSpPr/>
          <p:nvPr/>
        </p:nvSpPr>
        <p:spPr>
          <a:xfrm>
            <a:off x="502920" y="228600"/>
            <a:ext cx="7498080" cy="228600"/>
          </a:xfrm>
          <a:prstGeom prst="rect">
            <a:avLst/>
          </a:prstGeom>
          <a:noFill/>
          <a:ln/>
        </p:spPr>
        <p:txBody>
          <a:bodyPr wrap="square" lIns="0" tIns="0" rIns="0" bIns="0" rtlCol="0" anchor="ctr">
            <a:normAutofit/>
          </a:bodyPr>
          <a:lstStyle/>
          <a:p>
            <a:pPr indent="0" marL="0">
              <a:buNone/>
            </a:pPr>
            <a:r>
              <a:rPr lang="en-US" sz="850" b="1" dirty="0">
                <a:solidFill>
                  <a:srgbClr val="1A73E8"/>
                </a:solidFill>
                <a:latin typeface="Aptos" pitchFamily="34" charset="0"/>
                <a:ea typeface="Aptos" pitchFamily="34" charset="-122"/>
                <a:cs typeface="Aptos" pitchFamily="34" charset="-120"/>
              </a:rPr>
              <a:t>Portal walkthrough</a:t>
            </a:r>
            <a:endParaRPr lang="en-US" sz="850" dirty="0"/>
          </a:p>
        </p:txBody>
      </p:sp>
      <p:sp>
        <p:nvSpPr>
          <p:cNvPr id="5" name="Text 3"/>
          <p:cNvSpPr/>
          <p:nvPr/>
        </p:nvSpPr>
        <p:spPr>
          <a:xfrm>
            <a:off x="502920" y="475488"/>
            <a:ext cx="9966960" cy="475488"/>
          </a:xfrm>
          <a:prstGeom prst="rect">
            <a:avLst/>
          </a:prstGeom>
          <a:noFill/>
          <a:ln/>
        </p:spPr>
        <p:txBody>
          <a:bodyPr wrap="square" lIns="254" tIns="254" rIns="254" bIns="254" rtlCol="0" anchor="ctr">
            <a:normAutofit/>
          </a:bodyPr>
          <a:lstStyle/>
          <a:p>
            <a:pPr indent="0" marL="0">
              <a:buNone/>
            </a:pPr>
            <a:r>
              <a:rPr lang="en-US" sz="2500" b="1" dirty="0">
                <a:solidFill>
                  <a:srgbClr val="101828"/>
                </a:solidFill>
                <a:latin typeface="Aptos Display" pitchFamily="34" charset="0"/>
                <a:ea typeface="Aptos Display" pitchFamily="34" charset="-122"/>
                <a:cs typeface="Aptos Display" pitchFamily="34" charset="-120"/>
              </a:rPr>
              <a:t>Demo: create a custom Azure role</a:t>
            </a:r>
            <a:endParaRPr lang="en-US" sz="2500" dirty="0"/>
          </a:p>
        </p:txBody>
      </p:sp>
      <p:sp>
        <p:nvSpPr>
          <p:cNvPr id="6" name="Shape 4"/>
          <p:cNvSpPr/>
          <p:nvPr/>
        </p:nvSpPr>
        <p:spPr>
          <a:xfrm>
            <a:off x="502920" y="1078992"/>
            <a:ext cx="10927080" cy="0"/>
          </a:xfrm>
          <a:prstGeom prst="line">
            <a:avLst/>
          </a:prstGeom>
          <a:noFill/>
          <a:ln w="12700">
            <a:solidFill>
              <a:srgbClr val="D0D5DD"/>
            </a:solidFill>
            <a:prstDash val="solid"/>
          </a:ln>
        </p:spPr>
      </p:sp>
      <p:sp>
        <p:nvSpPr>
          <p:cNvPr id="7" name="Text 5"/>
          <p:cNvSpPr/>
          <p:nvPr/>
        </p:nvSpPr>
        <p:spPr>
          <a:xfrm>
            <a:off x="502920" y="6492240"/>
            <a:ext cx="4114800" cy="182880"/>
          </a:xfrm>
          <a:prstGeom prst="rect">
            <a:avLst/>
          </a:prstGeom>
          <a:noFill/>
          <a:ln/>
        </p:spPr>
        <p:txBody>
          <a:bodyPr wrap="square" lIns="0" tIns="0" rIns="0" bIns="0" rtlCol="0" anchor="ctr">
            <a:normAutofit/>
          </a:bodyPr>
          <a:lstStyle/>
          <a:p>
            <a:pPr indent="0" marL="0">
              <a:buNone/>
            </a:pPr>
            <a:r>
              <a:rPr lang="en-US" sz="750" dirty="0">
                <a:solidFill>
                  <a:srgbClr val="475467"/>
                </a:solidFill>
              </a:rPr>
              <a:t>CESE323 | Least Privilege RBAC</a:t>
            </a:r>
            <a:endParaRPr lang="en-US" sz="750" dirty="0"/>
          </a:p>
        </p:txBody>
      </p:sp>
      <p:sp>
        <p:nvSpPr>
          <p:cNvPr id="8" name="Text 6"/>
          <p:cNvSpPr/>
          <p:nvPr/>
        </p:nvSpPr>
        <p:spPr>
          <a:xfrm>
            <a:off x="11109960" y="6428232"/>
            <a:ext cx="502920" cy="274320"/>
          </a:xfrm>
          <a:prstGeom prst="rect">
            <a:avLst/>
          </a:prstGeom>
          <a:noFill/>
          <a:ln/>
        </p:spPr>
        <p:txBody>
          <a:bodyPr wrap="square" lIns="0" tIns="0" rIns="0" bIns="0" rtlCol="0" anchor="ctr"/>
          <a:lstStyle/>
          <a:p>
            <a:pPr algn="r" indent="0" marL="0">
              <a:buNone/>
            </a:pPr>
            <a:r>
              <a:rPr lang="en-US" sz="900" b="1" dirty="0">
                <a:solidFill>
                  <a:srgbClr val="1A73E8"/>
                </a:solidFill>
              </a:rPr>
              <a:t>11</a:t>
            </a:r>
            <a:endParaRPr lang="en-US" sz="900" dirty="0"/>
          </a:p>
        </p:txBody>
      </p:sp>
      <p:sp>
        <p:nvSpPr>
          <p:cNvPr id="9" name="Text 7"/>
          <p:cNvSpPr/>
          <p:nvPr/>
        </p:nvSpPr>
        <p:spPr>
          <a:xfrm>
            <a:off x="822960" y="1353312"/>
            <a:ext cx="6080760" cy="201168"/>
          </a:xfrm>
          <a:prstGeom prst="rect">
            <a:avLst/>
          </a:prstGeom>
          <a:noFill/>
          <a:ln/>
        </p:spPr>
        <p:txBody>
          <a:bodyPr wrap="square" lIns="1016" tIns="1016" rIns="1016" bIns="1016" rtlCol="0" anchor="t">
            <a:normAutofit/>
          </a:bodyPr>
          <a:lstStyle/>
          <a:p>
            <a:pPr algn="l" indent="0" marL="0">
              <a:buNone/>
            </a:pPr>
            <a:r>
              <a:rPr lang="en-US" sz="1270" dirty="0">
                <a:solidFill>
                  <a:srgbClr val="101828"/>
                </a:solidFill>
                <a:latin typeface="Aptos" pitchFamily="34" charset="0"/>
                <a:ea typeface="Aptos" pitchFamily="34" charset="-122"/>
                <a:cs typeface="Aptos" pitchFamily="34" charset="-120"/>
              </a:rPr>
              <a:t>1. Subscription or resource group → Access control (IAM)</a:t>
            </a:r>
            <a:endParaRPr lang="en-US" sz="1270" dirty="0"/>
          </a:p>
        </p:txBody>
      </p:sp>
      <p:sp>
        <p:nvSpPr>
          <p:cNvPr id="10" name="Text 8"/>
          <p:cNvSpPr/>
          <p:nvPr/>
        </p:nvSpPr>
        <p:spPr>
          <a:xfrm>
            <a:off x="822960" y="1773936"/>
            <a:ext cx="6080760" cy="201168"/>
          </a:xfrm>
          <a:prstGeom prst="rect">
            <a:avLst/>
          </a:prstGeom>
          <a:noFill/>
          <a:ln/>
        </p:spPr>
        <p:txBody>
          <a:bodyPr wrap="square" lIns="1016" tIns="1016" rIns="1016" bIns="1016" rtlCol="0" anchor="t">
            <a:normAutofit/>
          </a:bodyPr>
          <a:lstStyle/>
          <a:p>
            <a:pPr algn="l" indent="0" marL="0">
              <a:buNone/>
            </a:pPr>
            <a:r>
              <a:rPr lang="en-US" sz="1270" dirty="0">
                <a:solidFill>
                  <a:srgbClr val="101828"/>
                </a:solidFill>
                <a:latin typeface="Aptos" pitchFamily="34" charset="0"/>
                <a:ea typeface="Aptos" pitchFamily="34" charset="-122"/>
                <a:cs typeface="Aptos" pitchFamily="34" charset="-120"/>
              </a:rPr>
              <a:t>2. Roles → Create custom role</a:t>
            </a:r>
            <a:endParaRPr lang="en-US" sz="1270" dirty="0"/>
          </a:p>
        </p:txBody>
      </p:sp>
      <p:sp>
        <p:nvSpPr>
          <p:cNvPr id="11" name="Text 9"/>
          <p:cNvSpPr/>
          <p:nvPr/>
        </p:nvSpPr>
        <p:spPr>
          <a:xfrm>
            <a:off x="822960" y="2194560"/>
            <a:ext cx="6080760" cy="201168"/>
          </a:xfrm>
          <a:prstGeom prst="rect">
            <a:avLst/>
          </a:prstGeom>
          <a:noFill/>
          <a:ln/>
        </p:spPr>
        <p:txBody>
          <a:bodyPr wrap="square" lIns="1016" tIns="1016" rIns="1016" bIns="1016" rtlCol="0" anchor="t">
            <a:normAutofit/>
          </a:bodyPr>
          <a:lstStyle/>
          <a:p>
            <a:pPr algn="l" indent="0" marL="0">
              <a:buNone/>
            </a:pPr>
            <a:r>
              <a:rPr lang="en-US" sz="1270" dirty="0">
                <a:solidFill>
                  <a:srgbClr val="101828"/>
                </a:solidFill>
                <a:latin typeface="Aptos" pitchFamily="34" charset="0"/>
                <a:ea typeface="Aptos" pitchFamily="34" charset="-122"/>
                <a:cs typeface="Aptos" pitchFamily="34" charset="-120"/>
              </a:rPr>
              <a:t>3. Start from JSON, clone a role, or start from scratch</a:t>
            </a:r>
            <a:endParaRPr lang="en-US" sz="1270" dirty="0"/>
          </a:p>
        </p:txBody>
      </p:sp>
      <p:sp>
        <p:nvSpPr>
          <p:cNvPr id="12" name="Text 10"/>
          <p:cNvSpPr/>
          <p:nvPr/>
        </p:nvSpPr>
        <p:spPr>
          <a:xfrm>
            <a:off x="822960" y="2615184"/>
            <a:ext cx="6080760" cy="201168"/>
          </a:xfrm>
          <a:prstGeom prst="rect">
            <a:avLst/>
          </a:prstGeom>
          <a:noFill/>
          <a:ln/>
        </p:spPr>
        <p:txBody>
          <a:bodyPr wrap="square" lIns="1016" tIns="1016" rIns="1016" bIns="1016" rtlCol="0" anchor="t">
            <a:normAutofit/>
          </a:bodyPr>
          <a:lstStyle/>
          <a:p>
            <a:pPr algn="l" indent="0" marL="0">
              <a:buNone/>
            </a:pPr>
            <a:r>
              <a:rPr lang="en-US" sz="1270" dirty="0">
                <a:solidFill>
                  <a:srgbClr val="101828"/>
                </a:solidFill>
                <a:latin typeface="Aptos" pitchFamily="34" charset="0"/>
                <a:ea typeface="Aptos" pitchFamily="34" charset="-122"/>
                <a:cs typeface="Aptos" pitchFamily="34" charset="-120"/>
              </a:rPr>
              <a:t>4. Add only required Actions and DataActions</a:t>
            </a:r>
            <a:endParaRPr lang="en-US" sz="1270" dirty="0"/>
          </a:p>
        </p:txBody>
      </p:sp>
      <p:sp>
        <p:nvSpPr>
          <p:cNvPr id="13" name="Text 11"/>
          <p:cNvSpPr/>
          <p:nvPr/>
        </p:nvSpPr>
        <p:spPr>
          <a:xfrm>
            <a:off x="822960" y="3035808"/>
            <a:ext cx="6080760" cy="201168"/>
          </a:xfrm>
          <a:prstGeom prst="rect">
            <a:avLst/>
          </a:prstGeom>
          <a:noFill/>
          <a:ln/>
        </p:spPr>
        <p:txBody>
          <a:bodyPr wrap="square" lIns="1016" tIns="1016" rIns="1016" bIns="1016" rtlCol="0" anchor="t">
            <a:normAutofit/>
          </a:bodyPr>
          <a:lstStyle/>
          <a:p>
            <a:pPr algn="l" indent="0" marL="0">
              <a:buNone/>
            </a:pPr>
            <a:r>
              <a:rPr lang="en-US" sz="1270" dirty="0">
                <a:solidFill>
                  <a:srgbClr val="101828"/>
                </a:solidFill>
                <a:latin typeface="Aptos" pitchFamily="34" charset="0"/>
                <a:ea typeface="Aptos" pitchFamily="34" charset="-122"/>
                <a:cs typeface="Aptos" pitchFamily="34" charset="-120"/>
              </a:rPr>
              <a:t>5. Exclude Authorization write actions unless explicitly needed</a:t>
            </a:r>
            <a:endParaRPr lang="en-US" sz="1270" dirty="0"/>
          </a:p>
        </p:txBody>
      </p:sp>
      <p:sp>
        <p:nvSpPr>
          <p:cNvPr id="14" name="Text 12"/>
          <p:cNvSpPr/>
          <p:nvPr/>
        </p:nvSpPr>
        <p:spPr>
          <a:xfrm>
            <a:off x="822960" y="3456432"/>
            <a:ext cx="6080760" cy="201168"/>
          </a:xfrm>
          <a:prstGeom prst="rect">
            <a:avLst/>
          </a:prstGeom>
          <a:noFill/>
          <a:ln/>
        </p:spPr>
        <p:txBody>
          <a:bodyPr wrap="square" lIns="1016" tIns="1016" rIns="1016" bIns="1016" rtlCol="0" anchor="t">
            <a:normAutofit/>
          </a:bodyPr>
          <a:lstStyle/>
          <a:p>
            <a:pPr algn="l" indent="0" marL="0">
              <a:buNone/>
            </a:pPr>
            <a:r>
              <a:rPr lang="en-US" sz="1270" dirty="0">
                <a:solidFill>
                  <a:srgbClr val="101828"/>
                </a:solidFill>
                <a:latin typeface="Aptos" pitchFamily="34" charset="0"/>
                <a:ea typeface="Aptos" pitchFamily="34" charset="-122"/>
                <a:cs typeface="Aptos" pitchFamily="34" charset="-120"/>
              </a:rPr>
              <a:t>6. Set AssignableScopes narrowly</a:t>
            </a:r>
            <a:endParaRPr lang="en-US" sz="1270" dirty="0"/>
          </a:p>
        </p:txBody>
      </p:sp>
      <p:sp>
        <p:nvSpPr>
          <p:cNvPr id="15" name="Text 13"/>
          <p:cNvSpPr/>
          <p:nvPr/>
        </p:nvSpPr>
        <p:spPr>
          <a:xfrm>
            <a:off x="822960" y="3877056"/>
            <a:ext cx="6080760" cy="201168"/>
          </a:xfrm>
          <a:prstGeom prst="rect">
            <a:avLst/>
          </a:prstGeom>
          <a:noFill/>
          <a:ln/>
        </p:spPr>
        <p:txBody>
          <a:bodyPr wrap="square" lIns="1016" tIns="1016" rIns="1016" bIns="1016" rtlCol="0" anchor="t">
            <a:normAutofit/>
          </a:bodyPr>
          <a:lstStyle/>
          <a:p>
            <a:pPr algn="l" indent="0" marL="0">
              <a:buNone/>
            </a:pPr>
            <a:r>
              <a:rPr lang="en-US" sz="1270" dirty="0">
                <a:solidFill>
                  <a:srgbClr val="101828"/>
                </a:solidFill>
                <a:latin typeface="Aptos" pitchFamily="34" charset="0"/>
                <a:ea typeface="Aptos" pitchFamily="34" charset="-122"/>
                <a:cs typeface="Aptos" pitchFamily="34" charset="-120"/>
              </a:rPr>
              <a:t>7. Assign custom role to pipeline identity</a:t>
            </a:r>
            <a:endParaRPr lang="en-US" sz="1270" dirty="0"/>
          </a:p>
        </p:txBody>
      </p:sp>
      <p:sp>
        <p:nvSpPr>
          <p:cNvPr id="16" name="Shape 14"/>
          <p:cNvSpPr/>
          <p:nvPr/>
        </p:nvSpPr>
        <p:spPr>
          <a:xfrm>
            <a:off x="7086600" y="1371600"/>
            <a:ext cx="4160520" cy="3337560"/>
          </a:xfrm>
          <a:prstGeom prst="roundRect">
            <a:avLst/>
          </a:prstGeom>
          <a:solidFill>
            <a:srgbClr val="FFFFFF"/>
          </a:solidFill>
          <a:ln w="12700">
            <a:solidFill>
              <a:srgbClr val="D0D5DD"/>
            </a:solidFill>
            <a:prstDash val="solid"/>
          </a:ln>
        </p:spPr>
      </p:sp>
      <p:sp>
        <p:nvSpPr>
          <p:cNvPr id="17" name="Shape 15"/>
          <p:cNvSpPr/>
          <p:nvPr/>
        </p:nvSpPr>
        <p:spPr>
          <a:xfrm>
            <a:off x="7269480" y="1536192"/>
            <a:ext cx="3794760" cy="347472"/>
          </a:xfrm>
          <a:prstGeom prst="rect">
            <a:avLst/>
          </a:prstGeom>
          <a:solidFill>
            <a:srgbClr val="091827"/>
          </a:solidFill>
          <a:ln w="12700">
            <a:solidFill>
              <a:srgbClr val="333333">
                <a:alpha val="0"/>
              </a:srgbClr>
            </a:solidFill>
            <a:prstDash val="solid"/>
          </a:ln>
        </p:spPr>
      </p:sp>
      <p:sp>
        <p:nvSpPr>
          <p:cNvPr id="18" name="Text 16"/>
          <p:cNvSpPr/>
          <p:nvPr/>
        </p:nvSpPr>
        <p:spPr>
          <a:xfrm>
            <a:off x="7360920" y="1645920"/>
            <a:ext cx="1645920" cy="146304"/>
          </a:xfrm>
          <a:prstGeom prst="rect">
            <a:avLst/>
          </a:prstGeom>
          <a:noFill/>
          <a:ln/>
        </p:spPr>
        <p:txBody>
          <a:bodyPr wrap="square" lIns="1016" tIns="1016" rIns="1016" bIns="1016" rtlCol="0" anchor="t">
            <a:normAutofit/>
          </a:bodyPr>
          <a:lstStyle/>
          <a:p>
            <a:pPr algn="l" indent="0" marL="0">
              <a:buNone/>
            </a:pPr>
            <a:r>
              <a:rPr lang="en-US" sz="1050" b="1" dirty="0">
                <a:solidFill>
                  <a:srgbClr val="FFFFFF"/>
                </a:solidFill>
                <a:latin typeface="Aptos" pitchFamily="34" charset="0"/>
                <a:ea typeface="Aptos" pitchFamily="34" charset="-122"/>
                <a:cs typeface="Aptos" pitchFamily="34" charset="-120"/>
              </a:rPr>
              <a:t>Permission type</a:t>
            </a:r>
            <a:endParaRPr lang="en-US" sz="1050" dirty="0"/>
          </a:p>
        </p:txBody>
      </p:sp>
      <p:sp>
        <p:nvSpPr>
          <p:cNvPr id="19" name="Text 17"/>
          <p:cNvSpPr/>
          <p:nvPr/>
        </p:nvSpPr>
        <p:spPr>
          <a:xfrm>
            <a:off x="9052560" y="1645920"/>
            <a:ext cx="1783080" cy="146304"/>
          </a:xfrm>
          <a:prstGeom prst="rect">
            <a:avLst/>
          </a:prstGeom>
          <a:noFill/>
          <a:ln/>
        </p:spPr>
        <p:txBody>
          <a:bodyPr wrap="square" lIns="1016" tIns="1016" rIns="1016" bIns="1016" rtlCol="0" anchor="t">
            <a:normAutofit/>
          </a:bodyPr>
          <a:lstStyle/>
          <a:p>
            <a:pPr algn="l" indent="0" marL="0">
              <a:buNone/>
            </a:pPr>
            <a:r>
              <a:rPr lang="en-US" sz="1050" b="1" dirty="0">
                <a:solidFill>
                  <a:srgbClr val="FFFFFF"/>
                </a:solidFill>
                <a:latin typeface="Aptos" pitchFamily="34" charset="0"/>
                <a:ea typeface="Aptos" pitchFamily="34" charset="-122"/>
                <a:cs typeface="Aptos" pitchFamily="34" charset="-120"/>
              </a:rPr>
              <a:t>Use for</a:t>
            </a:r>
            <a:endParaRPr lang="en-US" sz="1050" dirty="0"/>
          </a:p>
        </p:txBody>
      </p:sp>
      <p:sp>
        <p:nvSpPr>
          <p:cNvPr id="20" name="Text 18"/>
          <p:cNvSpPr/>
          <p:nvPr/>
        </p:nvSpPr>
        <p:spPr>
          <a:xfrm>
            <a:off x="7360920" y="2176272"/>
            <a:ext cx="1645920" cy="146304"/>
          </a:xfrm>
          <a:prstGeom prst="rect">
            <a:avLst/>
          </a:prstGeom>
          <a:noFill/>
          <a:ln/>
        </p:spPr>
        <p:txBody>
          <a:bodyPr wrap="square" lIns="1016" tIns="1016" rIns="1016" bIns="1016" rtlCol="0" anchor="t">
            <a:normAutofit/>
          </a:bodyPr>
          <a:lstStyle/>
          <a:p>
            <a:pPr algn="l" indent="0" marL="0">
              <a:buNone/>
            </a:pPr>
            <a:r>
              <a:rPr lang="en-US" sz="1080" dirty="0">
                <a:solidFill>
                  <a:srgbClr val="101828"/>
                </a:solidFill>
                <a:latin typeface="Aptos" pitchFamily="34" charset="0"/>
                <a:ea typeface="Aptos" pitchFamily="34" charset="-122"/>
                <a:cs typeface="Aptos" pitchFamily="34" charset="-120"/>
              </a:rPr>
              <a:t>Actions</a:t>
            </a:r>
            <a:endParaRPr lang="en-US" sz="1080" dirty="0"/>
          </a:p>
        </p:txBody>
      </p:sp>
      <p:sp>
        <p:nvSpPr>
          <p:cNvPr id="21" name="Text 19"/>
          <p:cNvSpPr/>
          <p:nvPr/>
        </p:nvSpPr>
        <p:spPr>
          <a:xfrm>
            <a:off x="9052560" y="2176272"/>
            <a:ext cx="1783080" cy="146304"/>
          </a:xfrm>
          <a:prstGeom prst="rect">
            <a:avLst/>
          </a:prstGeom>
          <a:noFill/>
          <a:ln/>
        </p:spPr>
        <p:txBody>
          <a:bodyPr wrap="square" lIns="1016" tIns="1016" rIns="1016" bIns="1016" rtlCol="0" anchor="t">
            <a:normAutofit/>
          </a:bodyPr>
          <a:lstStyle/>
          <a:p>
            <a:pPr algn="l" indent="0" marL="0">
              <a:buNone/>
            </a:pPr>
            <a:r>
              <a:rPr lang="en-US" sz="1080" dirty="0">
                <a:solidFill>
                  <a:srgbClr val="475467"/>
                </a:solidFill>
                <a:latin typeface="Aptos" pitchFamily="34" charset="0"/>
                <a:ea typeface="Aptos" pitchFamily="34" charset="-122"/>
                <a:cs typeface="Aptos" pitchFamily="34" charset="-120"/>
              </a:rPr>
              <a:t>Control-plane operations</a:t>
            </a:r>
            <a:endParaRPr lang="en-US" sz="1080" dirty="0"/>
          </a:p>
        </p:txBody>
      </p:sp>
      <p:sp>
        <p:nvSpPr>
          <p:cNvPr id="22" name="Text 20"/>
          <p:cNvSpPr/>
          <p:nvPr/>
        </p:nvSpPr>
        <p:spPr>
          <a:xfrm>
            <a:off x="7360920" y="2706624"/>
            <a:ext cx="1645920" cy="146304"/>
          </a:xfrm>
          <a:prstGeom prst="rect">
            <a:avLst/>
          </a:prstGeom>
          <a:noFill/>
          <a:ln/>
        </p:spPr>
        <p:txBody>
          <a:bodyPr wrap="square" lIns="1016" tIns="1016" rIns="1016" bIns="1016" rtlCol="0" anchor="t">
            <a:normAutofit/>
          </a:bodyPr>
          <a:lstStyle/>
          <a:p>
            <a:pPr algn="l" indent="0" marL="0">
              <a:buNone/>
            </a:pPr>
            <a:r>
              <a:rPr lang="en-US" sz="1080" dirty="0">
                <a:solidFill>
                  <a:srgbClr val="101828"/>
                </a:solidFill>
                <a:latin typeface="Aptos" pitchFamily="34" charset="0"/>
                <a:ea typeface="Aptos" pitchFamily="34" charset="-122"/>
                <a:cs typeface="Aptos" pitchFamily="34" charset="-120"/>
              </a:rPr>
              <a:t>DataActions</a:t>
            </a:r>
            <a:endParaRPr lang="en-US" sz="1080" dirty="0"/>
          </a:p>
        </p:txBody>
      </p:sp>
      <p:sp>
        <p:nvSpPr>
          <p:cNvPr id="23" name="Text 21"/>
          <p:cNvSpPr/>
          <p:nvPr/>
        </p:nvSpPr>
        <p:spPr>
          <a:xfrm>
            <a:off x="9052560" y="2706624"/>
            <a:ext cx="1783080" cy="146304"/>
          </a:xfrm>
          <a:prstGeom prst="rect">
            <a:avLst/>
          </a:prstGeom>
          <a:noFill/>
          <a:ln/>
        </p:spPr>
        <p:txBody>
          <a:bodyPr wrap="square" lIns="1016" tIns="1016" rIns="1016" bIns="1016" rtlCol="0" anchor="t">
            <a:normAutofit/>
          </a:bodyPr>
          <a:lstStyle/>
          <a:p>
            <a:pPr algn="l" indent="0" marL="0">
              <a:buNone/>
            </a:pPr>
            <a:r>
              <a:rPr lang="en-US" sz="1080" dirty="0">
                <a:solidFill>
                  <a:srgbClr val="475467"/>
                </a:solidFill>
                <a:latin typeface="Aptos" pitchFamily="34" charset="0"/>
                <a:ea typeface="Aptos" pitchFamily="34" charset="-122"/>
                <a:cs typeface="Aptos" pitchFamily="34" charset="-120"/>
              </a:rPr>
              <a:t>Data-plane operations</a:t>
            </a:r>
            <a:endParaRPr lang="en-US" sz="1080" dirty="0"/>
          </a:p>
        </p:txBody>
      </p:sp>
      <p:sp>
        <p:nvSpPr>
          <p:cNvPr id="24" name="Text 22"/>
          <p:cNvSpPr/>
          <p:nvPr/>
        </p:nvSpPr>
        <p:spPr>
          <a:xfrm>
            <a:off x="7360920" y="3236976"/>
            <a:ext cx="1645920" cy="146304"/>
          </a:xfrm>
          <a:prstGeom prst="rect">
            <a:avLst/>
          </a:prstGeom>
          <a:noFill/>
          <a:ln/>
        </p:spPr>
        <p:txBody>
          <a:bodyPr wrap="square" lIns="1016" tIns="1016" rIns="1016" bIns="1016" rtlCol="0" anchor="t">
            <a:normAutofit/>
          </a:bodyPr>
          <a:lstStyle/>
          <a:p>
            <a:pPr algn="l" indent="0" marL="0">
              <a:buNone/>
            </a:pPr>
            <a:r>
              <a:rPr lang="en-US" sz="1080" dirty="0">
                <a:solidFill>
                  <a:srgbClr val="101828"/>
                </a:solidFill>
                <a:latin typeface="Aptos" pitchFamily="34" charset="0"/>
                <a:ea typeface="Aptos" pitchFamily="34" charset="-122"/>
                <a:cs typeface="Aptos" pitchFamily="34" charset="-120"/>
              </a:rPr>
              <a:t>NotActions</a:t>
            </a:r>
            <a:endParaRPr lang="en-US" sz="1080" dirty="0"/>
          </a:p>
        </p:txBody>
      </p:sp>
      <p:sp>
        <p:nvSpPr>
          <p:cNvPr id="25" name="Text 23"/>
          <p:cNvSpPr/>
          <p:nvPr/>
        </p:nvSpPr>
        <p:spPr>
          <a:xfrm>
            <a:off x="9052560" y="3236976"/>
            <a:ext cx="1783080" cy="146304"/>
          </a:xfrm>
          <a:prstGeom prst="rect">
            <a:avLst/>
          </a:prstGeom>
          <a:noFill/>
          <a:ln/>
        </p:spPr>
        <p:txBody>
          <a:bodyPr wrap="square" lIns="1016" tIns="1016" rIns="1016" bIns="1016" rtlCol="0" anchor="t">
            <a:normAutofit/>
          </a:bodyPr>
          <a:lstStyle/>
          <a:p>
            <a:pPr algn="l" indent="0" marL="0">
              <a:buNone/>
            </a:pPr>
            <a:r>
              <a:rPr lang="en-US" sz="1080" dirty="0">
                <a:solidFill>
                  <a:srgbClr val="475467"/>
                </a:solidFill>
                <a:latin typeface="Aptos" pitchFamily="34" charset="0"/>
                <a:ea typeface="Aptos" pitchFamily="34" charset="-122"/>
                <a:cs typeface="Aptos" pitchFamily="34" charset="-120"/>
              </a:rPr>
              <a:t>Explicit exclusions</a:t>
            </a:r>
            <a:endParaRPr lang="en-US" sz="1080" dirty="0"/>
          </a:p>
        </p:txBody>
      </p:sp>
      <p:sp>
        <p:nvSpPr>
          <p:cNvPr id="26" name="Text 24"/>
          <p:cNvSpPr/>
          <p:nvPr/>
        </p:nvSpPr>
        <p:spPr>
          <a:xfrm>
            <a:off x="7360920" y="3767328"/>
            <a:ext cx="1645920" cy="146304"/>
          </a:xfrm>
          <a:prstGeom prst="rect">
            <a:avLst/>
          </a:prstGeom>
          <a:noFill/>
          <a:ln/>
        </p:spPr>
        <p:txBody>
          <a:bodyPr wrap="square" lIns="1016" tIns="1016" rIns="1016" bIns="1016" rtlCol="0" anchor="t">
            <a:normAutofit/>
          </a:bodyPr>
          <a:lstStyle/>
          <a:p>
            <a:pPr algn="l" indent="0" marL="0">
              <a:buNone/>
            </a:pPr>
            <a:r>
              <a:rPr lang="en-US" sz="1080" dirty="0">
                <a:solidFill>
                  <a:srgbClr val="101828"/>
                </a:solidFill>
                <a:latin typeface="Aptos" pitchFamily="34" charset="0"/>
                <a:ea typeface="Aptos" pitchFamily="34" charset="-122"/>
                <a:cs typeface="Aptos" pitchFamily="34" charset="-120"/>
              </a:rPr>
              <a:t>AssignableScopes</a:t>
            </a:r>
            <a:endParaRPr lang="en-US" sz="1080" dirty="0"/>
          </a:p>
        </p:txBody>
      </p:sp>
      <p:sp>
        <p:nvSpPr>
          <p:cNvPr id="27" name="Text 25"/>
          <p:cNvSpPr/>
          <p:nvPr/>
        </p:nvSpPr>
        <p:spPr>
          <a:xfrm>
            <a:off x="9052560" y="3767328"/>
            <a:ext cx="1783080" cy="146304"/>
          </a:xfrm>
          <a:prstGeom prst="rect">
            <a:avLst/>
          </a:prstGeom>
          <a:noFill/>
          <a:ln/>
        </p:spPr>
        <p:txBody>
          <a:bodyPr wrap="square" lIns="1016" tIns="1016" rIns="1016" bIns="1016" rtlCol="0" anchor="t">
            <a:normAutofit/>
          </a:bodyPr>
          <a:lstStyle/>
          <a:p>
            <a:pPr algn="l" indent="0" marL="0">
              <a:buNone/>
            </a:pPr>
            <a:r>
              <a:rPr lang="en-US" sz="1080" dirty="0">
                <a:solidFill>
                  <a:srgbClr val="475467"/>
                </a:solidFill>
                <a:latin typeface="Aptos" pitchFamily="34" charset="0"/>
                <a:ea typeface="Aptos" pitchFamily="34" charset="-122"/>
                <a:cs typeface="Aptos" pitchFamily="34" charset="-120"/>
              </a:rPr>
              <a:t>Where role can be assigned</a:t>
            </a:r>
            <a:endParaRPr lang="en-US" sz="1080" dirty="0"/>
          </a:p>
        </p:txBody>
      </p:sp>
      <p:sp>
        <p:nvSpPr>
          <p:cNvPr id="28" name="Text 26"/>
          <p:cNvSpPr/>
          <p:nvPr/>
        </p:nvSpPr>
        <p:spPr>
          <a:xfrm>
            <a:off x="868680" y="5577840"/>
            <a:ext cx="10104120" cy="320040"/>
          </a:xfrm>
          <a:prstGeom prst="rect">
            <a:avLst/>
          </a:prstGeom>
          <a:noFill/>
          <a:ln/>
        </p:spPr>
        <p:txBody>
          <a:bodyPr wrap="square" lIns="1016" tIns="1016" rIns="1016" bIns="1016" rtlCol="0" anchor="t">
            <a:normAutofit/>
          </a:bodyPr>
          <a:lstStyle/>
          <a:p>
            <a:pPr algn="ctr" indent="0" marL="0">
              <a:buNone/>
            </a:pPr>
            <a:r>
              <a:rPr lang="en-US" sz="1700" b="1" dirty="0">
                <a:solidFill>
                  <a:srgbClr val="101828"/>
                </a:solidFill>
                <a:latin typeface="Aptos" pitchFamily="34" charset="0"/>
                <a:ea typeface="Aptos" pitchFamily="34" charset="-122"/>
                <a:cs typeface="Aptos" pitchFamily="34" charset="-120"/>
              </a:rPr>
              <a:t>Tip: export the role JSON, store it in source control, and peer-review RBAC changes like code.</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333333">
                <a:alpha val="0"/>
              </a:srgbClr>
            </a:solidFill>
            <a:prstDash val="solid"/>
          </a:ln>
        </p:spPr>
      </p:sp>
      <p:sp>
        <p:nvSpPr>
          <p:cNvPr id="3" name="Shape 1"/>
          <p:cNvSpPr/>
          <p:nvPr/>
        </p:nvSpPr>
        <p:spPr>
          <a:xfrm>
            <a:off x="0" y="0"/>
            <a:ext cx="155448" cy="6858000"/>
          </a:xfrm>
          <a:prstGeom prst="rect">
            <a:avLst/>
          </a:prstGeom>
          <a:solidFill>
            <a:srgbClr val="1A73E8"/>
          </a:solidFill>
          <a:ln w="12700">
            <a:solidFill>
              <a:srgbClr val="333333">
                <a:alpha val="0"/>
              </a:srgbClr>
            </a:solidFill>
            <a:prstDash val="solid"/>
          </a:ln>
        </p:spPr>
      </p:sp>
      <p:sp>
        <p:nvSpPr>
          <p:cNvPr id="4" name="Text 2"/>
          <p:cNvSpPr/>
          <p:nvPr/>
        </p:nvSpPr>
        <p:spPr>
          <a:xfrm>
            <a:off x="502920" y="228600"/>
            <a:ext cx="7498080" cy="228600"/>
          </a:xfrm>
          <a:prstGeom prst="rect">
            <a:avLst/>
          </a:prstGeom>
          <a:noFill/>
          <a:ln/>
        </p:spPr>
        <p:txBody>
          <a:bodyPr wrap="square" lIns="0" tIns="0" rIns="0" bIns="0" rtlCol="0" anchor="ctr">
            <a:normAutofit/>
          </a:bodyPr>
          <a:lstStyle/>
          <a:p>
            <a:pPr indent="0" marL="0">
              <a:buNone/>
            </a:pPr>
            <a:r>
              <a:rPr lang="en-US" sz="850" b="1" dirty="0">
                <a:solidFill>
                  <a:srgbClr val="1A73E8"/>
                </a:solidFill>
                <a:latin typeface="Aptos" pitchFamily="34" charset="0"/>
                <a:ea typeface="Aptos" pitchFamily="34" charset="-122"/>
                <a:cs typeface="Aptos" pitchFamily="34" charset="-120"/>
              </a:rPr>
              <a:t>Defense-in-depth</a:t>
            </a:r>
            <a:endParaRPr lang="en-US" sz="850" dirty="0"/>
          </a:p>
        </p:txBody>
      </p:sp>
      <p:sp>
        <p:nvSpPr>
          <p:cNvPr id="5" name="Text 3"/>
          <p:cNvSpPr/>
          <p:nvPr/>
        </p:nvSpPr>
        <p:spPr>
          <a:xfrm>
            <a:off x="502920" y="475488"/>
            <a:ext cx="9966960" cy="475488"/>
          </a:xfrm>
          <a:prstGeom prst="rect">
            <a:avLst/>
          </a:prstGeom>
          <a:noFill/>
          <a:ln/>
        </p:spPr>
        <p:txBody>
          <a:bodyPr wrap="square" lIns="254" tIns="254" rIns="254" bIns="254" rtlCol="0" anchor="ctr">
            <a:normAutofit/>
          </a:bodyPr>
          <a:lstStyle/>
          <a:p>
            <a:pPr indent="0" marL="0">
              <a:buNone/>
            </a:pPr>
            <a:r>
              <a:rPr lang="en-US" sz="2500" b="1" dirty="0">
                <a:solidFill>
                  <a:srgbClr val="101828"/>
                </a:solidFill>
                <a:latin typeface="Aptos Display" pitchFamily="34" charset="0"/>
                <a:ea typeface="Aptos Display" pitchFamily="34" charset="-122"/>
                <a:cs typeface="Aptos Display" pitchFamily="34" charset="-120"/>
              </a:rPr>
              <a:t>Beyond RBAC: controls that make least privilege operational</a:t>
            </a:r>
            <a:endParaRPr lang="en-US" sz="2500" dirty="0"/>
          </a:p>
        </p:txBody>
      </p:sp>
      <p:sp>
        <p:nvSpPr>
          <p:cNvPr id="6" name="Shape 4"/>
          <p:cNvSpPr/>
          <p:nvPr/>
        </p:nvSpPr>
        <p:spPr>
          <a:xfrm>
            <a:off x="502920" y="1078992"/>
            <a:ext cx="10927080" cy="0"/>
          </a:xfrm>
          <a:prstGeom prst="line">
            <a:avLst/>
          </a:prstGeom>
          <a:noFill/>
          <a:ln w="12700">
            <a:solidFill>
              <a:srgbClr val="D0D5DD"/>
            </a:solidFill>
            <a:prstDash val="solid"/>
          </a:ln>
        </p:spPr>
      </p:sp>
      <p:sp>
        <p:nvSpPr>
          <p:cNvPr id="7" name="Text 5"/>
          <p:cNvSpPr/>
          <p:nvPr/>
        </p:nvSpPr>
        <p:spPr>
          <a:xfrm>
            <a:off x="502920" y="6492240"/>
            <a:ext cx="4114800" cy="182880"/>
          </a:xfrm>
          <a:prstGeom prst="rect">
            <a:avLst/>
          </a:prstGeom>
          <a:noFill/>
          <a:ln/>
        </p:spPr>
        <p:txBody>
          <a:bodyPr wrap="square" lIns="0" tIns="0" rIns="0" bIns="0" rtlCol="0" anchor="ctr">
            <a:normAutofit/>
          </a:bodyPr>
          <a:lstStyle/>
          <a:p>
            <a:pPr indent="0" marL="0">
              <a:buNone/>
            </a:pPr>
            <a:r>
              <a:rPr lang="en-US" sz="750" dirty="0">
                <a:solidFill>
                  <a:srgbClr val="475467"/>
                </a:solidFill>
              </a:rPr>
              <a:t>CESE323 | Least Privilege RBAC</a:t>
            </a:r>
            <a:endParaRPr lang="en-US" sz="750" dirty="0"/>
          </a:p>
        </p:txBody>
      </p:sp>
      <p:sp>
        <p:nvSpPr>
          <p:cNvPr id="8" name="Text 6"/>
          <p:cNvSpPr/>
          <p:nvPr/>
        </p:nvSpPr>
        <p:spPr>
          <a:xfrm>
            <a:off x="11109960" y="6428232"/>
            <a:ext cx="502920" cy="274320"/>
          </a:xfrm>
          <a:prstGeom prst="rect">
            <a:avLst/>
          </a:prstGeom>
          <a:noFill/>
          <a:ln/>
        </p:spPr>
        <p:txBody>
          <a:bodyPr wrap="square" lIns="0" tIns="0" rIns="0" bIns="0" rtlCol="0" anchor="ctr"/>
          <a:lstStyle/>
          <a:p>
            <a:pPr algn="r" indent="0" marL="0">
              <a:buNone/>
            </a:pPr>
            <a:r>
              <a:rPr lang="en-US" sz="900" b="1" dirty="0">
                <a:solidFill>
                  <a:srgbClr val="1A73E8"/>
                </a:solidFill>
              </a:rPr>
              <a:t>12</a:t>
            </a:r>
            <a:endParaRPr lang="en-US" sz="900" dirty="0"/>
          </a:p>
        </p:txBody>
      </p:sp>
      <p:sp>
        <p:nvSpPr>
          <p:cNvPr id="9" name="Shape 7"/>
          <p:cNvSpPr/>
          <p:nvPr/>
        </p:nvSpPr>
        <p:spPr>
          <a:xfrm>
            <a:off x="777240" y="1508760"/>
            <a:ext cx="2971800" cy="1417320"/>
          </a:xfrm>
          <a:prstGeom prst="roundRect">
            <a:avLst/>
          </a:prstGeom>
          <a:solidFill>
            <a:srgbClr val="FFFFFF"/>
          </a:solidFill>
          <a:ln w="19050">
            <a:solidFill>
              <a:srgbClr val="6941C6"/>
            </a:solidFill>
            <a:prstDash val="solid"/>
          </a:ln>
        </p:spPr>
      </p:sp>
      <p:sp>
        <p:nvSpPr>
          <p:cNvPr id="10" name="Text 8"/>
          <p:cNvSpPr/>
          <p:nvPr/>
        </p:nvSpPr>
        <p:spPr>
          <a:xfrm>
            <a:off x="941832" y="1709928"/>
            <a:ext cx="2560320" cy="201168"/>
          </a:xfrm>
          <a:prstGeom prst="rect">
            <a:avLst/>
          </a:prstGeom>
          <a:noFill/>
          <a:ln/>
        </p:spPr>
        <p:txBody>
          <a:bodyPr wrap="square" lIns="0" tIns="0" rIns="0" bIns="0" rtlCol="0" anchor="ctr"/>
          <a:lstStyle/>
          <a:p>
            <a:pPr indent="0" marL="0">
              <a:buNone/>
            </a:pPr>
            <a:r>
              <a:rPr lang="en-US" sz="1600" b="1" dirty="0">
                <a:solidFill>
                  <a:srgbClr val="6941C6"/>
                </a:solidFill>
              </a:rPr>
              <a:t>PIM</a:t>
            </a:r>
            <a:endParaRPr lang="en-US" sz="1600" dirty="0"/>
          </a:p>
        </p:txBody>
      </p:sp>
      <p:sp>
        <p:nvSpPr>
          <p:cNvPr id="11" name="Text 9"/>
          <p:cNvSpPr/>
          <p:nvPr/>
        </p:nvSpPr>
        <p:spPr>
          <a:xfrm>
            <a:off x="941832" y="2130552"/>
            <a:ext cx="2606040" cy="411480"/>
          </a:xfrm>
          <a:prstGeom prst="rect">
            <a:avLst/>
          </a:prstGeom>
          <a:noFill/>
          <a:ln/>
        </p:spPr>
        <p:txBody>
          <a:bodyPr wrap="square" lIns="1016" tIns="1016" rIns="1016" bIns="1016" rtlCol="0" anchor="t">
            <a:normAutofit/>
          </a:bodyPr>
          <a:lstStyle/>
          <a:p>
            <a:pPr algn="l" indent="0" marL="0">
              <a:buNone/>
            </a:pPr>
            <a:r>
              <a:rPr lang="en-US" sz="1230" dirty="0">
                <a:solidFill>
                  <a:srgbClr val="101828"/>
                </a:solidFill>
                <a:latin typeface="Aptos" pitchFamily="34" charset="0"/>
                <a:ea typeface="Aptos" pitchFamily="34" charset="-122"/>
                <a:cs typeface="Aptos" pitchFamily="34" charset="-120"/>
              </a:rPr>
              <a:t>Use just-in-time activation for privileged roles</a:t>
            </a:r>
            <a:endParaRPr lang="en-US" sz="1230" dirty="0"/>
          </a:p>
        </p:txBody>
      </p:sp>
      <p:sp>
        <p:nvSpPr>
          <p:cNvPr id="12" name="Shape 10"/>
          <p:cNvSpPr/>
          <p:nvPr/>
        </p:nvSpPr>
        <p:spPr>
          <a:xfrm>
            <a:off x="4434840" y="1508760"/>
            <a:ext cx="2971800" cy="1417320"/>
          </a:xfrm>
          <a:prstGeom prst="roundRect">
            <a:avLst/>
          </a:prstGeom>
          <a:solidFill>
            <a:srgbClr val="FFFFFF"/>
          </a:solidFill>
          <a:ln w="19050">
            <a:solidFill>
              <a:srgbClr val="1A73E8"/>
            </a:solidFill>
            <a:prstDash val="solid"/>
          </a:ln>
        </p:spPr>
      </p:sp>
      <p:sp>
        <p:nvSpPr>
          <p:cNvPr id="13" name="Text 11"/>
          <p:cNvSpPr/>
          <p:nvPr/>
        </p:nvSpPr>
        <p:spPr>
          <a:xfrm>
            <a:off x="4599432" y="1709928"/>
            <a:ext cx="2560320" cy="201168"/>
          </a:xfrm>
          <a:prstGeom prst="rect">
            <a:avLst/>
          </a:prstGeom>
          <a:noFill/>
          <a:ln/>
        </p:spPr>
        <p:txBody>
          <a:bodyPr wrap="square" lIns="0" tIns="0" rIns="0" bIns="0" rtlCol="0" anchor="ctr"/>
          <a:lstStyle/>
          <a:p>
            <a:pPr indent="0" marL="0">
              <a:buNone/>
            </a:pPr>
            <a:r>
              <a:rPr lang="en-US" sz="1600" b="1" dirty="0">
                <a:solidFill>
                  <a:srgbClr val="1A73E8"/>
                </a:solidFill>
              </a:rPr>
              <a:t>Access Reviews</a:t>
            </a:r>
            <a:endParaRPr lang="en-US" sz="1600" dirty="0"/>
          </a:p>
        </p:txBody>
      </p:sp>
      <p:sp>
        <p:nvSpPr>
          <p:cNvPr id="14" name="Text 12"/>
          <p:cNvSpPr/>
          <p:nvPr/>
        </p:nvSpPr>
        <p:spPr>
          <a:xfrm>
            <a:off x="4599432" y="2130552"/>
            <a:ext cx="2606040" cy="411480"/>
          </a:xfrm>
          <a:prstGeom prst="rect">
            <a:avLst/>
          </a:prstGeom>
          <a:noFill/>
          <a:ln/>
        </p:spPr>
        <p:txBody>
          <a:bodyPr wrap="square" lIns="1016" tIns="1016" rIns="1016" bIns="1016" rtlCol="0" anchor="t">
            <a:normAutofit/>
          </a:bodyPr>
          <a:lstStyle/>
          <a:p>
            <a:pPr algn="l" indent="0" marL="0">
              <a:buNone/>
            </a:pPr>
            <a:r>
              <a:rPr lang="en-US" sz="1230" dirty="0">
                <a:solidFill>
                  <a:srgbClr val="101828"/>
                </a:solidFill>
                <a:latin typeface="Aptos" pitchFamily="34" charset="0"/>
                <a:ea typeface="Aptos" pitchFamily="34" charset="-122"/>
                <a:cs typeface="Aptos" pitchFamily="34" charset="-120"/>
              </a:rPr>
              <a:t>Validate whether access is still required</a:t>
            </a:r>
            <a:endParaRPr lang="en-US" sz="1230" dirty="0"/>
          </a:p>
        </p:txBody>
      </p:sp>
      <p:sp>
        <p:nvSpPr>
          <p:cNvPr id="15" name="Shape 13"/>
          <p:cNvSpPr/>
          <p:nvPr/>
        </p:nvSpPr>
        <p:spPr>
          <a:xfrm>
            <a:off x="8092440" y="1508760"/>
            <a:ext cx="2971800" cy="1417320"/>
          </a:xfrm>
          <a:prstGeom prst="roundRect">
            <a:avLst/>
          </a:prstGeom>
          <a:solidFill>
            <a:srgbClr val="FFFFFF"/>
          </a:solidFill>
          <a:ln w="19050">
            <a:solidFill>
              <a:srgbClr val="0F8A5F"/>
            </a:solidFill>
            <a:prstDash val="solid"/>
          </a:ln>
        </p:spPr>
      </p:sp>
      <p:sp>
        <p:nvSpPr>
          <p:cNvPr id="16" name="Text 14"/>
          <p:cNvSpPr/>
          <p:nvPr/>
        </p:nvSpPr>
        <p:spPr>
          <a:xfrm>
            <a:off x="8257032" y="1709928"/>
            <a:ext cx="2560320" cy="201168"/>
          </a:xfrm>
          <a:prstGeom prst="rect">
            <a:avLst/>
          </a:prstGeom>
          <a:noFill/>
          <a:ln/>
        </p:spPr>
        <p:txBody>
          <a:bodyPr wrap="square" lIns="0" tIns="0" rIns="0" bIns="0" rtlCol="0" anchor="ctr"/>
          <a:lstStyle/>
          <a:p>
            <a:pPr indent="0" marL="0">
              <a:buNone/>
            </a:pPr>
            <a:r>
              <a:rPr lang="en-US" sz="1600" b="1" dirty="0">
                <a:solidFill>
                  <a:srgbClr val="0F8A5F"/>
                </a:solidFill>
              </a:rPr>
              <a:t>Groups</a:t>
            </a:r>
            <a:endParaRPr lang="en-US" sz="1600" dirty="0"/>
          </a:p>
        </p:txBody>
      </p:sp>
      <p:sp>
        <p:nvSpPr>
          <p:cNvPr id="17" name="Text 15"/>
          <p:cNvSpPr/>
          <p:nvPr/>
        </p:nvSpPr>
        <p:spPr>
          <a:xfrm>
            <a:off x="8257032" y="2130552"/>
            <a:ext cx="2606040" cy="411480"/>
          </a:xfrm>
          <a:prstGeom prst="rect">
            <a:avLst/>
          </a:prstGeom>
          <a:noFill/>
          <a:ln/>
        </p:spPr>
        <p:txBody>
          <a:bodyPr wrap="square" lIns="1016" tIns="1016" rIns="1016" bIns="1016" rtlCol="0" anchor="t">
            <a:normAutofit/>
          </a:bodyPr>
          <a:lstStyle/>
          <a:p>
            <a:pPr algn="l" indent="0" marL="0">
              <a:buNone/>
            </a:pPr>
            <a:r>
              <a:rPr lang="en-US" sz="1230" dirty="0">
                <a:solidFill>
                  <a:srgbClr val="101828"/>
                </a:solidFill>
                <a:latin typeface="Aptos" pitchFamily="34" charset="0"/>
                <a:ea typeface="Aptos" pitchFamily="34" charset="-122"/>
                <a:cs typeface="Aptos" pitchFamily="34" charset="-120"/>
              </a:rPr>
              <a:t>Assign roles to groups, not individual users</a:t>
            </a:r>
            <a:endParaRPr lang="en-US" sz="1230" dirty="0"/>
          </a:p>
        </p:txBody>
      </p:sp>
      <p:sp>
        <p:nvSpPr>
          <p:cNvPr id="18" name="Shape 16"/>
          <p:cNvSpPr/>
          <p:nvPr/>
        </p:nvSpPr>
        <p:spPr>
          <a:xfrm>
            <a:off x="777240" y="3703320"/>
            <a:ext cx="2971800" cy="1417320"/>
          </a:xfrm>
          <a:prstGeom prst="roundRect">
            <a:avLst/>
          </a:prstGeom>
          <a:solidFill>
            <a:srgbClr val="FFFFFF"/>
          </a:solidFill>
          <a:ln w="19050">
            <a:solidFill>
              <a:srgbClr val="F6A623"/>
            </a:solidFill>
            <a:prstDash val="solid"/>
          </a:ln>
        </p:spPr>
      </p:sp>
      <p:sp>
        <p:nvSpPr>
          <p:cNvPr id="19" name="Text 17"/>
          <p:cNvSpPr/>
          <p:nvPr/>
        </p:nvSpPr>
        <p:spPr>
          <a:xfrm>
            <a:off x="941832" y="3904488"/>
            <a:ext cx="2560320" cy="201168"/>
          </a:xfrm>
          <a:prstGeom prst="rect">
            <a:avLst/>
          </a:prstGeom>
          <a:noFill/>
          <a:ln/>
        </p:spPr>
        <p:txBody>
          <a:bodyPr wrap="square" lIns="0" tIns="0" rIns="0" bIns="0" rtlCol="0" anchor="ctr"/>
          <a:lstStyle/>
          <a:p>
            <a:pPr indent="0" marL="0">
              <a:buNone/>
            </a:pPr>
            <a:r>
              <a:rPr lang="en-US" sz="1600" b="1" dirty="0">
                <a:solidFill>
                  <a:srgbClr val="F6A623"/>
                </a:solidFill>
              </a:rPr>
              <a:t>Workload federation</a:t>
            </a:r>
            <a:endParaRPr lang="en-US" sz="1600" dirty="0"/>
          </a:p>
        </p:txBody>
      </p:sp>
      <p:sp>
        <p:nvSpPr>
          <p:cNvPr id="20" name="Text 18"/>
          <p:cNvSpPr/>
          <p:nvPr/>
        </p:nvSpPr>
        <p:spPr>
          <a:xfrm>
            <a:off x="941832" y="4325112"/>
            <a:ext cx="2606040" cy="411480"/>
          </a:xfrm>
          <a:prstGeom prst="rect">
            <a:avLst/>
          </a:prstGeom>
          <a:noFill/>
          <a:ln/>
        </p:spPr>
        <p:txBody>
          <a:bodyPr wrap="square" lIns="1016" tIns="1016" rIns="1016" bIns="1016" rtlCol="0" anchor="t">
            <a:normAutofit/>
          </a:bodyPr>
          <a:lstStyle/>
          <a:p>
            <a:pPr algn="l" indent="0" marL="0">
              <a:buNone/>
            </a:pPr>
            <a:r>
              <a:rPr lang="en-US" sz="1230" dirty="0">
                <a:solidFill>
                  <a:srgbClr val="101828"/>
                </a:solidFill>
                <a:latin typeface="Aptos" pitchFamily="34" charset="0"/>
                <a:ea typeface="Aptos" pitchFamily="34" charset="-122"/>
                <a:cs typeface="Aptos" pitchFamily="34" charset="-120"/>
              </a:rPr>
              <a:t>Avoid long-lived pipeline secrets</a:t>
            </a:r>
            <a:endParaRPr lang="en-US" sz="1230" dirty="0"/>
          </a:p>
        </p:txBody>
      </p:sp>
      <p:sp>
        <p:nvSpPr>
          <p:cNvPr id="21" name="Shape 19"/>
          <p:cNvSpPr/>
          <p:nvPr/>
        </p:nvSpPr>
        <p:spPr>
          <a:xfrm>
            <a:off x="4434840" y="3703320"/>
            <a:ext cx="2971800" cy="1417320"/>
          </a:xfrm>
          <a:prstGeom prst="roundRect">
            <a:avLst/>
          </a:prstGeom>
          <a:solidFill>
            <a:srgbClr val="FFFFFF"/>
          </a:solidFill>
          <a:ln w="19050">
            <a:solidFill>
              <a:srgbClr val="D93025"/>
            </a:solidFill>
            <a:prstDash val="solid"/>
          </a:ln>
        </p:spPr>
      </p:sp>
      <p:sp>
        <p:nvSpPr>
          <p:cNvPr id="22" name="Text 20"/>
          <p:cNvSpPr/>
          <p:nvPr/>
        </p:nvSpPr>
        <p:spPr>
          <a:xfrm>
            <a:off x="4599432" y="3904488"/>
            <a:ext cx="2560320" cy="201168"/>
          </a:xfrm>
          <a:prstGeom prst="rect">
            <a:avLst/>
          </a:prstGeom>
          <a:noFill/>
          <a:ln/>
        </p:spPr>
        <p:txBody>
          <a:bodyPr wrap="square" lIns="0" tIns="0" rIns="0" bIns="0" rtlCol="0" anchor="ctr"/>
          <a:lstStyle/>
          <a:p>
            <a:pPr indent="0" marL="0">
              <a:buNone/>
            </a:pPr>
            <a:r>
              <a:rPr lang="en-US" sz="1600" b="1" dirty="0">
                <a:solidFill>
                  <a:srgbClr val="D93025"/>
                </a:solidFill>
              </a:rPr>
              <a:t>Conditional Access</a:t>
            </a:r>
            <a:endParaRPr lang="en-US" sz="1600" dirty="0"/>
          </a:p>
        </p:txBody>
      </p:sp>
      <p:sp>
        <p:nvSpPr>
          <p:cNvPr id="23" name="Text 21"/>
          <p:cNvSpPr/>
          <p:nvPr/>
        </p:nvSpPr>
        <p:spPr>
          <a:xfrm>
            <a:off x="4599432" y="4325112"/>
            <a:ext cx="2606040" cy="411480"/>
          </a:xfrm>
          <a:prstGeom prst="rect">
            <a:avLst/>
          </a:prstGeom>
          <a:noFill/>
          <a:ln/>
        </p:spPr>
        <p:txBody>
          <a:bodyPr wrap="square" lIns="1016" tIns="1016" rIns="1016" bIns="1016" rtlCol="0" anchor="t">
            <a:normAutofit/>
          </a:bodyPr>
          <a:lstStyle/>
          <a:p>
            <a:pPr algn="l" indent="0" marL="0">
              <a:buNone/>
            </a:pPr>
            <a:r>
              <a:rPr lang="en-US" sz="1230" dirty="0">
                <a:solidFill>
                  <a:srgbClr val="101828"/>
                </a:solidFill>
                <a:latin typeface="Aptos" pitchFamily="34" charset="0"/>
                <a:ea typeface="Aptos" pitchFamily="34" charset="-122"/>
                <a:cs typeface="Aptos" pitchFamily="34" charset="-120"/>
              </a:rPr>
              <a:t>Apply policy signals to user/app access</a:t>
            </a:r>
            <a:endParaRPr lang="en-US" sz="1230" dirty="0"/>
          </a:p>
        </p:txBody>
      </p:sp>
      <p:sp>
        <p:nvSpPr>
          <p:cNvPr id="24" name="Text 22"/>
          <p:cNvSpPr/>
          <p:nvPr/>
        </p:nvSpPr>
        <p:spPr>
          <a:xfrm>
            <a:off x="914400" y="5806440"/>
            <a:ext cx="10241280" cy="320040"/>
          </a:xfrm>
          <a:prstGeom prst="rect">
            <a:avLst/>
          </a:prstGeom>
          <a:noFill/>
          <a:ln/>
        </p:spPr>
        <p:txBody>
          <a:bodyPr wrap="square" lIns="1016" tIns="1016" rIns="1016" bIns="1016" rtlCol="0" anchor="t">
            <a:normAutofit/>
          </a:bodyPr>
          <a:lstStyle/>
          <a:p>
            <a:pPr algn="ctr" indent="0" marL="0">
              <a:buNone/>
            </a:pPr>
            <a:r>
              <a:rPr lang="en-US" sz="1700" b="1" dirty="0">
                <a:solidFill>
                  <a:srgbClr val="101828"/>
                </a:solidFill>
                <a:latin typeface="Aptos" pitchFamily="34" charset="0"/>
                <a:ea typeface="Aptos" pitchFamily="34" charset="-122"/>
                <a:cs typeface="Aptos" pitchFamily="34" charset="-120"/>
              </a:rPr>
              <a:t>Least privilege fails when privileges are permanent, unreviewed, unmanaged, or secret-based.</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333333">
                <a:alpha val="0"/>
              </a:srgbClr>
            </a:solidFill>
            <a:prstDash val="solid"/>
          </a:ln>
        </p:spPr>
      </p:sp>
      <p:sp>
        <p:nvSpPr>
          <p:cNvPr id="3" name="Shape 1"/>
          <p:cNvSpPr/>
          <p:nvPr/>
        </p:nvSpPr>
        <p:spPr>
          <a:xfrm>
            <a:off x="0" y="0"/>
            <a:ext cx="155448" cy="6858000"/>
          </a:xfrm>
          <a:prstGeom prst="rect">
            <a:avLst/>
          </a:prstGeom>
          <a:solidFill>
            <a:srgbClr val="1A73E8"/>
          </a:solidFill>
          <a:ln w="12700">
            <a:solidFill>
              <a:srgbClr val="333333">
                <a:alpha val="0"/>
              </a:srgbClr>
            </a:solidFill>
            <a:prstDash val="solid"/>
          </a:ln>
        </p:spPr>
      </p:sp>
      <p:sp>
        <p:nvSpPr>
          <p:cNvPr id="4" name="Text 2"/>
          <p:cNvSpPr/>
          <p:nvPr/>
        </p:nvSpPr>
        <p:spPr>
          <a:xfrm>
            <a:off x="502920" y="228600"/>
            <a:ext cx="7498080" cy="228600"/>
          </a:xfrm>
          <a:prstGeom prst="rect">
            <a:avLst/>
          </a:prstGeom>
          <a:noFill/>
          <a:ln/>
        </p:spPr>
        <p:txBody>
          <a:bodyPr wrap="square" lIns="0" tIns="0" rIns="0" bIns="0" rtlCol="0" anchor="ctr">
            <a:normAutofit/>
          </a:bodyPr>
          <a:lstStyle/>
          <a:p>
            <a:pPr indent="0" marL="0">
              <a:buNone/>
            </a:pPr>
            <a:r>
              <a:rPr lang="en-US" sz="850" b="1" dirty="0">
                <a:solidFill>
                  <a:srgbClr val="1A73E8"/>
                </a:solidFill>
                <a:latin typeface="Aptos" pitchFamily="34" charset="0"/>
                <a:ea typeface="Aptos" pitchFamily="34" charset="-122"/>
                <a:cs typeface="Aptos" pitchFamily="34" charset="-120"/>
              </a:rPr>
              <a:t>Delivery guide</a:t>
            </a:r>
            <a:endParaRPr lang="en-US" sz="850" dirty="0"/>
          </a:p>
        </p:txBody>
      </p:sp>
      <p:sp>
        <p:nvSpPr>
          <p:cNvPr id="5" name="Text 3"/>
          <p:cNvSpPr/>
          <p:nvPr/>
        </p:nvSpPr>
        <p:spPr>
          <a:xfrm>
            <a:off x="502920" y="475488"/>
            <a:ext cx="9966960" cy="475488"/>
          </a:xfrm>
          <a:prstGeom prst="rect">
            <a:avLst/>
          </a:prstGeom>
          <a:noFill/>
          <a:ln/>
        </p:spPr>
        <p:txBody>
          <a:bodyPr wrap="square" lIns="254" tIns="254" rIns="254" bIns="254" rtlCol="0" anchor="ctr">
            <a:normAutofit/>
          </a:bodyPr>
          <a:lstStyle/>
          <a:p>
            <a:pPr indent="0" marL="0">
              <a:buNone/>
            </a:pPr>
            <a:r>
              <a:rPr lang="en-US" sz="2500" b="1" dirty="0">
                <a:solidFill>
                  <a:srgbClr val="101828"/>
                </a:solidFill>
                <a:latin typeface="Aptos Display" pitchFamily="34" charset="0"/>
                <a:ea typeface="Aptos Display" pitchFamily="34" charset="-122"/>
                <a:cs typeface="Aptos Display" pitchFamily="34" charset="-120"/>
              </a:rPr>
              <a:t>Instructor facilitation: questions, checks, and blockers</a:t>
            </a:r>
            <a:endParaRPr lang="en-US" sz="2500" dirty="0"/>
          </a:p>
        </p:txBody>
      </p:sp>
      <p:sp>
        <p:nvSpPr>
          <p:cNvPr id="6" name="Shape 4"/>
          <p:cNvSpPr/>
          <p:nvPr/>
        </p:nvSpPr>
        <p:spPr>
          <a:xfrm>
            <a:off x="502920" y="1078992"/>
            <a:ext cx="10927080" cy="0"/>
          </a:xfrm>
          <a:prstGeom prst="line">
            <a:avLst/>
          </a:prstGeom>
          <a:noFill/>
          <a:ln w="12700">
            <a:solidFill>
              <a:srgbClr val="D0D5DD"/>
            </a:solidFill>
            <a:prstDash val="solid"/>
          </a:ln>
        </p:spPr>
      </p:sp>
      <p:sp>
        <p:nvSpPr>
          <p:cNvPr id="7" name="Text 5"/>
          <p:cNvSpPr/>
          <p:nvPr/>
        </p:nvSpPr>
        <p:spPr>
          <a:xfrm>
            <a:off x="502920" y="6492240"/>
            <a:ext cx="4114800" cy="182880"/>
          </a:xfrm>
          <a:prstGeom prst="rect">
            <a:avLst/>
          </a:prstGeom>
          <a:noFill/>
          <a:ln/>
        </p:spPr>
        <p:txBody>
          <a:bodyPr wrap="square" lIns="0" tIns="0" rIns="0" bIns="0" rtlCol="0" anchor="ctr">
            <a:normAutofit/>
          </a:bodyPr>
          <a:lstStyle/>
          <a:p>
            <a:pPr indent="0" marL="0">
              <a:buNone/>
            </a:pPr>
            <a:r>
              <a:rPr lang="en-US" sz="750" dirty="0">
                <a:solidFill>
                  <a:srgbClr val="475467"/>
                </a:solidFill>
              </a:rPr>
              <a:t>CESE323 | Least Privilege RBAC</a:t>
            </a:r>
            <a:endParaRPr lang="en-US" sz="750" dirty="0"/>
          </a:p>
        </p:txBody>
      </p:sp>
      <p:sp>
        <p:nvSpPr>
          <p:cNvPr id="8" name="Text 6"/>
          <p:cNvSpPr/>
          <p:nvPr/>
        </p:nvSpPr>
        <p:spPr>
          <a:xfrm>
            <a:off x="11109960" y="6428232"/>
            <a:ext cx="502920" cy="274320"/>
          </a:xfrm>
          <a:prstGeom prst="rect">
            <a:avLst/>
          </a:prstGeom>
          <a:noFill/>
          <a:ln/>
        </p:spPr>
        <p:txBody>
          <a:bodyPr wrap="square" lIns="0" tIns="0" rIns="0" bIns="0" rtlCol="0" anchor="ctr"/>
          <a:lstStyle/>
          <a:p>
            <a:pPr algn="r" indent="0" marL="0">
              <a:buNone/>
            </a:pPr>
            <a:r>
              <a:rPr lang="en-US" sz="900" b="1" dirty="0">
                <a:solidFill>
                  <a:srgbClr val="1A73E8"/>
                </a:solidFill>
              </a:rPr>
              <a:t>13</a:t>
            </a:r>
            <a:endParaRPr lang="en-US" sz="900" dirty="0"/>
          </a:p>
        </p:txBody>
      </p:sp>
      <p:sp>
        <p:nvSpPr>
          <p:cNvPr id="9" name="Shape 7"/>
          <p:cNvSpPr/>
          <p:nvPr/>
        </p:nvSpPr>
        <p:spPr>
          <a:xfrm>
            <a:off x="822960" y="1325880"/>
            <a:ext cx="914400" cy="256032"/>
          </a:xfrm>
          <a:prstGeom prst="roundRect">
            <a:avLst/>
          </a:prstGeom>
          <a:solidFill>
            <a:srgbClr val="1A73E8"/>
          </a:solidFill>
          <a:ln w="12700">
            <a:solidFill>
              <a:srgbClr val="333333">
                <a:alpha val="0"/>
              </a:srgbClr>
            </a:solidFill>
            <a:prstDash val="solid"/>
          </a:ln>
        </p:spPr>
      </p:sp>
      <p:sp>
        <p:nvSpPr>
          <p:cNvPr id="10" name="Text 8"/>
          <p:cNvSpPr/>
          <p:nvPr/>
        </p:nvSpPr>
        <p:spPr>
          <a:xfrm>
            <a:off x="950976" y="1408176"/>
            <a:ext cx="640080" cy="73152"/>
          </a:xfrm>
          <a:prstGeom prst="rect">
            <a:avLst/>
          </a:prstGeom>
          <a:noFill/>
          <a:ln/>
        </p:spPr>
        <p:txBody>
          <a:bodyPr wrap="square" lIns="0" tIns="0" rIns="0" bIns="0" rtlCol="0" anchor="ctr"/>
          <a:lstStyle/>
          <a:p>
            <a:pPr algn="ctr" indent="0" marL="0">
              <a:buNone/>
            </a:pPr>
            <a:r>
              <a:rPr lang="en-US" sz="800" b="1" dirty="0">
                <a:solidFill>
                  <a:srgbClr val="FFFFFF"/>
                </a:solidFill>
              </a:rPr>
              <a:t>Ask</a:t>
            </a:r>
            <a:endParaRPr lang="en-US" sz="800" dirty="0"/>
          </a:p>
        </p:txBody>
      </p:sp>
      <p:sp>
        <p:nvSpPr>
          <p:cNvPr id="11" name="Text 9"/>
          <p:cNvSpPr/>
          <p:nvPr/>
        </p:nvSpPr>
        <p:spPr>
          <a:xfrm>
            <a:off x="1965960" y="1307592"/>
            <a:ext cx="4937760" cy="228600"/>
          </a:xfrm>
          <a:prstGeom prst="rect">
            <a:avLst/>
          </a:prstGeom>
          <a:noFill/>
          <a:ln/>
        </p:spPr>
        <p:txBody>
          <a:bodyPr wrap="square" lIns="1016" tIns="1016" rIns="1016" bIns="1016" rtlCol="0" anchor="t">
            <a:normAutofit/>
          </a:bodyPr>
          <a:lstStyle/>
          <a:p>
            <a:pPr algn="l" indent="0" marL="0">
              <a:buNone/>
            </a:pPr>
            <a:r>
              <a:rPr lang="en-US" sz="1350" dirty="0">
                <a:solidFill>
                  <a:srgbClr val="101828"/>
                </a:solidFill>
                <a:latin typeface="Aptos" pitchFamily="34" charset="0"/>
                <a:ea typeface="Aptos" pitchFamily="34" charset="-122"/>
                <a:cs typeface="Aptos" pitchFamily="34" charset="-120"/>
              </a:rPr>
              <a:t>What can this identity do today?</a:t>
            </a:r>
            <a:endParaRPr lang="en-US" sz="1350" dirty="0"/>
          </a:p>
        </p:txBody>
      </p:sp>
      <p:sp>
        <p:nvSpPr>
          <p:cNvPr id="12" name="Shape 10"/>
          <p:cNvSpPr/>
          <p:nvPr/>
        </p:nvSpPr>
        <p:spPr>
          <a:xfrm>
            <a:off x="822960" y="1856232"/>
            <a:ext cx="914400" cy="256032"/>
          </a:xfrm>
          <a:prstGeom prst="roundRect">
            <a:avLst/>
          </a:prstGeom>
          <a:solidFill>
            <a:srgbClr val="1A73E8"/>
          </a:solidFill>
          <a:ln w="12700">
            <a:solidFill>
              <a:srgbClr val="333333">
                <a:alpha val="0"/>
              </a:srgbClr>
            </a:solidFill>
            <a:prstDash val="solid"/>
          </a:ln>
        </p:spPr>
      </p:sp>
      <p:sp>
        <p:nvSpPr>
          <p:cNvPr id="13" name="Text 11"/>
          <p:cNvSpPr/>
          <p:nvPr/>
        </p:nvSpPr>
        <p:spPr>
          <a:xfrm>
            <a:off x="950976" y="1938528"/>
            <a:ext cx="640080" cy="73152"/>
          </a:xfrm>
          <a:prstGeom prst="rect">
            <a:avLst/>
          </a:prstGeom>
          <a:noFill/>
          <a:ln/>
        </p:spPr>
        <p:txBody>
          <a:bodyPr wrap="square" lIns="0" tIns="0" rIns="0" bIns="0" rtlCol="0" anchor="ctr"/>
          <a:lstStyle/>
          <a:p>
            <a:pPr algn="ctr" indent="0" marL="0">
              <a:buNone/>
            </a:pPr>
            <a:r>
              <a:rPr lang="en-US" sz="800" b="1" dirty="0">
                <a:solidFill>
                  <a:srgbClr val="FFFFFF"/>
                </a:solidFill>
              </a:rPr>
              <a:t>Ask</a:t>
            </a:r>
            <a:endParaRPr lang="en-US" sz="800" dirty="0"/>
          </a:p>
        </p:txBody>
      </p:sp>
      <p:sp>
        <p:nvSpPr>
          <p:cNvPr id="14" name="Text 12"/>
          <p:cNvSpPr/>
          <p:nvPr/>
        </p:nvSpPr>
        <p:spPr>
          <a:xfrm>
            <a:off x="1965960" y="1837944"/>
            <a:ext cx="4937760" cy="228600"/>
          </a:xfrm>
          <a:prstGeom prst="rect">
            <a:avLst/>
          </a:prstGeom>
          <a:noFill/>
          <a:ln/>
        </p:spPr>
        <p:txBody>
          <a:bodyPr wrap="square" lIns="1016" tIns="1016" rIns="1016" bIns="1016" rtlCol="0" anchor="t">
            <a:normAutofit/>
          </a:bodyPr>
          <a:lstStyle/>
          <a:p>
            <a:pPr algn="l" indent="0" marL="0">
              <a:buNone/>
            </a:pPr>
            <a:r>
              <a:rPr lang="en-US" sz="1350" dirty="0">
                <a:solidFill>
                  <a:srgbClr val="101828"/>
                </a:solidFill>
                <a:latin typeface="Aptos" pitchFamily="34" charset="0"/>
                <a:ea typeface="Aptos" pitchFamily="34" charset="-122"/>
                <a:cs typeface="Aptos" pitchFamily="34" charset="-120"/>
              </a:rPr>
              <a:t>Where can it do it?</a:t>
            </a:r>
            <a:endParaRPr lang="en-US" sz="1350" dirty="0"/>
          </a:p>
        </p:txBody>
      </p:sp>
      <p:sp>
        <p:nvSpPr>
          <p:cNvPr id="15" name="Shape 13"/>
          <p:cNvSpPr/>
          <p:nvPr/>
        </p:nvSpPr>
        <p:spPr>
          <a:xfrm>
            <a:off x="822960" y="2386584"/>
            <a:ext cx="914400" cy="256032"/>
          </a:xfrm>
          <a:prstGeom prst="roundRect">
            <a:avLst/>
          </a:prstGeom>
          <a:solidFill>
            <a:srgbClr val="1A73E8"/>
          </a:solidFill>
          <a:ln w="12700">
            <a:solidFill>
              <a:srgbClr val="333333">
                <a:alpha val="0"/>
              </a:srgbClr>
            </a:solidFill>
            <a:prstDash val="solid"/>
          </a:ln>
        </p:spPr>
      </p:sp>
      <p:sp>
        <p:nvSpPr>
          <p:cNvPr id="16" name="Text 14"/>
          <p:cNvSpPr/>
          <p:nvPr/>
        </p:nvSpPr>
        <p:spPr>
          <a:xfrm>
            <a:off x="950976" y="2468880"/>
            <a:ext cx="640080" cy="73152"/>
          </a:xfrm>
          <a:prstGeom prst="rect">
            <a:avLst/>
          </a:prstGeom>
          <a:noFill/>
          <a:ln/>
        </p:spPr>
        <p:txBody>
          <a:bodyPr wrap="square" lIns="0" tIns="0" rIns="0" bIns="0" rtlCol="0" anchor="ctr"/>
          <a:lstStyle/>
          <a:p>
            <a:pPr algn="ctr" indent="0" marL="0">
              <a:buNone/>
            </a:pPr>
            <a:r>
              <a:rPr lang="en-US" sz="800" b="1" dirty="0">
                <a:solidFill>
                  <a:srgbClr val="FFFFFF"/>
                </a:solidFill>
              </a:rPr>
              <a:t>Ask</a:t>
            </a:r>
            <a:endParaRPr lang="en-US" sz="800" dirty="0"/>
          </a:p>
        </p:txBody>
      </p:sp>
      <p:sp>
        <p:nvSpPr>
          <p:cNvPr id="17" name="Text 15"/>
          <p:cNvSpPr/>
          <p:nvPr/>
        </p:nvSpPr>
        <p:spPr>
          <a:xfrm>
            <a:off x="1965960" y="2368296"/>
            <a:ext cx="4937760" cy="228600"/>
          </a:xfrm>
          <a:prstGeom prst="rect">
            <a:avLst/>
          </a:prstGeom>
          <a:noFill/>
          <a:ln/>
        </p:spPr>
        <p:txBody>
          <a:bodyPr wrap="square" lIns="1016" tIns="1016" rIns="1016" bIns="1016" rtlCol="0" anchor="t">
            <a:normAutofit/>
          </a:bodyPr>
          <a:lstStyle/>
          <a:p>
            <a:pPr algn="l" indent="0" marL="0">
              <a:buNone/>
            </a:pPr>
            <a:r>
              <a:rPr lang="en-US" sz="1350" dirty="0">
                <a:solidFill>
                  <a:srgbClr val="101828"/>
                </a:solidFill>
                <a:latin typeface="Aptos" pitchFamily="34" charset="0"/>
                <a:ea typeface="Aptos" pitchFamily="34" charset="-122"/>
                <a:cs typeface="Aptos" pitchFamily="34" charset="-120"/>
              </a:rPr>
              <a:t>Does it need access management permissions?</a:t>
            </a:r>
            <a:endParaRPr lang="en-US" sz="1350" dirty="0"/>
          </a:p>
        </p:txBody>
      </p:sp>
      <p:sp>
        <p:nvSpPr>
          <p:cNvPr id="18" name="Shape 16"/>
          <p:cNvSpPr/>
          <p:nvPr/>
        </p:nvSpPr>
        <p:spPr>
          <a:xfrm>
            <a:off x="822960" y="2916936"/>
            <a:ext cx="914400" cy="256032"/>
          </a:xfrm>
          <a:prstGeom prst="roundRect">
            <a:avLst/>
          </a:prstGeom>
          <a:solidFill>
            <a:srgbClr val="1A73E8"/>
          </a:solidFill>
          <a:ln w="12700">
            <a:solidFill>
              <a:srgbClr val="333333">
                <a:alpha val="0"/>
              </a:srgbClr>
            </a:solidFill>
            <a:prstDash val="solid"/>
          </a:ln>
        </p:spPr>
      </p:sp>
      <p:sp>
        <p:nvSpPr>
          <p:cNvPr id="19" name="Text 17"/>
          <p:cNvSpPr/>
          <p:nvPr/>
        </p:nvSpPr>
        <p:spPr>
          <a:xfrm>
            <a:off x="950976" y="2999232"/>
            <a:ext cx="640080" cy="73152"/>
          </a:xfrm>
          <a:prstGeom prst="rect">
            <a:avLst/>
          </a:prstGeom>
          <a:noFill/>
          <a:ln/>
        </p:spPr>
        <p:txBody>
          <a:bodyPr wrap="square" lIns="0" tIns="0" rIns="0" bIns="0" rtlCol="0" anchor="ctr"/>
          <a:lstStyle/>
          <a:p>
            <a:pPr algn="ctr" indent="0" marL="0">
              <a:buNone/>
            </a:pPr>
            <a:r>
              <a:rPr lang="en-US" sz="800" b="1" dirty="0">
                <a:solidFill>
                  <a:srgbClr val="FFFFFF"/>
                </a:solidFill>
              </a:rPr>
              <a:t>Ask</a:t>
            </a:r>
            <a:endParaRPr lang="en-US" sz="800" dirty="0"/>
          </a:p>
        </p:txBody>
      </p:sp>
      <p:sp>
        <p:nvSpPr>
          <p:cNvPr id="20" name="Text 18"/>
          <p:cNvSpPr/>
          <p:nvPr/>
        </p:nvSpPr>
        <p:spPr>
          <a:xfrm>
            <a:off x="1965960" y="2898648"/>
            <a:ext cx="4937760" cy="228600"/>
          </a:xfrm>
          <a:prstGeom prst="rect">
            <a:avLst/>
          </a:prstGeom>
          <a:noFill/>
          <a:ln/>
        </p:spPr>
        <p:txBody>
          <a:bodyPr wrap="square" lIns="1016" tIns="1016" rIns="1016" bIns="1016" rtlCol="0" anchor="t">
            <a:normAutofit/>
          </a:bodyPr>
          <a:lstStyle/>
          <a:p>
            <a:pPr algn="l" indent="0" marL="0">
              <a:buNone/>
            </a:pPr>
            <a:r>
              <a:rPr lang="en-US" sz="1350" dirty="0">
                <a:solidFill>
                  <a:srgbClr val="101828"/>
                </a:solidFill>
                <a:latin typeface="Aptos" pitchFamily="34" charset="0"/>
                <a:ea typeface="Aptos" pitchFamily="34" charset="-122"/>
                <a:cs typeface="Aptos" pitchFamily="34" charset="-120"/>
              </a:rPr>
              <a:t>Can Dev identity modify Prod resources?</a:t>
            </a:r>
            <a:endParaRPr lang="en-US" sz="1350" dirty="0"/>
          </a:p>
        </p:txBody>
      </p:sp>
      <p:sp>
        <p:nvSpPr>
          <p:cNvPr id="21" name="Shape 19"/>
          <p:cNvSpPr/>
          <p:nvPr/>
        </p:nvSpPr>
        <p:spPr>
          <a:xfrm>
            <a:off x="822960" y="3447288"/>
            <a:ext cx="914400" cy="256032"/>
          </a:xfrm>
          <a:prstGeom prst="roundRect">
            <a:avLst/>
          </a:prstGeom>
          <a:solidFill>
            <a:srgbClr val="0F8A5F"/>
          </a:solidFill>
          <a:ln w="12700">
            <a:solidFill>
              <a:srgbClr val="333333">
                <a:alpha val="0"/>
              </a:srgbClr>
            </a:solidFill>
            <a:prstDash val="solid"/>
          </a:ln>
        </p:spPr>
      </p:sp>
      <p:sp>
        <p:nvSpPr>
          <p:cNvPr id="22" name="Text 20"/>
          <p:cNvSpPr/>
          <p:nvPr/>
        </p:nvSpPr>
        <p:spPr>
          <a:xfrm>
            <a:off x="950976" y="3529584"/>
            <a:ext cx="640080" cy="73152"/>
          </a:xfrm>
          <a:prstGeom prst="rect">
            <a:avLst/>
          </a:prstGeom>
          <a:noFill/>
          <a:ln/>
        </p:spPr>
        <p:txBody>
          <a:bodyPr wrap="square" lIns="0" tIns="0" rIns="0" bIns="0" rtlCol="0" anchor="ctr"/>
          <a:lstStyle/>
          <a:p>
            <a:pPr algn="ctr" indent="0" marL="0">
              <a:buNone/>
            </a:pPr>
            <a:r>
              <a:rPr lang="en-US" sz="800" b="1" dirty="0">
                <a:solidFill>
                  <a:srgbClr val="FFFFFF"/>
                </a:solidFill>
              </a:rPr>
              <a:t>Check</a:t>
            </a:r>
            <a:endParaRPr lang="en-US" sz="800" dirty="0"/>
          </a:p>
        </p:txBody>
      </p:sp>
      <p:sp>
        <p:nvSpPr>
          <p:cNvPr id="23" name="Text 21"/>
          <p:cNvSpPr/>
          <p:nvPr/>
        </p:nvSpPr>
        <p:spPr>
          <a:xfrm>
            <a:off x="1965960" y="3429000"/>
            <a:ext cx="4937760" cy="228600"/>
          </a:xfrm>
          <a:prstGeom prst="rect">
            <a:avLst/>
          </a:prstGeom>
          <a:noFill/>
          <a:ln/>
        </p:spPr>
        <p:txBody>
          <a:bodyPr wrap="square" lIns="1016" tIns="1016" rIns="1016" bIns="1016" rtlCol="0" anchor="t">
            <a:normAutofit/>
          </a:bodyPr>
          <a:lstStyle/>
          <a:p>
            <a:pPr algn="l" indent="0" marL="0">
              <a:buNone/>
            </a:pPr>
            <a:r>
              <a:rPr lang="en-US" sz="1350" dirty="0">
                <a:solidFill>
                  <a:srgbClr val="101828"/>
                </a:solidFill>
                <a:latin typeface="Aptos" pitchFamily="34" charset="0"/>
                <a:ea typeface="Aptos" pitchFamily="34" charset="-122"/>
                <a:cs typeface="Aptos" pitchFamily="34" charset="-120"/>
              </a:rPr>
              <a:t>Is access assigned to group, SPN, or managed identity?</a:t>
            </a:r>
            <a:endParaRPr lang="en-US" sz="1350" dirty="0"/>
          </a:p>
        </p:txBody>
      </p:sp>
      <p:sp>
        <p:nvSpPr>
          <p:cNvPr id="24" name="Shape 22"/>
          <p:cNvSpPr/>
          <p:nvPr/>
        </p:nvSpPr>
        <p:spPr>
          <a:xfrm>
            <a:off x="822960" y="3977640"/>
            <a:ext cx="914400" cy="256032"/>
          </a:xfrm>
          <a:prstGeom prst="roundRect">
            <a:avLst/>
          </a:prstGeom>
          <a:solidFill>
            <a:srgbClr val="0F8A5F"/>
          </a:solidFill>
          <a:ln w="12700">
            <a:solidFill>
              <a:srgbClr val="333333">
                <a:alpha val="0"/>
              </a:srgbClr>
            </a:solidFill>
            <a:prstDash val="solid"/>
          </a:ln>
        </p:spPr>
      </p:sp>
      <p:sp>
        <p:nvSpPr>
          <p:cNvPr id="25" name="Text 23"/>
          <p:cNvSpPr/>
          <p:nvPr/>
        </p:nvSpPr>
        <p:spPr>
          <a:xfrm>
            <a:off x="950976" y="4059936"/>
            <a:ext cx="640080" cy="73152"/>
          </a:xfrm>
          <a:prstGeom prst="rect">
            <a:avLst/>
          </a:prstGeom>
          <a:noFill/>
          <a:ln/>
        </p:spPr>
        <p:txBody>
          <a:bodyPr wrap="square" lIns="0" tIns="0" rIns="0" bIns="0" rtlCol="0" anchor="ctr"/>
          <a:lstStyle/>
          <a:p>
            <a:pPr algn="ctr" indent="0" marL="0">
              <a:buNone/>
            </a:pPr>
            <a:r>
              <a:rPr lang="en-US" sz="800" b="1" dirty="0">
                <a:solidFill>
                  <a:srgbClr val="FFFFFF"/>
                </a:solidFill>
              </a:rPr>
              <a:t>Check</a:t>
            </a:r>
            <a:endParaRPr lang="en-US" sz="800" dirty="0"/>
          </a:p>
        </p:txBody>
      </p:sp>
      <p:sp>
        <p:nvSpPr>
          <p:cNvPr id="26" name="Text 24"/>
          <p:cNvSpPr/>
          <p:nvPr/>
        </p:nvSpPr>
        <p:spPr>
          <a:xfrm>
            <a:off x="1965960" y="3959352"/>
            <a:ext cx="4937760" cy="228600"/>
          </a:xfrm>
          <a:prstGeom prst="rect">
            <a:avLst/>
          </a:prstGeom>
          <a:noFill/>
          <a:ln/>
        </p:spPr>
        <p:txBody>
          <a:bodyPr wrap="square" lIns="1016" tIns="1016" rIns="1016" bIns="1016" rtlCol="0" anchor="t">
            <a:normAutofit/>
          </a:bodyPr>
          <a:lstStyle/>
          <a:p>
            <a:pPr algn="l" indent="0" marL="0">
              <a:buNone/>
            </a:pPr>
            <a:r>
              <a:rPr lang="en-US" sz="1350" dirty="0">
                <a:solidFill>
                  <a:srgbClr val="101828"/>
                </a:solidFill>
                <a:latin typeface="Aptos" pitchFamily="34" charset="0"/>
                <a:ea typeface="Aptos" pitchFamily="34" charset="-122"/>
                <a:cs typeface="Aptos" pitchFamily="34" charset="-120"/>
              </a:rPr>
              <a:t>Are secrets long-lived or federated?</a:t>
            </a:r>
            <a:endParaRPr lang="en-US" sz="1350" dirty="0"/>
          </a:p>
        </p:txBody>
      </p:sp>
      <p:sp>
        <p:nvSpPr>
          <p:cNvPr id="27" name="Shape 25"/>
          <p:cNvSpPr/>
          <p:nvPr/>
        </p:nvSpPr>
        <p:spPr>
          <a:xfrm>
            <a:off x="7498080" y="1325880"/>
            <a:ext cx="3474720" cy="3383280"/>
          </a:xfrm>
          <a:prstGeom prst="roundRect">
            <a:avLst/>
          </a:prstGeom>
          <a:solidFill>
            <a:srgbClr val="091827"/>
          </a:solidFill>
          <a:ln w="12700">
            <a:solidFill>
              <a:srgbClr val="091827"/>
            </a:solidFill>
            <a:prstDash val="solid"/>
          </a:ln>
        </p:spPr>
      </p:sp>
      <p:sp>
        <p:nvSpPr>
          <p:cNvPr id="28" name="Text 26"/>
          <p:cNvSpPr/>
          <p:nvPr/>
        </p:nvSpPr>
        <p:spPr>
          <a:xfrm>
            <a:off x="7726680" y="1618488"/>
            <a:ext cx="2971800" cy="201168"/>
          </a:xfrm>
          <a:prstGeom prst="rect">
            <a:avLst/>
          </a:prstGeom>
          <a:noFill/>
          <a:ln/>
        </p:spPr>
        <p:txBody>
          <a:bodyPr wrap="square" lIns="0" tIns="0" rIns="0" bIns="0" rtlCol="0" anchor="ctr"/>
          <a:lstStyle/>
          <a:p>
            <a:pPr algn="ctr" indent="0" marL="0">
              <a:buNone/>
            </a:pPr>
            <a:r>
              <a:rPr lang="en-US" sz="1600" b="1" dirty="0">
                <a:solidFill>
                  <a:srgbClr val="21C7EC"/>
                </a:solidFill>
              </a:rPr>
              <a:t>Common blockers</a:t>
            </a:r>
            <a:endParaRPr lang="en-US" sz="1600" dirty="0"/>
          </a:p>
        </p:txBody>
      </p:sp>
      <p:sp>
        <p:nvSpPr>
          <p:cNvPr id="29" name="Text 27"/>
          <p:cNvSpPr/>
          <p:nvPr/>
        </p:nvSpPr>
        <p:spPr>
          <a:xfrm>
            <a:off x="7726680" y="2084832"/>
            <a:ext cx="2834640" cy="201168"/>
          </a:xfrm>
          <a:prstGeom prst="rect">
            <a:avLst/>
          </a:prstGeom>
          <a:noFill/>
          <a:ln/>
        </p:spPr>
        <p:txBody>
          <a:bodyPr wrap="square" lIns="1016" tIns="1016" rIns="1016" bIns="1016" rtlCol="0" anchor="t">
            <a:normAutofit/>
          </a:bodyPr>
          <a:lstStyle/>
          <a:p>
            <a:pPr algn="l" indent="0" marL="0">
              <a:buNone/>
            </a:pPr>
            <a:r>
              <a:rPr lang="en-US" sz="1150" dirty="0">
                <a:solidFill>
                  <a:srgbClr val="FFFFFF"/>
                </a:solidFill>
                <a:latin typeface="Aptos" pitchFamily="34" charset="0"/>
                <a:ea typeface="Aptos" pitchFamily="34" charset="-122"/>
                <a:cs typeface="Aptos" pitchFamily="34" charset="-120"/>
              </a:rPr>
              <a:t>• Missing Owner/User Access Admin rights</a:t>
            </a:r>
            <a:endParaRPr lang="en-US" sz="1150" dirty="0"/>
          </a:p>
        </p:txBody>
      </p:sp>
      <p:sp>
        <p:nvSpPr>
          <p:cNvPr id="30" name="Text 28"/>
          <p:cNvSpPr/>
          <p:nvPr/>
        </p:nvSpPr>
        <p:spPr>
          <a:xfrm>
            <a:off x="7726680" y="2478024"/>
            <a:ext cx="2834640" cy="201168"/>
          </a:xfrm>
          <a:prstGeom prst="rect">
            <a:avLst/>
          </a:prstGeom>
          <a:noFill/>
          <a:ln/>
        </p:spPr>
        <p:txBody>
          <a:bodyPr wrap="square" lIns="1016" tIns="1016" rIns="1016" bIns="1016" rtlCol="0" anchor="t">
            <a:normAutofit/>
          </a:bodyPr>
          <a:lstStyle/>
          <a:p>
            <a:pPr algn="l" indent="0" marL="0">
              <a:buNone/>
            </a:pPr>
            <a:r>
              <a:rPr lang="en-US" sz="1150" dirty="0">
                <a:solidFill>
                  <a:srgbClr val="FFFFFF"/>
                </a:solidFill>
                <a:latin typeface="Aptos" pitchFamily="34" charset="0"/>
                <a:ea typeface="Aptos" pitchFamily="34" charset="-122"/>
                <a:cs typeface="Aptos" pitchFamily="34" charset="-120"/>
              </a:rPr>
              <a:t>• Pipeline relies on hidden permissions</a:t>
            </a:r>
            <a:endParaRPr lang="en-US" sz="1150" dirty="0"/>
          </a:p>
        </p:txBody>
      </p:sp>
      <p:sp>
        <p:nvSpPr>
          <p:cNvPr id="31" name="Text 29"/>
          <p:cNvSpPr/>
          <p:nvPr/>
        </p:nvSpPr>
        <p:spPr>
          <a:xfrm>
            <a:off x="7726680" y="2871216"/>
            <a:ext cx="2834640" cy="201168"/>
          </a:xfrm>
          <a:prstGeom prst="rect">
            <a:avLst/>
          </a:prstGeom>
          <a:noFill/>
          <a:ln/>
        </p:spPr>
        <p:txBody>
          <a:bodyPr wrap="square" lIns="1016" tIns="1016" rIns="1016" bIns="1016" rtlCol="0" anchor="t">
            <a:normAutofit/>
          </a:bodyPr>
          <a:lstStyle/>
          <a:p>
            <a:pPr algn="l" indent="0" marL="0">
              <a:buNone/>
            </a:pPr>
            <a:r>
              <a:rPr lang="en-US" sz="1150" dirty="0">
                <a:solidFill>
                  <a:srgbClr val="FFFFFF"/>
                </a:solidFill>
                <a:latin typeface="Aptos" pitchFamily="34" charset="0"/>
                <a:ea typeface="Aptos" pitchFamily="34" charset="-122"/>
                <a:cs typeface="Aptos" pitchFamily="34" charset="-120"/>
              </a:rPr>
              <a:t>• Custom role too narrow at first</a:t>
            </a:r>
            <a:endParaRPr lang="en-US" sz="1150" dirty="0"/>
          </a:p>
        </p:txBody>
      </p:sp>
      <p:sp>
        <p:nvSpPr>
          <p:cNvPr id="32" name="Text 30"/>
          <p:cNvSpPr/>
          <p:nvPr/>
        </p:nvSpPr>
        <p:spPr>
          <a:xfrm>
            <a:off x="7726680" y="3264408"/>
            <a:ext cx="2834640" cy="201168"/>
          </a:xfrm>
          <a:prstGeom prst="rect">
            <a:avLst/>
          </a:prstGeom>
          <a:noFill/>
          <a:ln/>
        </p:spPr>
        <p:txBody>
          <a:bodyPr wrap="square" lIns="1016" tIns="1016" rIns="1016" bIns="1016" rtlCol="0" anchor="t">
            <a:normAutofit/>
          </a:bodyPr>
          <a:lstStyle/>
          <a:p>
            <a:pPr algn="l" indent="0" marL="0">
              <a:buNone/>
            </a:pPr>
            <a:r>
              <a:rPr lang="en-US" sz="1150" dirty="0">
                <a:solidFill>
                  <a:srgbClr val="FFFFFF"/>
                </a:solidFill>
                <a:latin typeface="Aptos" pitchFamily="34" charset="0"/>
                <a:ea typeface="Aptos" pitchFamily="34" charset="-122"/>
                <a:cs typeface="Aptos" pitchFamily="34" charset="-120"/>
              </a:rPr>
              <a:t>• Azure portal propagation delays</a:t>
            </a:r>
            <a:endParaRPr lang="en-US" sz="1150" dirty="0"/>
          </a:p>
        </p:txBody>
      </p:sp>
      <p:sp>
        <p:nvSpPr>
          <p:cNvPr id="33" name="Text 31"/>
          <p:cNvSpPr/>
          <p:nvPr/>
        </p:nvSpPr>
        <p:spPr>
          <a:xfrm>
            <a:off x="7726680" y="3657600"/>
            <a:ext cx="2834640" cy="201168"/>
          </a:xfrm>
          <a:prstGeom prst="rect">
            <a:avLst/>
          </a:prstGeom>
          <a:noFill/>
          <a:ln/>
        </p:spPr>
        <p:txBody>
          <a:bodyPr wrap="square" lIns="1016" tIns="1016" rIns="1016" bIns="1016" rtlCol="0" anchor="t">
            <a:normAutofit/>
          </a:bodyPr>
          <a:lstStyle/>
          <a:p>
            <a:pPr algn="l" indent="0" marL="0">
              <a:buNone/>
            </a:pPr>
            <a:r>
              <a:rPr lang="en-US" sz="1150" dirty="0">
                <a:solidFill>
                  <a:srgbClr val="FFFFFF"/>
                </a:solidFill>
                <a:latin typeface="Aptos" pitchFamily="34" charset="0"/>
                <a:ea typeface="Aptos" pitchFamily="34" charset="-122"/>
                <a:cs typeface="Aptos" pitchFamily="34" charset="-120"/>
              </a:rPr>
              <a:t>• Production change approval missing</a:t>
            </a:r>
            <a:endParaRPr lang="en-US" sz="1150" dirty="0"/>
          </a:p>
        </p:txBody>
      </p:sp>
      <p:sp>
        <p:nvSpPr>
          <p:cNvPr id="34" name="Text 32"/>
          <p:cNvSpPr/>
          <p:nvPr/>
        </p:nvSpPr>
        <p:spPr>
          <a:xfrm>
            <a:off x="914400" y="5715000"/>
            <a:ext cx="10149840" cy="329184"/>
          </a:xfrm>
          <a:prstGeom prst="rect">
            <a:avLst/>
          </a:prstGeom>
          <a:noFill/>
          <a:ln/>
        </p:spPr>
        <p:txBody>
          <a:bodyPr wrap="square" lIns="1016" tIns="1016" rIns="1016" bIns="1016" rtlCol="0" anchor="t">
            <a:normAutofit/>
          </a:bodyPr>
          <a:lstStyle/>
          <a:p>
            <a:pPr algn="ctr" indent="0" marL="0">
              <a:buNone/>
            </a:pPr>
            <a:r>
              <a:rPr lang="en-US" sz="1700" b="1" dirty="0">
                <a:solidFill>
                  <a:srgbClr val="101828"/>
                </a:solidFill>
                <a:latin typeface="Aptos" pitchFamily="34" charset="0"/>
                <a:ea typeface="Aptos" pitchFamily="34" charset="-122"/>
                <a:cs typeface="Aptos" pitchFamily="34" charset="-120"/>
              </a:rPr>
              <a:t>Instructor close: “Do not remove privilege until the replacement access path is tested.”</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333333">
                <a:alpha val="0"/>
              </a:srgbClr>
            </a:solidFill>
            <a:prstDash val="solid"/>
          </a:ln>
        </p:spPr>
      </p:sp>
      <p:sp>
        <p:nvSpPr>
          <p:cNvPr id="3" name="Shape 1"/>
          <p:cNvSpPr/>
          <p:nvPr/>
        </p:nvSpPr>
        <p:spPr>
          <a:xfrm>
            <a:off x="0" y="0"/>
            <a:ext cx="155448" cy="6858000"/>
          </a:xfrm>
          <a:prstGeom prst="rect">
            <a:avLst/>
          </a:prstGeom>
          <a:solidFill>
            <a:srgbClr val="1A73E8"/>
          </a:solidFill>
          <a:ln w="12700">
            <a:solidFill>
              <a:srgbClr val="333333">
                <a:alpha val="0"/>
              </a:srgbClr>
            </a:solidFill>
            <a:prstDash val="solid"/>
          </a:ln>
        </p:spPr>
      </p:sp>
      <p:sp>
        <p:nvSpPr>
          <p:cNvPr id="4" name="Text 2"/>
          <p:cNvSpPr/>
          <p:nvPr/>
        </p:nvSpPr>
        <p:spPr>
          <a:xfrm>
            <a:off x="502920" y="228600"/>
            <a:ext cx="7498080" cy="228600"/>
          </a:xfrm>
          <a:prstGeom prst="rect">
            <a:avLst/>
          </a:prstGeom>
          <a:noFill/>
          <a:ln/>
        </p:spPr>
        <p:txBody>
          <a:bodyPr wrap="square" lIns="0" tIns="0" rIns="0" bIns="0" rtlCol="0" anchor="ctr">
            <a:normAutofit/>
          </a:bodyPr>
          <a:lstStyle/>
          <a:p>
            <a:pPr indent="0" marL="0">
              <a:buNone/>
            </a:pPr>
            <a:r>
              <a:rPr lang="en-US" sz="850" b="1" dirty="0">
                <a:solidFill>
                  <a:srgbClr val="1A73E8"/>
                </a:solidFill>
                <a:latin typeface="Aptos" pitchFamily="34" charset="0"/>
                <a:ea typeface="Aptos" pitchFamily="34" charset="-122"/>
                <a:cs typeface="Aptos" pitchFamily="34" charset="-120"/>
              </a:rPr>
              <a:t>Official Microsoft documentation</a:t>
            </a:r>
            <a:endParaRPr lang="en-US" sz="850" dirty="0"/>
          </a:p>
        </p:txBody>
      </p:sp>
      <p:sp>
        <p:nvSpPr>
          <p:cNvPr id="5" name="Text 3"/>
          <p:cNvSpPr/>
          <p:nvPr/>
        </p:nvSpPr>
        <p:spPr>
          <a:xfrm>
            <a:off x="502920" y="475488"/>
            <a:ext cx="9966960" cy="475488"/>
          </a:xfrm>
          <a:prstGeom prst="rect">
            <a:avLst/>
          </a:prstGeom>
          <a:noFill/>
          <a:ln/>
        </p:spPr>
        <p:txBody>
          <a:bodyPr wrap="square" lIns="254" tIns="254" rIns="254" bIns="254" rtlCol="0" anchor="ctr">
            <a:normAutofit/>
          </a:bodyPr>
          <a:lstStyle/>
          <a:p>
            <a:pPr indent="0" marL="0">
              <a:buNone/>
            </a:pPr>
            <a:r>
              <a:rPr lang="en-US" sz="2500" b="1" dirty="0">
                <a:solidFill>
                  <a:srgbClr val="101828"/>
                </a:solidFill>
                <a:latin typeface="Aptos Display" pitchFamily="34" charset="0"/>
                <a:ea typeface="Aptos Display" pitchFamily="34" charset="-122"/>
                <a:cs typeface="Aptos Display" pitchFamily="34" charset="-120"/>
              </a:rPr>
              <a:t>Online resources and references</a:t>
            </a:r>
            <a:endParaRPr lang="en-US" sz="2500" dirty="0"/>
          </a:p>
        </p:txBody>
      </p:sp>
      <p:sp>
        <p:nvSpPr>
          <p:cNvPr id="6" name="Shape 4"/>
          <p:cNvSpPr/>
          <p:nvPr/>
        </p:nvSpPr>
        <p:spPr>
          <a:xfrm>
            <a:off x="502920" y="1078992"/>
            <a:ext cx="10927080" cy="0"/>
          </a:xfrm>
          <a:prstGeom prst="line">
            <a:avLst/>
          </a:prstGeom>
          <a:noFill/>
          <a:ln w="12700">
            <a:solidFill>
              <a:srgbClr val="D0D5DD"/>
            </a:solidFill>
            <a:prstDash val="solid"/>
          </a:ln>
        </p:spPr>
      </p:sp>
      <p:sp>
        <p:nvSpPr>
          <p:cNvPr id="7" name="Text 5"/>
          <p:cNvSpPr/>
          <p:nvPr/>
        </p:nvSpPr>
        <p:spPr>
          <a:xfrm>
            <a:off x="502920" y="6492240"/>
            <a:ext cx="4114800" cy="182880"/>
          </a:xfrm>
          <a:prstGeom prst="rect">
            <a:avLst/>
          </a:prstGeom>
          <a:noFill/>
          <a:ln/>
        </p:spPr>
        <p:txBody>
          <a:bodyPr wrap="square" lIns="0" tIns="0" rIns="0" bIns="0" rtlCol="0" anchor="ctr">
            <a:normAutofit/>
          </a:bodyPr>
          <a:lstStyle/>
          <a:p>
            <a:pPr indent="0" marL="0">
              <a:buNone/>
            </a:pPr>
            <a:r>
              <a:rPr lang="en-US" sz="750" dirty="0">
                <a:solidFill>
                  <a:srgbClr val="475467"/>
                </a:solidFill>
              </a:rPr>
              <a:t>CESE323 | Least Privilege RBAC</a:t>
            </a:r>
            <a:endParaRPr lang="en-US" sz="750" dirty="0"/>
          </a:p>
        </p:txBody>
      </p:sp>
      <p:sp>
        <p:nvSpPr>
          <p:cNvPr id="8" name="Text 6"/>
          <p:cNvSpPr/>
          <p:nvPr/>
        </p:nvSpPr>
        <p:spPr>
          <a:xfrm>
            <a:off x="11109960" y="6428232"/>
            <a:ext cx="502920" cy="274320"/>
          </a:xfrm>
          <a:prstGeom prst="rect">
            <a:avLst/>
          </a:prstGeom>
          <a:noFill/>
          <a:ln/>
        </p:spPr>
        <p:txBody>
          <a:bodyPr wrap="square" lIns="0" tIns="0" rIns="0" bIns="0" rtlCol="0" anchor="ctr"/>
          <a:lstStyle/>
          <a:p>
            <a:pPr algn="r" indent="0" marL="0">
              <a:buNone/>
            </a:pPr>
            <a:r>
              <a:rPr lang="en-US" sz="900" b="1" dirty="0">
                <a:solidFill>
                  <a:srgbClr val="1A73E8"/>
                </a:solidFill>
              </a:rPr>
              <a:t>14</a:t>
            </a:r>
            <a:endParaRPr lang="en-US" sz="900" dirty="0"/>
          </a:p>
        </p:txBody>
      </p:sp>
      <p:sp>
        <p:nvSpPr>
          <p:cNvPr id="9" name="Text 7">
            <a:hlinkClick r:id="rId1" tooltip=""/>
          </p:cNvPr>
          <p:cNvSpPr/>
          <p:nvPr/>
        </p:nvSpPr>
        <p:spPr>
          <a:xfrm>
            <a:off x="777240" y="1234440"/>
            <a:ext cx="3291840" cy="164592"/>
          </a:xfrm>
          <a:prstGeom prst="rect">
            <a:avLst/>
          </a:prstGeom>
          <a:noFill/>
          <a:ln/>
        </p:spPr>
        <p:txBody>
          <a:bodyPr wrap="square" lIns="0" tIns="0" rIns="0" bIns="0" rtlCol="0" anchor="ctr">
            <a:normAutofit/>
          </a:bodyPr>
          <a:lstStyle/>
          <a:p>
            <a:pPr indent="0" marL="0">
              <a:buNone/>
            </a:pPr>
            <a:r>
              <a:rPr lang="en-US" sz="1150" b="1" u="sng" dirty="0">
                <a:solidFill>
                  <a:srgbClr val="101828"/>
                </a:solidFill>
                <a:hlinkClick r:id="rId1" invalidUrl="" action="" tgtFrame="" tooltip="" history="1" highlightClick="0" endSnd="0">
                  <a:extLst>
                    <a:ext uri="{A12FA001-AC4F-418D-AE19-62706E023703}">
                      <ahyp:hlinkClr xmlns:ahyp="http://schemas.microsoft.com/office/drawing/2018/hyperlinkcolor" val="tx"/>
                    </a:ext>
                  </a:extLst>
                </a:hlinkClick>
              </a:rPr>
              <a:t>Azure RBAC overview</a:t>
            </a:r>
            <a:endParaRPr lang="en-US" sz="1150" dirty="0"/>
          </a:p>
        </p:txBody>
      </p:sp>
      <p:sp>
        <p:nvSpPr>
          <p:cNvPr id="10" name="Text 8">
            <a:hlinkClick r:id="rId2" tooltip=""/>
          </p:cNvPr>
          <p:cNvSpPr/>
          <p:nvPr/>
        </p:nvSpPr>
        <p:spPr>
          <a:xfrm>
            <a:off x="4251960" y="1234440"/>
            <a:ext cx="6949440" cy="164592"/>
          </a:xfrm>
          <a:prstGeom prst="rect">
            <a:avLst/>
          </a:prstGeom>
          <a:noFill/>
          <a:ln/>
        </p:spPr>
        <p:txBody>
          <a:bodyPr wrap="square" lIns="0" tIns="0" rIns="0" bIns="0" rtlCol="0" anchor="ctr">
            <a:normAutofit/>
          </a:bodyPr>
          <a:lstStyle/>
          <a:p>
            <a:pPr indent="0" marL="0">
              <a:buNone/>
            </a:pPr>
            <a:r>
              <a:rPr lang="en-US" sz="950" u="sng" dirty="0">
                <a:solidFill>
                  <a:srgbClr val="1A73E8"/>
                </a:solidFill>
                <a:hlinkClick r:id="rId2" invalidUrl="" action="" tgtFrame="" tooltip="" history="1" highlightClick="0" endSnd="0">
                  <a:extLst>
                    <a:ext uri="{A12FA001-AC4F-418D-AE19-62706E023703}">
                      <ahyp:hlinkClr xmlns:ahyp="http://schemas.microsoft.com/office/drawing/2018/hyperlinkcolor" val="tx"/>
                    </a:ext>
                  </a:extLst>
                </a:hlinkClick>
              </a:rPr>
              <a:t>https://learn.microsoft.com/en-us/azure/role-based-access-control/overview</a:t>
            </a:r>
            <a:endParaRPr lang="en-US" sz="950" dirty="0"/>
          </a:p>
        </p:txBody>
      </p:sp>
      <p:sp>
        <p:nvSpPr>
          <p:cNvPr id="11" name="Text 9">
            <a:hlinkClick r:id="rId3" tooltip=""/>
          </p:cNvPr>
          <p:cNvSpPr/>
          <p:nvPr/>
        </p:nvSpPr>
        <p:spPr>
          <a:xfrm>
            <a:off x="777240" y="1737360"/>
            <a:ext cx="3291840" cy="164592"/>
          </a:xfrm>
          <a:prstGeom prst="rect">
            <a:avLst/>
          </a:prstGeom>
          <a:noFill/>
          <a:ln/>
        </p:spPr>
        <p:txBody>
          <a:bodyPr wrap="square" lIns="0" tIns="0" rIns="0" bIns="0" rtlCol="0" anchor="ctr">
            <a:normAutofit/>
          </a:bodyPr>
          <a:lstStyle/>
          <a:p>
            <a:pPr indent="0" marL="0">
              <a:buNone/>
            </a:pPr>
            <a:r>
              <a:rPr lang="en-US" sz="1150" b="1" u="sng" dirty="0">
                <a:solidFill>
                  <a:srgbClr val="101828"/>
                </a:solidFill>
                <a:hlinkClick r:id="rId3" invalidUrl="" action="" tgtFrame="" tooltip="" history="1" highlightClick="0" endSnd="0">
                  <a:extLst>
                    <a:ext uri="{A12FA001-AC4F-418D-AE19-62706E023703}">
                      <ahyp:hlinkClr xmlns:ahyp="http://schemas.microsoft.com/office/drawing/2018/hyperlinkcolor" val="tx"/>
                    </a:ext>
                  </a:extLst>
                </a:hlinkClick>
              </a:rPr>
              <a:t>Azure RBAC best practices</a:t>
            </a:r>
            <a:endParaRPr lang="en-US" sz="1150" dirty="0"/>
          </a:p>
        </p:txBody>
      </p:sp>
      <p:sp>
        <p:nvSpPr>
          <p:cNvPr id="12" name="Text 10">
            <a:hlinkClick r:id="rId4" tooltip=""/>
          </p:cNvPr>
          <p:cNvSpPr/>
          <p:nvPr/>
        </p:nvSpPr>
        <p:spPr>
          <a:xfrm>
            <a:off x="4251960" y="1737360"/>
            <a:ext cx="6949440" cy="164592"/>
          </a:xfrm>
          <a:prstGeom prst="rect">
            <a:avLst/>
          </a:prstGeom>
          <a:noFill/>
          <a:ln/>
        </p:spPr>
        <p:txBody>
          <a:bodyPr wrap="square" lIns="0" tIns="0" rIns="0" bIns="0" rtlCol="0" anchor="ctr">
            <a:normAutofit/>
          </a:bodyPr>
          <a:lstStyle/>
          <a:p>
            <a:pPr indent="0" marL="0">
              <a:buNone/>
            </a:pPr>
            <a:r>
              <a:rPr lang="en-US" sz="950" u="sng" dirty="0">
                <a:solidFill>
                  <a:srgbClr val="1A73E8"/>
                </a:solidFill>
                <a:hlinkClick r:id="rId4" invalidUrl="" action="" tgtFrame="" tooltip="" history="1" highlightClick="0" endSnd="0">
                  <a:extLst>
                    <a:ext uri="{A12FA001-AC4F-418D-AE19-62706E023703}">
                      <ahyp:hlinkClr xmlns:ahyp="http://schemas.microsoft.com/office/drawing/2018/hyperlinkcolor" val="tx"/>
                    </a:ext>
                  </a:extLst>
                </a:hlinkClick>
              </a:rPr>
              <a:t>https://learn.microsoft.com/en-us/azure/role-based-access-control/best-practices</a:t>
            </a:r>
            <a:endParaRPr lang="en-US" sz="950" dirty="0"/>
          </a:p>
        </p:txBody>
      </p:sp>
      <p:sp>
        <p:nvSpPr>
          <p:cNvPr id="13" name="Text 11">
            <a:hlinkClick r:id="rId5" tooltip=""/>
          </p:cNvPr>
          <p:cNvSpPr/>
          <p:nvPr/>
        </p:nvSpPr>
        <p:spPr>
          <a:xfrm>
            <a:off x="777240" y="2240280"/>
            <a:ext cx="3291840" cy="164592"/>
          </a:xfrm>
          <a:prstGeom prst="rect">
            <a:avLst/>
          </a:prstGeom>
          <a:noFill/>
          <a:ln/>
        </p:spPr>
        <p:txBody>
          <a:bodyPr wrap="square" lIns="0" tIns="0" rIns="0" bIns="0" rtlCol="0" anchor="ctr">
            <a:normAutofit/>
          </a:bodyPr>
          <a:lstStyle/>
          <a:p>
            <a:pPr indent="0" marL="0">
              <a:buNone/>
            </a:pPr>
            <a:r>
              <a:rPr lang="en-US" sz="1150" b="1" u="sng" dirty="0">
                <a:solidFill>
                  <a:srgbClr val="101828"/>
                </a:solidFill>
                <a:hlinkClick r:id="rId5" invalidUrl="" action="" tgtFrame="" tooltip="" history="1" highlightClick="0" endSnd="0">
                  <a:extLst>
                    <a:ext uri="{A12FA001-AC4F-418D-AE19-62706E023703}">
                      <ahyp:hlinkClr xmlns:ahyp="http://schemas.microsoft.com/office/drawing/2018/hyperlinkcolor" val="tx"/>
                    </a:ext>
                  </a:extLst>
                </a:hlinkClick>
              </a:rPr>
              <a:t>Assign Azure roles in the portal</a:t>
            </a:r>
            <a:endParaRPr lang="en-US" sz="1150" dirty="0"/>
          </a:p>
        </p:txBody>
      </p:sp>
      <p:sp>
        <p:nvSpPr>
          <p:cNvPr id="14" name="Text 12">
            <a:hlinkClick r:id="rId6" tooltip=""/>
          </p:cNvPr>
          <p:cNvSpPr/>
          <p:nvPr/>
        </p:nvSpPr>
        <p:spPr>
          <a:xfrm>
            <a:off x="4251960" y="2240280"/>
            <a:ext cx="6949440" cy="164592"/>
          </a:xfrm>
          <a:prstGeom prst="rect">
            <a:avLst/>
          </a:prstGeom>
          <a:noFill/>
          <a:ln/>
        </p:spPr>
        <p:txBody>
          <a:bodyPr wrap="square" lIns="0" tIns="0" rIns="0" bIns="0" rtlCol="0" anchor="ctr">
            <a:normAutofit/>
          </a:bodyPr>
          <a:lstStyle/>
          <a:p>
            <a:pPr indent="0" marL="0">
              <a:buNone/>
            </a:pPr>
            <a:r>
              <a:rPr lang="en-US" sz="950" u="sng" dirty="0">
                <a:solidFill>
                  <a:srgbClr val="1A73E8"/>
                </a:solidFill>
                <a:hlinkClick r:id="rId6" invalidUrl="" action="" tgtFrame="" tooltip="" history="1" highlightClick="0" endSnd="0">
                  <a:extLst>
                    <a:ext uri="{A12FA001-AC4F-418D-AE19-62706E023703}">
                      <ahyp:hlinkClr xmlns:ahyp="http://schemas.microsoft.com/office/drawing/2018/hyperlinkcolor" val="tx"/>
                    </a:ext>
                  </a:extLst>
                </a:hlinkClick>
              </a:rPr>
              <a:t>https://learn.microsoft.com/en-us/azure/role-based-access-control/role-assignments-portal</a:t>
            </a:r>
            <a:endParaRPr lang="en-US" sz="950" dirty="0"/>
          </a:p>
        </p:txBody>
      </p:sp>
      <p:sp>
        <p:nvSpPr>
          <p:cNvPr id="15" name="Text 13">
            <a:hlinkClick r:id="rId7" tooltip=""/>
          </p:cNvPr>
          <p:cNvSpPr/>
          <p:nvPr/>
        </p:nvSpPr>
        <p:spPr>
          <a:xfrm>
            <a:off x="777240" y="2743200"/>
            <a:ext cx="3291840" cy="164592"/>
          </a:xfrm>
          <a:prstGeom prst="rect">
            <a:avLst/>
          </a:prstGeom>
          <a:noFill/>
          <a:ln/>
        </p:spPr>
        <p:txBody>
          <a:bodyPr wrap="square" lIns="0" tIns="0" rIns="0" bIns="0" rtlCol="0" anchor="ctr">
            <a:normAutofit/>
          </a:bodyPr>
          <a:lstStyle/>
          <a:p>
            <a:pPr indent="0" marL="0">
              <a:buNone/>
            </a:pPr>
            <a:r>
              <a:rPr lang="en-US" sz="1150" b="1" u="sng" dirty="0">
                <a:solidFill>
                  <a:srgbClr val="101828"/>
                </a:solidFill>
                <a:hlinkClick r:id="rId7" invalidUrl="" action="" tgtFrame="" tooltip="" history="1" highlightClick="0" endSnd="0">
                  <a:extLst>
                    <a:ext uri="{A12FA001-AC4F-418D-AE19-62706E023703}">
                      <ahyp:hlinkClr xmlns:ahyp="http://schemas.microsoft.com/office/drawing/2018/hyperlinkcolor" val="tx"/>
                    </a:ext>
                  </a:extLst>
                </a:hlinkClick>
              </a:rPr>
              <a:t>Create Azure custom roles in the portal</a:t>
            </a:r>
            <a:endParaRPr lang="en-US" sz="1150" dirty="0"/>
          </a:p>
        </p:txBody>
      </p:sp>
      <p:sp>
        <p:nvSpPr>
          <p:cNvPr id="16" name="Text 14">
            <a:hlinkClick r:id="rId8" tooltip=""/>
          </p:cNvPr>
          <p:cNvSpPr/>
          <p:nvPr/>
        </p:nvSpPr>
        <p:spPr>
          <a:xfrm>
            <a:off x="4251960" y="2743200"/>
            <a:ext cx="6949440" cy="164592"/>
          </a:xfrm>
          <a:prstGeom prst="rect">
            <a:avLst/>
          </a:prstGeom>
          <a:noFill/>
          <a:ln/>
        </p:spPr>
        <p:txBody>
          <a:bodyPr wrap="square" lIns="0" tIns="0" rIns="0" bIns="0" rtlCol="0" anchor="ctr">
            <a:normAutofit/>
          </a:bodyPr>
          <a:lstStyle/>
          <a:p>
            <a:pPr indent="0" marL="0">
              <a:buNone/>
            </a:pPr>
            <a:r>
              <a:rPr lang="en-US" sz="950" u="sng" dirty="0">
                <a:solidFill>
                  <a:srgbClr val="1A73E8"/>
                </a:solidFill>
                <a:hlinkClick r:id="rId8" invalidUrl="" action="" tgtFrame="" tooltip="" history="1" highlightClick="0" endSnd="0">
                  <a:extLst>
                    <a:ext uri="{A12FA001-AC4F-418D-AE19-62706E023703}">
                      <ahyp:hlinkClr xmlns:ahyp="http://schemas.microsoft.com/office/drawing/2018/hyperlinkcolor" val="tx"/>
                    </a:ext>
                  </a:extLst>
                </a:hlinkClick>
              </a:rPr>
              <a:t>https://learn.microsoft.com/en-us/azure/role-based-access-control/custom-roles-portal</a:t>
            </a:r>
            <a:endParaRPr lang="en-US" sz="950" dirty="0"/>
          </a:p>
        </p:txBody>
      </p:sp>
      <p:sp>
        <p:nvSpPr>
          <p:cNvPr id="17" name="Text 15">
            <a:hlinkClick r:id="rId9" tooltip=""/>
          </p:cNvPr>
          <p:cNvSpPr/>
          <p:nvPr/>
        </p:nvSpPr>
        <p:spPr>
          <a:xfrm>
            <a:off x="777240" y="3246120"/>
            <a:ext cx="3291840" cy="164592"/>
          </a:xfrm>
          <a:prstGeom prst="rect">
            <a:avLst/>
          </a:prstGeom>
          <a:noFill/>
          <a:ln/>
        </p:spPr>
        <p:txBody>
          <a:bodyPr wrap="square" lIns="0" tIns="0" rIns="0" bIns="0" rtlCol="0" anchor="ctr">
            <a:normAutofit/>
          </a:bodyPr>
          <a:lstStyle/>
          <a:p>
            <a:pPr indent="0" marL="0">
              <a:buNone/>
            </a:pPr>
            <a:r>
              <a:rPr lang="en-US" sz="1150" b="1" u="sng" dirty="0">
                <a:solidFill>
                  <a:srgbClr val="101828"/>
                </a:solidFill>
                <a:hlinkClick r:id="rId9" invalidUrl="" action="" tgtFrame="" tooltip="" history="1" highlightClick="0" endSnd="0">
                  <a:extLst>
                    <a:ext uri="{A12FA001-AC4F-418D-AE19-62706E023703}">
                      <ahyp:hlinkClr xmlns:ahyp="http://schemas.microsoft.com/office/drawing/2018/hyperlinkcolor" val="tx"/>
                    </a:ext>
                  </a:extLst>
                </a:hlinkClick>
              </a:rPr>
              <a:t>Azure custom roles reference</a:t>
            </a:r>
            <a:endParaRPr lang="en-US" sz="1150" dirty="0"/>
          </a:p>
        </p:txBody>
      </p:sp>
      <p:sp>
        <p:nvSpPr>
          <p:cNvPr id="18" name="Text 16">
            <a:hlinkClick r:id="rId10" tooltip=""/>
          </p:cNvPr>
          <p:cNvSpPr/>
          <p:nvPr/>
        </p:nvSpPr>
        <p:spPr>
          <a:xfrm>
            <a:off x="4251960" y="3246120"/>
            <a:ext cx="6949440" cy="164592"/>
          </a:xfrm>
          <a:prstGeom prst="rect">
            <a:avLst/>
          </a:prstGeom>
          <a:noFill/>
          <a:ln/>
        </p:spPr>
        <p:txBody>
          <a:bodyPr wrap="square" lIns="0" tIns="0" rIns="0" bIns="0" rtlCol="0" anchor="ctr">
            <a:normAutofit/>
          </a:bodyPr>
          <a:lstStyle/>
          <a:p>
            <a:pPr indent="0" marL="0">
              <a:buNone/>
            </a:pPr>
            <a:r>
              <a:rPr lang="en-US" sz="950" u="sng" dirty="0">
                <a:solidFill>
                  <a:srgbClr val="1A73E8"/>
                </a:solidFill>
                <a:hlinkClick r:id="rId10" invalidUrl="" action="" tgtFrame="" tooltip="" history="1" highlightClick="0" endSnd="0">
                  <a:extLst>
                    <a:ext uri="{A12FA001-AC4F-418D-AE19-62706E023703}">
                      <ahyp:hlinkClr xmlns:ahyp="http://schemas.microsoft.com/office/drawing/2018/hyperlinkcolor" val="tx"/>
                    </a:ext>
                  </a:extLst>
                </a:hlinkClick>
              </a:rPr>
              <a:t>https://learn.microsoft.com/en-us/azure/role-based-access-control/custom-roles</a:t>
            </a:r>
            <a:endParaRPr lang="en-US" sz="950" dirty="0"/>
          </a:p>
        </p:txBody>
      </p:sp>
      <p:sp>
        <p:nvSpPr>
          <p:cNvPr id="19" name="Text 17">
            <a:hlinkClick r:id="rId11" tooltip=""/>
          </p:cNvPr>
          <p:cNvSpPr/>
          <p:nvPr/>
        </p:nvSpPr>
        <p:spPr>
          <a:xfrm>
            <a:off x="777240" y="3749040"/>
            <a:ext cx="3291840" cy="164592"/>
          </a:xfrm>
          <a:prstGeom prst="rect">
            <a:avLst/>
          </a:prstGeom>
          <a:noFill/>
          <a:ln/>
        </p:spPr>
        <p:txBody>
          <a:bodyPr wrap="square" lIns="0" tIns="0" rIns="0" bIns="0" rtlCol="0" anchor="ctr">
            <a:normAutofit/>
          </a:bodyPr>
          <a:lstStyle/>
          <a:p>
            <a:pPr indent="0" marL="0">
              <a:buNone/>
            </a:pPr>
            <a:r>
              <a:rPr lang="en-US" sz="1150" b="1" u="sng" dirty="0">
                <a:solidFill>
                  <a:srgbClr val="101828"/>
                </a:solidFill>
                <a:hlinkClick r:id="rId11" invalidUrl="" action="" tgtFrame="" tooltip="" history="1" highlightClick="0" endSnd="0">
                  <a:extLst>
                    <a:ext uri="{A12FA001-AC4F-418D-AE19-62706E023703}">
                      <ahyp:hlinkClr xmlns:ahyp="http://schemas.microsoft.com/office/drawing/2018/hyperlinkcolor" val="tx"/>
                    </a:ext>
                  </a:extLst>
                </a:hlinkClick>
              </a:rPr>
              <a:t>Microsoft Entra workload identities</a:t>
            </a:r>
            <a:endParaRPr lang="en-US" sz="1150" dirty="0"/>
          </a:p>
        </p:txBody>
      </p:sp>
      <p:sp>
        <p:nvSpPr>
          <p:cNvPr id="20" name="Text 18">
            <a:hlinkClick r:id="rId12" tooltip=""/>
          </p:cNvPr>
          <p:cNvSpPr/>
          <p:nvPr/>
        </p:nvSpPr>
        <p:spPr>
          <a:xfrm>
            <a:off x="4251960" y="3749040"/>
            <a:ext cx="6949440" cy="164592"/>
          </a:xfrm>
          <a:prstGeom prst="rect">
            <a:avLst/>
          </a:prstGeom>
          <a:noFill/>
          <a:ln/>
        </p:spPr>
        <p:txBody>
          <a:bodyPr wrap="square" lIns="0" tIns="0" rIns="0" bIns="0" rtlCol="0" anchor="ctr">
            <a:normAutofit/>
          </a:bodyPr>
          <a:lstStyle/>
          <a:p>
            <a:pPr indent="0" marL="0">
              <a:buNone/>
            </a:pPr>
            <a:r>
              <a:rPr lang="en-US" sz="950" u="sng" dirty="0">
                <a:solidFill>
                  <a:srgbClr val="1A73E8"/>
                </a:solidFill>
                <a:hlinkClick r:id="rId12" invalidUrl="" action="" tgtFrame="" tooltip="" history="1" highlightClick="0" endSnd="0">
                  <a:extLst>
                    <a:ext uri="{A12FA001-AC4F-418D-AE19-62706E023703}">
                      <ahyp:hlinkClr xmlns:ahyp="http://schemas.microsoft.com/office/drawing/2018/hyperlinkcolor" val="tx"/>
                    </a:ext>
                  </a:extLst>
                </a:hlinkClick>
              </a:rPr>
              <a:t>https://learn.microsoft.com/en-us/entra/workload-id/workload-identities-overview</a:t>
            </a:r>
            <a:endParaRPr lang="en-US" sz="950" dirty="0"/>
          </a:p>
        </p:txBody>
      </p:sp>
      <p:sp>
        <p:nvSpPr>
          <p:cNvPr id="21" name="Text 19">
            <a:hlinkClick r:id="rId13" tooltip=""/>
          </p:cNvPr>
          <p:cNvSpPr/>
          <p:nvPr/>
        </p:nvSpPr>
        <p:spPr>
          <a:xfrm>
            <a:off x="777240" y="4251960"/>
            <a:ext cx="3291840" cy="164592"/>
          </a:xfrm>
          <a:prstGeom prst="rect">
            <a:avLst/>
          </a:prstGeom>
          <a:noFill/>
          <a:ln/>
        </p:spPr>
        <p:txBody>
          <a:bodyPr wrap="square" lIns="0" tIns="0" rIns="0" bIns="0" rtlCol="0" anchor="ctr">
            <a:normAutofit/>
          </a:bodyPr>
          <a:lstStyle/>
          <a:p>
            <a:pPr indent="0" marL="0">
              <a:buNone/>
            </a:pPr>
            <a:r>
              <a:rPr lang="en-US" sz="1150" b="1" u="sng" dirty="0">
                <a:solidFill>
                  <a:srgbClr val="101828"/>
                </a:solidFill>
                <a:hlinkClick r:id="rId13" invalidUrl="" action="" tgtFrame="" tooltip="" history="1" highlightClick="0" endSnd="0">
                  <a:extLst>
                    <a:ext uri="{A12FA001-AC4F-418D-AE19-62706E023703}">
                      <ahyp:hlinkClr xmlns:ahyp="http://schemas.microsoft.com/office/drawing/2018/hyperlinkcolor" val="tx"/>
                    </a:ext>
                  </a:extLst>
                </a:hlinkClick>
              </a:rPr>
              <a:t>Workload identity federation</a:t>
            </a:r>
            <a:endParaRPr lang="en-US" sz="1150" dirty="0"/>
          </a:p>
        </p:txBody>
      </p:sp>
      <p:sp>
        <p:nvSpPr>
          <p:cNvPr id="22" name="Text 20">
            <a:hlinkClick r:id="rId14" tooltip=""/>
          </p:cNvPr>
          <p:cNvSpPr/>
          <p:nvPr/>
        </p:nvSpPr>
        <p:spPr>
          <a:xfrm>
            <a:off x="4251960" y="4251960"/>
            <a:ext cx="6949440" cy="164592"/>
          </a:xfrm>
          <a:prstGeom prst="rect">
            <a:avLst/>
          </a:prstGeom>
          <a:noFill/>
          <a:ln/>
        </p:spPr>
        <p:txBody>
          <a:bodyPr wrap="square" lIns="0" tIns="0" rIns="0" bIns="0" rtlCol="0" anchor="ctr">
            <a:normAutofit/>
          </a:bodyPr>
          <a:lstStyle/>
          <a:p>
            <a:pPr indent="0" marL="0">
              <a:buNone/>
            </a:pPr>
            <a:r>
              <a:rPr lang="en-US" sz="950" u="sng" dirty="0">
                <a:solidFill>
                  <a:srgbClr val="1A73E8"/>
                </a:solidFill>
                <a:hlinkClick r:id="rId14" invalidUrl="" action="" tgtFrame="" tooltip="" history="1" highlightClick="0" endSnd="0">
                  <a:extLst>
                    <a:ext uri="{A12FA001-AC4F-418D-AE19-62706E023703}">
                      <ahyp:hlinkClr xmlns:ahyp="http://schemas.microsoft.com/office/drawing/2018/hyperlinkcolor" val="tx"/>
                    </a:ext>
                  </a:extLst>
                </a:hlinkClick>
              </a:rPr>
              <a:t>https://learn.microsoft.com/en-us/entra/workload-id/workload-identity-federation</a:t>
            </a:r>
            <a:endParaRPr lang="en-US" sz="950" dirty="0"/>
          </a:p>
        </p:txBody>
      </p:sp>
      <p:sp>
        <p:nvSpPr>
          <p:cNvPr id="23" name="Text 21">
            <a:hlinkClick r:id="rId15" tooltip=""/>
          </p:cNvPr>
          <p:cNvSpPr/>
          <p:nvPr/>
        </p:nvSpPr>
        <p:spPr>
          <a:xfrm>
            <a:off x="777240" y="4754880"/>
            <a:ext cx="3291840" cy="164592"/>
          </a:xfrm>
          <a:prstGeom prst="rect">
            <a:avLst/>
          </a:prstGeom>
          <a:noFill/>
          <a:ln/>
        </p:spPr>
        <p:txBody>
          <a:bodyPr wrap="square" lIns="0" tIns="0" rIns="0" bIns="0" rtlCol="0" anchor="ctr">
            <a:normAutofit/>
          </a:bodyPr>
          <a:lstStyle/>
          <a:p>
            <a:pPr indent="0" marL="0">
              <a:buNone/>
            </a:pPr>
            <a:r>
              <a:rPr lang="en-US" sz="1150" b="1" u="sng" dirty="0">
                <a:solidFill>
                  <a:srgbClr val="101828"/>
                </a:solidFill>
                <a:hlinkClick r:id="rId15" invalidUrl="" action="" tgtFrame="" tooltip="" history="1" highlightClick="0" endSnd="0">
                  <a:extLst>
                    <a:ext uri="{A12FA001-AC4F-418D-AE19-62706E023703}">
                      <ahyp:hlinkClr xmlns:ahyp="http://schemas.microsoft.com/office/drawing/2018/hyperlinkcolor" val="tx"/>
                    </a:ext>
                  </a:extLst>
                </a:hlinkClick>
              </a:rPr>
              <a:t>Conditional Access overview</a:t>
            </a:r>
            <a:endParaRPr lang="en-US" sz="1150" dirty="0"/>
          </a:p>
        </p:txBody>
      </p:sp>
      <p:sp>
        <p:nvSpPr>
          <p:cNvPr id="24" name="Text 22">
            <a:hlinkClick r:id="rId16" tooltip=""/>
          </p:cNvPr>
          <p:cNvSpPr/>
          <p:nvPr/>
        </p:nvSpPr>
        <p:spPr>
          <a:xfrm>
            <a:off x="4251960" y="4754880"/>
            <a:ext cx="6949440" cy="164592"/>
          </a:xfrm>
          <a:prstGeom prst="rect">
            <a:avLst/>
          </a:prstGeom>
          <a:noFill/>
          <a:ln/>
        </p:spPr>
        <p:txBody>
          <a:bodyPr wrap="square" lIns="0" tIns="0" rIns="0" bIns="0" rtlCol="0" anchor="ctr">
            <a:normAutofit/>
          </a:bodyPr>
          <a:lstStyle/>
          <a:p>
            <a:pPr indent="0" marL="0">
              <a:buNone/>
            </a:pPr>
            <a:r>
              <a:rPr lang="en-US" sz="950" u="sng" dirty="0">
                <a:solidFill>
                  <a:srgbClr val="1A73E8"/>
                </a:solidFill>
                <a:hlinkClick r:id="rId16" invalidUrl="" action="" tgtFrame="" tooltip="" history="1" highlightClick="0" endSnd="0">
                  <a:extLst>
                    <a:ext uri="{A12FA001-AC4F-418D-AE19-62706E023703}">
                      <ahyp:hlinkClr xmlns:ahyp="http://schemas.microsoft.com/office/drawing/2018/hyperlinkcolor" val="tx"/>
                    </a:ext>
                  </a:extLst>
                </a:hlinkClick>
              </a:rPr>
              <a:t>https://learn.microsoft.com/en-us/entra/identity/conditional-access/overview</a:t>
            </a:r>
            <a:endParaRPr lang="en-US" sz="950" dirty="0"/>
          </a:p>
        </p:txBody>
      </p:sp>
      <p:sp>
        <p:nvSpPr>
          <p:cNvPr id="25" name="Text 23">
            <a:hlinkClick r:id="rId17" tooltip=""/>
          </p:cNvPr>
          <p:cNvSpPr/>
          <p:nvPr/>
        </p:nvSpPr>
        <p:spPr>
          <a:xfrm>
            <a:off x="777240" y="5257800"/>
            <a:ext cx="3291840" cy="164592"/>
          </a:xfrm>
          <a:prstGeom prst="rect">
            <a:avLst/>
          </a:prstGeom>
          <a:noFill/>
          <a:ln/>
        </p:spPr>
        <p:txBody>
          <a:bodyPr wrap="square" lIns="0" tIns="0" rIns="0" bIns="0" rtlCol="0" anchor="ctr">
            <a:normAutofit/>
          </a:bodyPr>
          <a:lstStyle/>
          <a:p>
            <a:pPr indent="0" marL="0">
              <a:buNone/>
            </a:pPr>
            <a:r>
              <a:rPr lang="en-US" sz="1150" b="1" u="sng" dirty="0">
                <a:solidFill>
                  <a:srgbClr val="101828"/>
                </a:solidFill>
                <a:hlinkClick r:id="rId17" invalidUrl="" action="" tgtFrame="" tooltip="" history="1" highlightClick="0" endSnd="0">
                  <a:extLst>
                    <a:ext uri="{A12FA001-AC4F-418D-AE19-62706E023703}">
                      <ahyp:hlinkClr xmlns:ahyp="http://schemas.microsoft.com/office/drawing/2018/hyperlinkcolor" val="tx"/>
                    </a:ext>
                  </a:extLst>
                </a:hlinkClick>
              </a:rPr>
              <a:t>Azure identity &amp; access best practices</a:t>
            </a:r>
            <a:endParaRPr lang="en-US" sz="1150" dirty="0"/>
          </a:p>
        </p:txBody>
      </p:sp>
      <p:sp>
        <p:nvSpPr>
          <p:cNvPr id="26" name="Text 24">
            <a:hlinkClick r:id="rId18" tooltip=""/>
          </p:cNvPr>
          <p:cNvSpPr/>
          <p:nvPr/>
        </p:nvSpPr>
        <p:spPr>
          <a:xfrm>
            <a:off x="4251960" y="5257800"/>
            <a:ext cx="6949440" cy="164592"/>
          </a:xfrm>
          <a:prstGeom prst="rect">
            <a:avLst/>
          </a:prstGeom>
          <a:noFill/>
          <a:ln/>
        </p:spPr>
        <p:txBody>
          <a:bodyPr wrap="square" lIns="0" tIns="0" rIns="0" bIns="0" rtlCol="0" anchor="ctr">
            <a:normAutofit/>
          </a:bodyPr>
          <a:lstStyle/>
          <a:p>
            <a:pPr indent="0" marL="0">
              <a:buNone/>
            </a:pPr>
            <a:r>
              <a:rPr lang="en-US" sz="950" u="sng" dirty="0">
                <a:solidFill>
                  <a:srgbClr val="1A73E8"/>
                </a:solidFill>
                <a:hlinkClick r:id="rId18" invalidUrl="" action="" tgtFrame="" tooltip="" history="1" highlightClick="0" endSnd="0">
                  <a:extLst>
                    <a:ext uri="{A12FA001-AC4F-418D-AE19-62706E023703}">
                      <ahyp:hlinkClr xmlns:ahyp="http://schemas.microsoft.com/office/drawing/2018/hyperlinkcolor" val="tx"/>
                    </a:ext>
                  </a:extLst>
                </a:hlinkClick>
              </a:rPr>
              <a:t>https://learn.microsoft.com/en-us/azure/security/fundamentals/identity-management-best-practices</a:t>
            </a:r>
            <a:endParaRPr lang="en-US" sz="950" dirty="0"/>
          </a:p>
        </p:txBody>
      </p:sp>
      <p:sp>
        <p:nvSpPr>
          <p:cNvPr id="27" name="Text 25"/>
          <p:cNvSpPr/>
          <p:nvPr/>
        </p:nvSpPr>
        <p:spPr>
          <a:xfrm>
            <a:off x="868680" y="5989320"/>
            <a:ext cx="10058400" cy="256032"/>
          </a:xfrm>
          <a:prstGeom prst="rect">
            <a:avLst/>
          </a:prstGeom>
          <a:noFill/>
          <a:ln/>
        </p:spPr>
        <p:txBody>
          <a:bodyPr wrap="square" lIns="1016" tIns="1016" rIns="1016" bIns="1016" rtlCol="0" anchor="t">
            <a:normAutofit/>
          </a:bodyPr>
          <a:lstStyle/>
          <a:p>
            <a:pPr algn="ctr" indent="0" marL="0">
              <a:buNone/>
            </a:pPr>
            <a:r>
              <a:rPr lang="en-US" sz="1550" b="1" dirty="0">
                <a:solidFill>
                  <a:srgbClr val="101828"/>
                </a:solidFill>
                <a:latin typeface="Aptos" pitchFamily="34" charset="0"/>
                <a:ea typeface="Aptos" pitchFamily="34" charset="-122"/>
                <a:cs typeface="Aptos" pitchFamily="34" charset="-120"/>
              </a:rPr>
              <a:t>Use these links as the instructor’s reference pack for live demos, handouts, and learner follow-up.</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Skunkworks (Pty)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Least Privilege RBAC for CI/CD and Enterprise Applications</dc:title>
  <dc:subject>Azure RBAC, Microsoft Entra workload identities, custom roles, and least privilege deployment governance</dc:subject>
  <dc:creator>Skunkworks Academy</dc:creator>
  <cp:lastModifiedBy>Skunkworks Academy</cp:lastModifiedBy>
  <cp:revision>1</cp:revision>
  <dcterms:created xsi:type="dcterms:W3CDTF">2026-05-28T07:35:35Z</dcterms:created>
  <dcterms:modified xsi:type="dcterms:W3CDTF">2026-05-28T07:35:35Z</dcterms:modified>
</cp:coreProperties>
</file>