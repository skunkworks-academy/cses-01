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objective (5-8 minutes): Teach students how Microsoft Defender for Containers contributes to hardening AKS and containerized workloads from build pipeline to runtime.
Narration:
Defender for Containers should be positioned as part of Cloud Workload Protection Platform (CWPP) and Cloud Security Posture Management (CSPM), not simply as a scanner. It helps the security team and platform team discover container assets, assess Kubernetes and image risk, and respond to runtime signals. The CESE323 workshop treats this as one of the workload hardening modules for critical assets, specifically Kubernetes (AKS) and containerized workloads.
Mental model:
1. Control plane: Kubernetes API, cluster configuration, RBAC, admission controls, namespaces, secrets access, and policy assignments.
2. Supply chain: container base images, registries, image vulnerability findings, signed/trusted images, and deployment gating.
3. Runtime plane: nodes, pods, container processes, suspicious Kubernetes API activity, privilege escalation behavior, malware/crypto-mining signals, and lateral movement indicators.
4. Response plane: Defender for Cloud recommendations, Secure Score impact, attack-path prioritization, Defender XDR alerts/incidents, and remediation owner assignment.
Implementation flow:
- Enable Microsoft Defender for Containers in Microsoft Defender for Cloud under Environment settings for the subscription that contains the AKS cluster. Review the Containers plan settings and enable required components.
- Validate prerequisites before class or production rollout: AKS cluster exists, Kubernetes version is supported, required network egress is allowed, registry access is available for image scanning scenarios, and the instructor/student role has the required permissions.
- Review recommendations in Defender for Cloud: cluster security posture, vulnerable images, public exposure, overly permissive workload settings, missing policy add-ons, and identity/RBAC risks.
- Apply hardening controls: least privilege Azure RBAC and Kubernetes RBAC, managed identities, namespace separation, network policy, private cluster/private endpoint patterns where appropriate, no privileged/root containers, read-only filesystems where feasible, resource limits, and policy/admission enforcement.
- Monitor and respond: verify Defender components, investigate Kubernetes alerts, correlate with Defender XDR incidents, and assign remediation tasks to platform engineering or application owners.
Suggested demo path:
1. Azure portal → Microsoft Defender for Cloud → Environment settings.
2. Select the lab subscription → Defender plans → Containers → On.
3. Open Defender for Cloud Recommendations and filter for Kubernetes/containers/AKS.
4. Show one recommendation and explain evidence, affected resources, remediation steps, and business risk.
5. If available, show alerts or incidents in Microsoft Defender XDR to connect runtime detection to security operations.
6. Close with cleanup: delete lab AKS clusters or disable paid Defender plan after the lab if not required.
Common blockers:
- No permission to enable the Containers plan or configure components.
- Network egress blocked by firewall/proxy/private cluster configuration.
- Unsupported Kubernetes version or missing AKS cluster.
- Container registry not connected or no images available for scanning demonstrations.
- Costs not approved for AKS or Defender paid workload protection plans.
Discussion question:
Which control would reduce your highest AKS risk first: image vulnerability remediation, RBAC cleanup, network isolation, admission policy enforcement, or runtime alerting? Ask learners to justify the choice using impact, likelihood, and ease of implementation.
References used:
- CESE323 Workshop Syllabus: workload hardening objective and Defender for Containers module.
- CESE323 Pre-Course Lab Requirements: AKS cluster, supported Kubernetes version, network access, registry, permissions, and cost control prerequisites.
- Microsoft Docs: Introduction to Microsoft Defender for Containers; Enable Defender for Containers; Defender for Containers architecture; AKS cluster security best practices.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A2E"/>
        </a:solidFill>
      </p:bgPr>
    </p:bg>
    <p:spTree>
      <p:nvGrpSpPr>
        <p:cNvPr id="1" name=""/>
        <p:cNvGrpSpPr/>
        <p:nvPr/>
      </p:nvGrpSpPr>
      <p:grpSpPr>
        <a:xfrm>
          <a:off x="0" y="0"/>
          <a:ext cx="0" cy="0"/>
          <a:chOff x="0" y="0"/>
          <a:chExt cx="0" cy="0"/>
        </a:xfrm>
      </p:grpSpPr>
      <p:pic>
        <p:nvPicPr>
          <p:cNvPr id="2" name="Image 0" descr="/mnt/data/aks_container_security_right_crop.png">    </p:cNvPr>
          <p:cNvPicPr>
            <a:picLocks noChangeAspect="1"/>
          </p:cNvPicPr>
          <p:nvPr/>
        </p:nvPicPr>
        <p:blipFill>
          <a:blip r:embed="rId1"/>
          <a:stretch>
            <a:fillRect/>
          </a:stretch>
        </p:blipFill>
        <p:spPr>
          <a:xfrm>
            <a:off x="5916168" y="0"/>
            <a:ext cx="6275527" cy="6858000"/>
          </a:xfrm>
          <a:prstGeom prst="rect">
            <a:avLst/>
          </a:prstGeom>
        </p:spPr>
      </p:pic>
      <p:sp>
        <p:nvSpPr>
          <p:cNvPr id="3" name="Text 0"/>
          <p:cNvSpPr/>
          <p:nvPr/>
        </p:nvSpPr>
        <p:spPr>
          <a:xfrm>
            <a:off x="502920" y="347472"/>
            <a:ext cx="5303520" cy="201168"/>
          </a:xfrm>
          <a:prstGeom prst="rect">
            <a:avLst/>
          </a:prstGeom>
          <a:noFill/>
          <a:ln/>
        </p:spPr>
        <p:txBody>
          <a:bodyPr wrap="square" lIns="0" tIns="0" rIns="0" bIns="0" rtlCol="0" anchor="ctr"/>
          <a:lstStyle/>
          <a:p>
            <a:pPr indent="0" marL="0">
              <a:buNone/>
            </a:pPr>
            <a:r>
              <a:rPr lang="en-US" sz="880" b="1" dirty="0">
                <a:solidFill>
                  <a:srgbClr val="5EEAD4"/>
                </a:solidFill>
                <a:latin typeface="Aptos" pitchFamily="34" charset="0"/>
                <a:ea typeface="Aptos" pitchFamily="34" charset="-122"/>
                <a:cs typeface="Aptos" pitchFamily="34" charset="-120"/>
              </a:rPr>
              <a:t>CESE323 WORKLOAD PROTECTION MODULE</a:t>
            </a:r>
            <a:endParaRPr lang="en-US" sz="880" dirty="0"/>
          </a:p>
        </p:txBody>
      </p:sp>
      <p:sp>
        <p:nvSpPr>
          <p:cNvPr id="4" name="Text 1"/>
          <p:cNvSpPr/>
          <p:nvPr/>
        </p:nvSpPr>
        <p:spPr>
          <a:xfrm>
            <a:off x="475488" y="658368"/>
            <a:ext cx="5349240" cy="512064"/>
          </a:xfrm>
          <a:prstGeom prst="rect">
            <a:avLst/>
          </a:prstGeom>
          <a:noFill/>
          <a:ln/>
        </p:spPr>
        <p:txBody>
          <a:bodyPr wrap="square" lIns="0" tIns="0" rIns="0" bIns="0" rtlCol="0" anchor="ctr">
            <a:normAutofit/>
          </a:bodyP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Defender for Containers</a:t>
            </a:r>
            <a:endParaRPr lang="en-US" sz="3100" dirty="0"/>
          </a:p>
        </p:txBody>
      </p:sp>
      <p:sp>
        <p:nvSpPr>
          <p:cNvPr id="5" name="Text 2"/>
          <p:cNvSpPr/>
          <p:nvPr/>
        </p:nvSpPr>
        <p:spPr>
          <a:xfrm>
            <a:off x="502920" y="1170432"/>
            <a:ext cx="5303520" cy="329184"/>
          </a:xfrm>
          <a:prstGeom prst="rect">
            <a:avLst/>
          </a:prstGeom>
          <a:noFill/>
          <a:ln/>
        </p:spPr>
        <p:txBody>
          <a:bodyPr wrap="square" lIns="0" tIns="0" rIns="0" bIns="0" rtlCol="0" anchor="ctr">
            <a:normAutofit/>
          </a:bodyPr>
          <a:lstStyle/>
          <a:p>
            <a:pPr indent="0" marL="0">
              <a:buNone/>
            </a:pPr>
            <a:r>
              <a:rPr lang="en-US" sz="1420" dirty="0">
                <a:solidFill>
                  <a:srgbClr val="BFEFFF"/>
                </a:solidFill>
                <a:latin typeface="Aptos" pitchFamily="34" charset="0"/>
                <a:ea typeface="Aptos" pitchFamily="34" charset="-122"/>
                <a:cs typeface="Aptos" pitchFamily="34" charset="-120"/>
              </a:rPr>
              <a:t>Hardening Kubernetes (AKS) and containerized workloads</a:t>
            </a:r>
            <a:endParaRPr lang="en-US" sz="1420" dirty="0"/>
          </a:p>
        </p:txBody>
      </p:sp>
      <p:sp>
        <p:nvSpPr>
          <p:cNvPr id="6" name="Text 3"/>
          <p:cNvSpPr/>
          <p:nvPr/>
        </p:nvSpPr>
        <p:spPr>
          <a:xfrm>
            <a:off x="502920" y="1664208"/>
            <a:ext cx="5212080" cy="210312"/>
          </a:xfrm>
          <a:prstGeom prst="rect">
            <a:avLst/>
          </a:prstGeom>
          <a:noFill/>
          <a:ln/>
        </p:spPr>
        <p:txBody>
          <a:bodyPr wrap="square" lIns="0" tIns="0" rIns="0" bIns="0" rtlCol="0" anchor="ctr"/>
          <a:lstStyle/>
          <a:p>
            <a:pPr indent="0" marL="0">
              <a:buNone/>
            </a:pPr>
            <a:r>
              <a:rPr lang="en-US" sz="1100" b="1" dirty="0">
                <a:solidFill>
                  <a:srgbClr val="7DD3FC"/>
                </a:solidFill>
                <a:latin typeface="Aptos" pitchFamily="34" charset="0"/>
                <a:ea typeface="Aptos" pitchFamily="34" charset="-122"/>
                <a:cs typeface="Aptos" pitchFamily="34" charset="-120"/>
              </a:rPr>
              <a:t>Core teaching point</a:t>
            </a:r>
            <a:endParaRPr lang="en-US" sz="1100" dirty="0"/>
          </a:p>
        </p:txBody>
      </p:sp>
      <p:sp>
        <p:nvSpPr>
          <p:cNvPr id="7" name="Text 4"/>
          <p:cNvSpPr/>
          <p:nvPr/>
        </p:nvSpPr>
        <p:spPr>
          <a:xfrm>
            <a:off x="502920" y="1901952"/>
            <a:ext cx="5230368" cy="566928"/>
          </a:xfrm>
          <a:prstGeom prst="rect">
            <a:avLst/>
          </a:prstGeom>
          <a:noFill/>
          <a:ln/>
        </p:spPr>
        <p:txBody>
          <a:bodyPr wrap="square" lIns="0" tIns="0" rIns="0" bIns="0" rtlCol="0" anchor="ctr">
            <a:normAutofit/>
          </a:bodyPr>
          <a:lstStyle/>
          <a:p>
            <a:pPr indent="0" marL="0">
              <a:buNone/>
            </a:pPr>
            <a:r>
              <a:rPr lang="en-US" sz="1520" dirty="0">
                <a:solidFill>
                  <a:srgbClr val="E2E8F0"/>
                </a:solidFill>
                <a:latin typeface="Aptos" pitchFamily="34" charset="0"/>
                <a:ea typeface="Aptos" pitchFamily="34" charset="-122"/>
                <a:cs typeface="Aptos" pitchFamily="34" charset="-120"/>
              </a:rPr>
              <a:t>Container security is not only image scanning. A hardened AKS estate needs posture governance, admission-time controls, runtime telemetry, and response integration.</a:t>
            </a:r>
            <a:endParaRPr lang="en-US" sz="1520" dirty="0"/>
          </a:p>
        </p:txBody>
      </p:sp>
      <p:sp>
        <p:nvSpPr>
          <p:cNvPr id="8" name="Text 5"/>
          <p:cNvSpPr/>
          <p:nvPr/>
        </p:nvSpPr>
        <p:spPr>
          <a:xfrm>
            <a:off x="502920" y="2697480"/>
            <a:ext cx="384048" cy="228600"/>
          </a:xfrm>
          <a:prstGeom prst="rect">
            <a:avLst/>
          </a:prstGeom>
          <a:noFill/>
          <a:ln/>
        </p:spPr>
        <p:txBody>
          <a:bodyPr wrap="square" lIns="0" tIns="0" rIns="0" bIns="0" rtlCol="0" anchor="ctr"/>
          <a:lstStyle/>
          <a:p>
            <a:pPr indent="0" marL="0">
              <a:buNone/>
            </a:pPr>
            <a:r>
              <a:rPr lang="en-US" sz="1150" b="1" dirty="0">
                <a:solidFill>
                  <a:srgbClr val="22D3EE"/>
                </a:solidFill>
                <a:latin typeface="Aptos" pitchFamily="34" charset="0"/>
                <a:ea typeface="Aptos" pitchFamily="34" charset="-122"/>
                <a:cs typeface="Aptos" pitchFamily="34" charset="-120"/>
              </a:rPr>
              <a:t>01</a:t>
            </a:r>
            <a:endParaRPr lang="en-US" sz="1150" dirty="0"/>
          </a:p>
        </p:txBody>
      </p:sp>
      <p:sp>
        <p:nvSpPr>
          <p:cNvPr id="9" name="Text 6"/>
          <p:cNvSpPr/>
          <p:nvPr/>
        </p:nvSpPr>
        <p:spPr>
          <a:xfrm>
            <a:off x="969264" y="2679192"/>
            <a:ext cx="4754880" cy="228600"/>
          </a:xfrm>
          <a:prstGeom prst="rect">
            <a:avLst/>
          </a:prstGeom>
          <a:noFill/>
          <a:ln/>
        </p:spPr>
        <p:txBody>
          <a:bodyPr wrap="square" lIns="0" tIns="0" rIns="0" bIns="0" rtlCol="0" anchor="ctr"/>
          <a:lstStyle/>
          <a:p>
            <a:pPr indent="0" marL="0">
              <a:buNone/>
            </a:pPr>
            <a:r>
              <a:rPr lang="en-US" sz="1280" b="1" dirty="0">
                <a:solidFill>
                  <a:srgbClr val="FFFFFF"/>
                </a:solidFill>
                <a:latin typeface="Aptos" pitchFamily="34" charset="0"/>
                <a:ea typeface="Aptos" pitchFamily="34" charset="-122"/>
                <a:cs typeface="Aptos" pitchFamily="34" charset="-120"/>
              </a:rPr>
              <a:t>Discover &amp; assess</a:t>
            </a:r>
            <a:endParaRPr lang="en-US" sz="1280" dirty="0"/>
          </a:p>
        </p:txBody>
      </p:sp>
      <p:sp>
        <p:nvSpPr>
          <p:cNvPr id="10" name="Text 7"/>
          <p:cNvSpPr/>
          <p:nvPr/>
        </p:nvSpPr>
        <p:spPr>
          <a:xfrm>
            <a:off x="969264" y="2926080"/>
            <a:ext cx="4754880" cy="329184"/>
          </a:xfrm>
          <a:prstGeom prst="rect">
            <a:avLst/>
          </a:prstGeom>
          <a:noFill/>
          <a:ln/>
        </p:spPr>
        <p:txBody>
          <a:bodyPr wrap="square" lIns="0" tIns="0" rIns="0" bIns="0" rtlCol="0" anchor="ctr">
            <a:normAutofit/>
          </a:bodyPr>
          <a:lstStyle/>
          <a:p>
            <a:pPr indent="0" marL="0">
              <a:buNone/>
            </a:pPr>
            <a:r>
              <a:rPr lang="en-US" sz="1070" dirty="0">
                <a:solidFill>
                  <a:srgbClr val="CBD5E1"/>
                </a:solidFill>
                <a:latin typeface="Aptos" pitchFamily="34" charset="0"/>
                <a:ea typeface="Aptos" pitchFamily="34" charset="-122"/>
                <a:cs typeface="Aptos" pitchFamily="34" charset="-120"/>
              </a:rPr>
              <a:t>Inventory clusters, nodes, workloads, registries, and images; prioritize risk through recommendations and Secure Score.</a:t>
            </a:r>
            <a:endParaRPr lang="en-US" sz="1070" dirty="0"/>
          </a:p>
        </p:txBody>
      </p:sp>
      <p:sp>
        <p:nvSpPr>
          <p:cNvPr id="11" name="Text 8"/>
          <p:cNvSpPr/>
          <p:nvPr/>
        </p:nvSpPr>
        <p:spPr>
          <a:xfrm>
            <a:off x="502920" y="3319272"/>
            <a:ext cx="384048" cy="228600"/>
          </a:xfrm>
          <a:prstGeom prst="rect">
            <a:avLst/>
          </a:prstGeom>
          <a:noFill/>
          <a:ln/>
        </p:spPr>
        <p:txBody>
          <a:bodyPr wrap="square" lIns="0" tIns="0" rIns="0" bIns="0" rtlCol="0" anchor="ctr"/>
          <a:lstStyle/>
          <a:p>
            <a:pPr indent="0" marL="0">
              <a:buNone/>
            </a:pPr>
            <a:r>
              <a:rPr lang="en-US" sz="1150" b="1" dirty="0">
                <a:solidFill>
                  <a:srgbClr val="22D3EE"/>
                </a:solidFill>
                <a:latin typeface="Aptos" pitchFamily="34" charset="0"/>
                <a:ea typeface="Aptos" pitchFamily="34" charset="-122"/>
                <a:cs typeface="Aptos" pitchFamily="34" charset="-120"/>
              </a:rPr>
              <a:t>02</a:t>
            </a:r>
            <a:endParaRPr lang="en-US" sz="1150" dirty="0"/>
          </a:p>
        </p:txBody>
      </p:sp>
      <p:sp>
        <p:nvSpPr>
          <p:cNvPr id="12" name="Text 9"/>
          <p:cNvSpPr/>
          <p:nvPr/>
        </p:nvSpPr>
        <p:spPr>
          <a:xfrm>
            <a:off x="969264" y="3300984"/>
            <a:ext cx="4754880" cy="228600"/>
          </a:xfrm>
          <a:prstGeom prst="rect">
            <a:avLst/>
          </a:prstGeom>
          <a:noFill/>
          <a:ln/>
        </p:spPr>
        <p:txBody>
          <a:bodyPr wrap="square" lIns="0" tIns="0" rIns="0" bIns="0" rtlCol="0" anchor="ctr"/>
          <a:lstStyle/>
          <a:p>
            <a:pPr indent="0" marL="0">
              <a:buNone/>
            </a:pPr>
            <a:r>
              <a:rPr lang="en-US" sz="1280" b="1" dirty="0">
                <a:solidFill>
                  <a:srgbClr val="FFFFFF"/>
                </a:solidFill>
                <a:latin typeface="Aptos" pitchFamily="34" charset="0"/>
                <a:ea typeface="Aptos" pitchFamily="34" charset="-122"/>
                <a:cs typeface="Aptos" pitchFamily="34" charset="-120"/>
              </a:rPr>
              <a:t>Reduce attack surface</a:t>
            </a:r>
            <a:endParaRPr lang="en-US" sz="1280" dirty="0"/>
          </a:p>
        </p:txBody>
      </p:sp>
      <p:sp>
        <p:nvSpPr>
          <p:cNvPr id="13" name="Text 10"/>
          <p:cNvSpPr/>
          <p:nvPr/>
        </p:nvSpPr>
        <p:spPr>
          <a:xfrm>
            <a:off x="969264" y="3547872"/>
            <a:ext cx="4754880" cy="329184"/>
          </a:xfrm>
          <a:prstGeom prst="rect">
            <a:avLst/>
          </a:prstGeom>
          <a:noFill/>
          <a:ln/>
        </p:spPr>
        <p:txBody>
          <a:bodyPr wrap="square" lIns="0" tIns="0" rIns="0" bIns="0" rtlCol="0" anchor="ctr">
            <a:normAutofit/>
          </a:bodyPr>
          <a:lstStyle/>
          <a:p>
            <a:pPr indent="0" marL="0">
              <a:buNone/>
            </a:pPr>
            <a:r>
              <a:rPr lang="en-US" sz="1070" dirty="0">
                <a:solidFill>
                  <a:srgbClr val="CBD5E1"/>
                </a:solidFill>
                <a:latin typeface="Aptos" pitchFamily="34" charset="0"/>
                <a:ea typeface="Aptos" pitchFamily="34" charset="-122"/>
                <a:cs typeface="Aptos" pitchFamily="34" charset="-120"/>
              </a:rPr>
              <a:t>Apply least privilege RBAC, namespace isolation, network policy, pod security, private endpoints, and controlled egress.</a:t>
            </a:r>
            <a:endParaRPr lang="en-US" sz="1070" dirty="0"/>
          </a:p>
        </p:txBody>
      </p:sp>
      <p:sp>
        <p:nvSpPr>
          <p:cNvPr id="14" name="Text 11"/>
          <p:cNvSpPr/>
          <p:nvPr/>
        </p:nvSpPr>
        <p:spPr>
          <a:xfrm>
            <a:off x="502920" y="3941064"/>
            <a:ext cx="384048" cy="228600"/>
          </a:xfrm>
          <a:prstGeom prst="rect">
            <a:avLst/>
          </a:prstGeom>
          <a:noFill/>
          <a:ln/>
        </p:spPr>
        <p:txBody>
          <a:bodyPr wrap="square" lIns="0" tIns="0" rIns="0" bIns="0" rtlCol="0" anchor="ctr"/>
          <a:lstStyle/>
          <a:p>
            <a:pPr indent="0" marL="0">
              <a:buNone/>
            </a:pPr>
            <a:r>
              <a:rPr lang="en-US" sz="1150" b="1" dirty="0">
                <a:solidFill>
                  <a:srgbClr val="22D3EE"/>
                </a:solidFill>
                <a:latin typeface="Aptos" pitchFamily="34" charset="0"/>
                <a:ea typeface="Aptos" pitchFamily="34" charset="-122"/>
                <a:cs typeface="Aptos" pitchFamily="34" charset="-120"/>
              </a:rPr>
              <a:t>03</a:t>
            </a:r>
            <a:endParaRPr lang="en-US" sz="1150" dirty="0"/>
          </a:p>
        </p:txBody>
      </p:sp>
      <p:sp>
        <p:nvSpPr>
          <p:cNvPr id="15" name="Text 12"/>
          <p:cNvSpPr/>
          <p:nvPr/>
        </p:nvSpPr>
        <p:spPr>
          <a:xfrm>
            <a:off x="969264" y="3922776"/>
            <a:ext cx="4754880" cy="228600"/>
          </a:xfrm>
          <a:prstGeom prst="rect">
            <a:avLst/>
          </a:prstGeom>
          <a:noFill/>
          <a:ln/>
        </p:spPr>
        <p:txBody>
          <a:bodyPr wrap="square" lIns="0" tIns="0" rIns="0" bIns="0" rtlCol="0" anchor="ctr"/>
          <a:lstStyle/>
          <a:p>
            <a:pPr indent="0" marL="0">
              <a:buNone/>
            </a:pPr>
            <a:r>
              <a:rPr lang="en-US" sz="1280" b="1" dirty="0">
                <a:solidFill>
                  <a:srgbClr val="FFFFFF"/>
                </a:solidFill>
                <a:latin typeface="Aptos" pitchFamily="34" charset="0"/>
                <a:ea typeface="Aptos" pitchFamily="34" charset="-122"/>
                <a:cs typeface="Aptos" pitchFamily="34" charset="-120"/>
              </a:rPr>
              <a:t>Protect build-to-run</a:t>
            </a:r>
            <a:endParaRPr lang="en-US" sz="1280" dirty="0"/>
          </a:p>
        </p:txBody>
      </p:sp>
      <p:sp>
        <p:nvSpPr>
          <p:cNvPr id="16" name="Text 13"/>
          <p:cNvSpPr/>
          <p:nvPr/>
        </p:nvSpPr>
        <p:spPr>
          <a:xfrm>
            <a:off x="969264" y="4169664"/>
            <a:ext cx="4754880" cy="329184"/>
          </a:xfrm>
          <a:prstGeom prst="rect">
            <a:avLst/>
          </a:prstGeom>
          <a:noFill/>
          <a:ln/>
        </p:spPr>
        <p:txBody>
          <a:bodyPr wrap="square" lIns="0" tIns="0" rIns="0" bIns="0" rtlCol="0" anchor="ctr">
            <a:normAutofit/>
          </a:bodyPr>
          <a:lstStyle/>
          <a:p>
            <a:pPr indent="0" marL="0">
              <a:buNone/>
            </a:pPr>
            <a:r>
              <a:rPr lang="en-US" sz="1070" dirty="0">
                <a:solidFill>
                  <a:srgbClr val="CBD5E1"/>
                </a:solidFill>
                <a:latin typeface="Aptos" pitchFamily="34" charset="0"/>
                <a:ea typeface="Aptos" pitchFamily="34" charset="-122"/>
                <a:cs typeface="Aptos" pitchFamily="34" charset="-120"/>
              </a:rPr>
              <a:t>Scan and remediate image vulnerabilities, use trusted registries, gate risky deployments, and patch base images quickly.</a:t>
            </a:r>
            <a:endParaRPr lang="en-US" sz="1070" dirty="0"/>
          </a:p>
        </p:txBody>
      </p:sp>
      <p:sp>
        <p:nvSpPr>
          <p:cNvPr id="17" name="Text 14"/>
          <p:cNvSpPr/>
          <p:nvPr/>
        </p:nvSpPr>
        <p:spPr>
          <a:xfrm>
            <a:off x="502920" y="4562856"/>
            <a:ext cx="384048" cy="228600"/>
          </a:xfrm>
          <a:prstGeom prst="rect">
            <a:avLst/>
          </a:prstGeom>
          <a:noFill/>
          <a:ln/>
        </p:spPr>
        <p:txBody>
          <a:bodyPr wrap="square" lIns="0" tIns="0" rIns="0" bIns="0" rtlCol="0" anchor="ctr"/>
          <a:lstStyle/>
          <a:p>
            <a:pPr indent="0" marL="0">
              <a:buNone/>
            </a:pPr>
            <a:r>
              <a:rPr lang="en-US" sz="1150" b="1" dirty="0">
                <a:solidFill>
                  <a:srgbClr val="22D3EE"/>
                </a:solidFill>
                <a:latin typeface="Aptos" pitchFamily="34" charset="0"/>
                <a:ea typeface="Aptos" pitchFamily="34" charset="-122"/>
                <a:cs typeface="Aptos" pitchFamily="34" charset="-120"/>
              </a:rPr>
              <a:t>04</a:t>
            </a:r>
            <a:endParaRPr lang="en-US" sz="1150" dirty="0"/>
          </a:p>
        </p:txBody>
      </p:sp>
      <p:sp>
        <p:nvSpPr>
          <p:cNvPr id="18" name="Text 15"/>
          <p:cNvSpPr/>
          <p:nvPr/>
        </p:nvSpPr>
        <p:spPr>
          <a:xfrm>
            <a:off x="969264" y="4544568"/>
            <a:ext cx="4754880" cy="228600"/>
          </a:xfrm>
          <a:prstGeom prst="rect">
            <a:avLst/>
          </a:prstGeom>
          <a:noFill/>
          <a:ln/>
        </p:spPr>
        <p:txBody>
          <a:bodyPr wrap="square" lIns="0" tIns="0" rIns="0" bIns="0" rtlCol="0" anchor="ctr"/>
          <a:lstStyle/>
          <a:p>
            <a:pPr indent="0" marL="0">
              <a:buNone/>
            </a:pPr>
            <a:r>
              <a:rPr lang="en-US" sz="1280" b="1" dirty="0">
                <a:solidFill>
                  <a:srgbClr val="FFFFFF"/>
                </a:solidFill>
                <a:latin typeface="Aptos" pitchFamily="34" charset="0"/>
                <a:ea typeface="Aptos" pitchFamily="34" charset="-122"/>
                <a:cs typeface="Aptos" pitchFamily="34" charset="-120"/>
              </a:rPr>
              <a:t>Detect &amp; respond</a:t>
            </a:r>
            <a:endParaRPr lang="en-US" sz="1280" dirty="0"/>
          </a:p>
        </p:txBody>
      </p:sp>
      <p:sp>
        <p:nvSpPr>
          <p:cNvPr id="19" name="Text 16"/>
          <p:cNvSpPr/>
          <p:nvPr/>
        </p:nvSpPr>
        <p:spPr>
          <a:xfrm>
            <a:off x="969264" y="4791456"/>
            <a:ext cx="4754880" cy="329184"/>
          </a:xfrm>
          <a:prstGeom prst="rect">
            <a:avLst/>
          </a:prstGeom>
          <a:noFill/>
          <a:ln/>
        </p:spPr>
        <p:txBody>
          <a:bodyPr wrap="square" lIns="0" tIns="0" rIns="0" bIns="0" rtlCol="0" anchor="ctr">
            <a:normAutofit/>
          </a:bodyPr>
          <a:lstStyle/>
          <a:p>
            <a:pPr indent="0" marL="0">
              <a:buNone/>
            </a:pPr>
            <a:r>
              <a:rPr lang="en-US" sz="1070" dirty="0">
                <a:solidFill>
                  <a:srgbClr val="CBD5E1"/>
                </a:solidFill>
                <a:latin typeface="Aptos" pitchFamily="34" charset="0"/>
                <a:ea typeface="Aptos" pitchFamily="34" charset="-122"/>
                <a:cs typeface="Aptos" pitchFamily="34" charset="-120"/>
              </a:rPr>
              <a:t>Use Kubernetes audit logs, Defender sensor telemetry, runtime alerts, attack paths, and Defender XDR incident correlation.</a:t>
            </a:r>
            <a:endParaRPr lang="en-US" sz="1070" dirty="0"/>
          </a:p>
        </p:txBody>
      </p:sp>
      <p:sp>
        <p:nvSpPr>
          <p:cNvPr id="20" name="Text 17"/>
          <p:cNvSpPr/>
          <p:nvPr/>
        </p:nvSpPr>
        <p:spPr>
          <a:xfrm>
            <a:off x="502920" y="5376672"/>
            <a:ext cx="5321808" cy="420624"/>
          </a:xfrm>
          <a:prstGeom prst="rect">
            <a:avLst/>
          </a:prstGeom>
          <a:noFill/>
          <a:ln/>
        </p:spPr>
        <p:txBody>
          <a:bodyPr wrap="square" lIns="0" tIns="0" rIns="0" bIns="0" rtlCol="0" anchor="ctr">
            <a:normAutofit/>
          </a:bodyPr>
          <a:lstStyle/>
          <a:p>
            <a:pPr indent="0" marL="0">
              <a:buNone/>
            </a:pPr>
            <a:r>
              <a:rPr lang="en-US" sz="1230" b="1" dirty="0">
                <a:solidFill>
                  <a:srgbClr val="F8FAFC"/>
                </a:solidFill>
                <a:latin typeface="Aptos" pitchFamily="34" charset="0"/>
                <a:ea typeface="Aptos" pitchFamily="34" charset="-122"/>
                <a:cs typeface="Aptos" pitchFamily="34" charset="-120"/>
              </a:rPr>
              <a:t>Hardening workflow: Enable plan → validate components → remediate findings → enforce policy → monitor runtime</a:t>
            </a:r>
            <a:endParaRPr lang="en-US" sz="1230" dirty="0"/>
          </a:p>
        </p:txBody>
      </p:sp>
      <p:sp>
        <p:nvSpPr>
          <p:cNvPr id="21" name="Text 18"/>
          <p:cNvSpPr/>
          <p:nvPr/>
        </p:nvSpPr>
        <p:spPr>
          <a:xfrm>
            <a:off x="502920" y="5888736"/>
            <a:ext cx="5394960" cy="475488"/>
          </a:xfrm>
          <a:prstGeom prst="rect">
            <a:avLst/>
          </a:prstGeom>
          <a:noFill/>
          <a:ln/>
        </p:spPr>
        <p:txBody>
          <a:bodyPr wrap="square" lIns="0" tIns="0" rIns="0" bIns="0" rtlCol="0" anchor="ctr">
            <a:normAutofit/>
          </a:bodyPr>
          <a:lstStyle/>
          <a:p>
            <a:pPr indent="0" marL="0">
              <a:buNone/>
            </a:pPr>
            <a:r>
              <a:rPr lang="en-US" sz="1050" dirty="0">
                <a:solidFill>
                  <a:srgbClr val="A5B4FC"/>
                </a:solidFill>
                <a:latin typeface="Aptos" pitchFamily="34" charset="0"/>
                <a:ea typeface="Aptos" pitchFamily="34" charset="-122"/>
                <a:cs typeface="Aptos" pitchFamily="34" charset="-120"/>
              </a:rPr>
              <a:t>Instructor demo prompt: In Defender for Cloud, open Environment settings, enable Containers for the lab subscription, review AKS recommendations, then verify sensor/extension health and alert visibility.</a:t>
            </a:r>
            <a:endParaRPr lang="en-US" sz="1050" dirty="0"/>
          </a:p>
        </p:txBody>
      </p:sp>
      <p:sp>
        <p:nvSpPr>
          <p:cNvPr id="22" name="Text 19"/>
          <p:cNvSpPr/>
          <p:nvPr/>
        </p:nvSpPr>
        <p:spPr>
          <a:xfrm>
            <a:off x="502920" y="6547104"/>
            <a:ext cx="5394960" cy="164592"/>
          </a:xfrm>
          <a:prstGeom prst="rect">
            <a:avLst/>
          </a:prstGeom>
          <a:noFill/>
          <a:ln/>
        </p:spPr>
        <p:txBody>
          <a:bodyPr wrap="square" lIns="0" tIns="0" rIns="0" bIns="0" rtlCol="0" anchor="ctr">
            <a:normAutofit/>
          </a:bodyPr>
          <a:lstStyle/>
          <a:p>
            <a:pPr indent="0" marL="0">
              <a:buNone/>
            </a:pPr>
            <a:r>
              <a:rPr lang="en-US" sz="750" dirty="0">
                <a:solidFill>
                  <a:srgbClr val="7890AA"/>
                </a:solidFill>
                <a:latin typeface="Aptos" pitchFamily="34" charset="0"/>
                <a:ea typeface="Aptos" pitchFamily="34" charset="-122"/>
                <a:cs typeface="Aptos" pitchFamily="34" charset="-120"/>
              </a:rPr>
              <a:t>Sources: Microsoft Defender for Containers docs, AKS cluster security guidance, CESE323 workshop syllabus and lab readiness requirements.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Skunkworks / CESE323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Defender for Containers: Hardening Kubernetes (AKS) and containerized workloads</dc:title>
  <dc:subject>Defender for Containers: Hardening Kubernetes (AKS) and containerized workloads</dc:subject>
  <dc:creator>OpenAI</dc:creator>
  <cp:lastModifiedBy>OpenAI</cp:lastModifiedBy>
  <cp:revision>1</cp:revision>
  <dcterms:created xsi:type="dcterms:W3CDTF">2026-06-17T10:14:37Z</dcterms:created>
  <dcterms:modified xsi:type="dcterms:W3CDTF">2026-06-17T10:14:37Z</dcterms:modified>
</cp:coreProperties>
</file>